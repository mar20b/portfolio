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60" r:id="rId1"/>
    <p:sldMasterId id="2147483825" r:id="rId2"/>
  </p:sldMasterIdLst>
  <p:notesMasterIdLst>
    <p:notesMasterId r:id="rId45"/>
  </p:notesMasterIdLst>
  <p:handoutMasterIdLst>
    <p:handoutMasterId r:id="rId46"/>
  </p:handoutMasterIdLst>
  <p:sldIdLst>
    <p:sldId id="293" r:id="rId3"/>
    <p:sldId id="257" r:id="rId4"/>
    <p:sldId id="342" r:id="rId5"/>
    <p:sldId id="259" r:id="rId6"/>
    <p:sldId id="313" r:id="rId7"/>
    <p:sldId id="260" r:id="rId8"/>
    <p:sldId id="261" r:id="rId9"/>
    <p:sldId id="344" r:id="rId10"/>
    <p:sldId id="345" r:id="rId11"/>
    <p:sldId id="343" r:id="rId12"/>
    <p:sldId id="329" r:id="rId13"/>
    <p:sldId id="330" r:id="rId14"/>
    <p:sldId id="331" r:id="rId15"/>
    <p:sldId id="339" r:id="rId16"/>
    <p:sldId id="266" r:id="rId17"/>
    <p:sldId id="332" r:id="rId18"/>
    <p:sldId id="333" r:id="rId19"/>
    <p:sldId id="311" r:id="rId20"/>
    <p:sldId id="314" r:id="rId21"/>
    <p:sldId id="315" r:id="rId22"/>
    <p:sldId id="316" r:id="rId23"/>
    <p:sldId id="270" r:id="rId24"/>
    <p:sldId id="271" r:id="rId25"/>
    <p:sldId id="272" r:id="rId26"/>
    <p:sldId id="274" r:id="rId27"/>
    <p:sldId id="335" r:id="rId28"/>
    <p:sldId id="337" r:id="rId29"/>
    <p:sldId id="338" r:id="rId30"/>
    <p:sldId id="340" r:id="rId31"/>
    <p:sldId id="325" r:id="rId32"/>
    <p:sldId id="319" r:id="rId33"/>
    <p:sldId id="336" r:id="rId34"/>
    <p:sldId id="341" r:id="rId35"/>
    <p:sldId id="320" r:id="rId36"/>
    <p:sldId id="326" r:id="rId37"/>
    <p:sldId id="327" r:id="rId38"/>
    <p:sldId id="322" r:id="rId39"/>
    <p:sldId id="328" r:id="rId40"/>
    <p:sldId id="323" r:id="rId41"/>
    <p:sldId id="334" r:id="rId42"/>
    <p:sldId id="321" r:id="rId43"/>
    <p:sldId id="324" r:id="rId44"/>
  </p:sldIdLst>
  <p:sldSz cx="9144000" cy="6858000" type="screen4x3"/>
  <p:notesSz cx="6667500" cy="9801225"/>
  <p:defaultTextStyle>
    <a:defPPr>
      <a:defRPr lang="fr-FR"/>
    </a:defPPr>
    <a:lvl1pPr algn="l" rtl="0" eaLnBrk="0" fontAlgn="base" hangingPunct="0">
      <a:spcBef>
        <a:spcPct val="0"/>
      </a:spcBef>
      <a:spcAft>
        <a:spcPct val="0"/>
      </a:spcAft>
      <a:defRPr sz="2400" kern="1200">
        <a:solidFill>
          <a:schemeClr val="tx1"/>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914400" rtl="0" eaLnBrk="1" latinLnBrk="0" hangingPunct="1">
      <a:defRPr sz="2400" kern="1200">
        <a:solidFill>
          <a:schemeClr val="tx1"/>
        </a:solidFill>
        <a:latin typeface="Times" charset="0"/>
        <a:ea typeface="+mn-ea"/>
        <a:cs typeface="+mn-cs"/>
      </a:defRPr>
    </a:lvl6pPr>
    <a:lvl7pPr marL="2743200" algn="l" defTabSz="914400" rtl="0" eaLnBrk="1" latinLnBrk="0" hangingPunct="1">
      <a:defRPr sz="2400" kern="1200">
        <a:solidFill>
          <a:schemeClr val="tx1"/>
        </a:solidFill>
        <a:latin typeface="Times" charset="0"/>
        <a:ea typeface="+mn-ea"/>
        <a:cs typeface="+mn-cs"/>
      </a:defRPr>
    </a:lvl7pPr>
    <a:lvl8pPr marL="3200400" algn="l" defTabSz="914400" rtl="0" eaLnBrk="1" latinLnBrk="0" hangingPunct="1">
      <a:defRPr sz="2400" kern="1200">
        <a:solidFill>
          <a:schemeClr val="tx1"/>
        </a:solidFill>
        <a:latin typeface="Times" charset="0"/>
        <a:ea typeface="+mn-ea"/>
        <a:cs typeface="+mn-cs"/>
      </a:defRPr>
    </a:lvl8pPr>
    <a:lvl9pPr marL="3657600" algn="l" defTabSz="914400" rtl="0" eaLnBrk="1" latinLnBrk="0" hangingPunct="1">
      <a:defRPr sz="2400" kern="1200">
        <a:solidFill>
          <a:schemeClr val="tx1"/>
        </a:solidFill>
        <a:latin typeface="Times"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NAE CANDILLIER" initials="SC" lastIdx="1" clrIdx="0">
    <p:extLst>
      <p:ext uri="{19B8F6BF-5375-455C-9EA6-DF929625EA0E}">
        <p15:presenceInfo xmlns:p15="http://schemas.microsoft.com/office/powerpoint/2012/main" userId="S::sanae.candillier@ensemblescolaire-niort.com::320f93eb-b9d9-44b3-9f0a-469be737094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6B07E"/>
    <a:srgbClr val="A9E9CF"/>
    <a:srgbClr val="FFFFFF"/>
    <a:srgbClr val="1CD6D2"/>
    <a:srgbClr val="A6E8A8"/>
    <a:srgbClr val="B1C9E3"/>
    <a:srgbClr val="EDDC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5503" autoAdjust="0"/>
  </p:normalViewPr>
  <p:slideViewPr>
    <p:cSldViewPr>
      <p:cViewPr varScale="1">
        <p:scale>
          <a:sx n="90" d="100"/>
          <a:sy n="90" d="100"/>
        </p:scale>
        <p:origin x="970" y="62"/>
      </p:cViewPr>
      <p:guideLst>
        <p:guide orient="horz" pos="2160"/>
        <p:guide pos="2880"/>
      </p:guideLst>
    </p:cSldViewPr>
  </p:slideViewPr>
  <p:outlineViewPr>
    <p:cViewPr>
      <p:scale>
        <a:sx n="33" d="100"/>
        <a:sy n="33" d="100"/>
      </p:scale>
      <p:origin x="0" y="804"/>
    </p:cViewPr>
  </p:outlineViewPr>
  <p:notesTextViewPr>
    <p:cViewPr>
      <p:scale>
        <a:sx n="100" d="100"/>
        <a:sy n="100" d="100"/>
      </p:scale>
      <p:origin x="0" y="0"/>
    </p:cViewPr>
  </p:notesTextViewPr>
  <p:notesViewPr>
    <p:cSldViewPr>
      <p:cViewPr varScale="1">
        <p:scale>
          <a:sx n="64" d="100"/>
          <a:sy n="64" d="100"/>
        </p:scale>
        <p:origin x="3230" y="115"/>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handoutMaster" Target="handoutMasters/handoutMaster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6" name="Rectangle 1026"/>
          <p:cNvSpPr>
            <a:spLocks noGrp="1" noChangeArrowheads="1"/>
          </p:cNvSpPr>
          <p:nvPr>
            <p:ph type="hdr" sz="quarter"/>
          </p:nvPr>
        </p:nvSpPr>
        <p:spPr bwMode="auto">
          <a:xfrm>
            <a:off x="0" y="0"/>
            <a:ext cx="2889250" cy="4905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fr-FR" dirty="0"/>
          </a:p>
        </p:txBody>
      </p:sp>
      <p:sp>
        <p:nvSpPr>
          <p:cNvPr id="47107" name="Rectangle 1027"/>
          <p:cNvSpPr>
            <a:spLocks noGrp="1" noChangeArrowheads="1"/>
          </p:cNvSpPr>
          <p:nvPr>
            <p:ph type="dt" sz="quarter" idx="1"/>
          </p:nvPr>
        </p:nvSpPr>
        <p:spPr bwMode="auto">
          <a:xfrm>
            <a:off x="3778250" y="0"/>
            <a:ext cx="2889250" cy="4905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fr-FR"/>
          </a:p>
        </p:txBody>
      </p:sp>
      <p:sp>
        <p:nvSpPr>
          <p:cNvPr id="47108" name="Rectangle 1028"/>
          <p:cNvSpPr>
            <a:spLocks noGrp="1" noChangeArrowheads="1"/>
          </p:cNvSpPr>
          <p:nvPr>
            <p:ph type="ftr" sz="quarter" idx="2"/>
          </p:nvPr>
        </p:nvSpPr>
        <p:spPr bwMode="auto">
          <a:xfrm>
            <a:off x="0" y="9310688"/>
            <a:ext cx="2889250" cy="49053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fr-FR"/>
          </a:p>
        </p:txBody>
      </p:sp>
      <p:sp>
        <p:nvSpPr>
          <p:cNvPr id="47109" name="Rectangle 1029"/>
          <p:cNvSpPr>
            <a:spLocks noGrp="1" noChangeArrowheads="1"/>
          </p:cNvSpPr>
          <p:nvPr>
            <p:ph type="sldNum" sz="quarter" idx="3"/>
          </p:nvPr>
        </p:nvSpPr>
        <p:spPr bwMode="auto">
          <a:xfrm>
            <a:off x="3778250" y="9310688"/>
            <a:ext cx="2889250" cy="49053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10D12D9E-D475-46EA-96DE-6AAF3139AF61}" type="slidenum">
              <a:rPr lang="fr-FR"/>
              <a:pPr>
                <a:defRPr/>
              </a:pPr>
              <a:t>‹N°›</a:t>
            </a:fld>
            <a:endParaRPr lang="fr-F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889250" cy="490538"/>
          </a:xfrm>
          <a:prstGeom prst="rect">
            <a:avLst/>
          </a:prstGeom>
        </p:spPr>
        <p:txBody>
          <a:bodyPr vert="horz" lIns="91440" tIns="45720" rIns="91440" bIns="45720" rtlCol="0"/>
          <a:lstStyle>
            <a:lvl1pPr algn="l">
              <a:defRPr sz="1200"/>
            </a:lvl1pPr>
          </a:lstStyle>
          <a:p>
            <a:pPr>
              <a:defRPr/>
            </a:pPr>
            <a:endParaRPr lang="fr-FR"/>
          </a:p>
        </p:txBody>
      </p:sp>
      <p:sp>
        <p:nvSpPr>
          <p:cNvPr id="3" name="Espace réservé de la date 2"/>
          <p:cNvSpPr>
            <a:spLocks noGrp="1"/>
          </p:cNvSpPr>
          <p:nvPr>
            <p:ph type="dt" idx="1"/>
          </p:nvPr>
        </p:nvSpPr>
        <p:spPr>
          <a:xfrm>
            <a:off x="3776663" y="0"/>
            <a:ext cx="2889250" cy="490538"/>
          </a:xfrm>
          <a:prstGeom prst="rect">
            <a:avLst/>
          </a:prstGeom>
        </p:spPr>
        <p:txBody>
          <a:bodyPr vert="horz" lIns="91440" tIns="45720" rIns="91440" bIns="45720" rtlCol="0"/>
          <a:lstStyle>
            <a:lvl1pPr algn="r">
              <a:defRPr sz="1200"/>
            </a:lvl1pPr>
          </a:lstStyle>
          <a:p>
            <a:pPr>
              <a:defRPr/>
            </a:pPr>
            <a:fld id="{440ECF38-7F5F-4DDA-A7FD-059ACF644639}" type="datetimeFigureOut">
              <a:rPr lang="fr-FR"/>
              <a:pPr>
                <a:defRPr/>
              </a:pPr>
              <a:t>19/11/2024</a:t>
            </a:fld>
            <a:endParaRPr lang="fr-FR"/>
          </a:p>
        </p:txBody>
      </p:sp>
      <p:sp>
        <p:nvSpPr>
          <p:cNvPr id="4" name="Espace réservé de l'image des diapositives 3"/>
          <p:cNvSpPr>
            <a:spLocks noGrp="1" noRot="1" noChangeAspect="1"/>
          </p:cNvSpPr>
          <p:nvPr>
            <p:ph type="sldImg" idx="2"/>
          </p:nvPr>
        </p:nvSpPr>
        <p:spPr>
          <a:xfrm>
            <a:off x="884238" y="735013"/>
            <a:ext cx="4899025" cy="3675062"/>
          </a:xfrm>
          <a:prstGeom prst="rect">
            <a:avLst/>
          </a:prstGeom>
          <a:noFill/>
          <a:ln w="12700">
            <a:solidFill>
              <a:prstClr val="black"/>
            </a:solidFill>
          </a:ln>
        </p:spPr>
        <p:txBody>
          <a:bodyPr vert="horz" lIns="91440" tIns="45720" rIns="91440" bIns="45720" rtlCol="0" anchor="ctr"/>
          <a:lstStyle/>
          <a:p>
            <a:pPr lvl="0"/>
            <a:endParaRPr lang="fr-FR" noProof="0"/>
          </a:p>
        </p:txBody>
      </p:sp>
      <p:sp>
        <p:nvSpPr>
          <p:cNvPr id="5" name="Espace réservé des commentaires 4"/>
          <p:cNvSpPr>
            <a:spLocks noGrp="1"/>
          </p:cNvSpPr>
          <p:nvPr>
            <p:ph type="body" sz="quarter" idx="3"/>
          </p:nvPr>
        </p:nvSpPr>
        <p:spPr>
          <a:xfrm>
            <a:off x="666750" y="4656138"/>
            <a:ext cx="5334000" cy="4410075"/>
          </a:xfrm>
          <a:prstGeom prst="rect">
            <a:avLst/>
          </a:prstGeom>
        </p:spPr>
        <p:txBody>
          <a:bodyPr vert="horz" lIns="91440" tIns="45720" rIns="91440" bIns="45720" rtlCol="0">
            <a:normAutofit/>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6" name="Espace réservé du pied de page 5"/>
          <p:cNvSpPr>
            <a:spLocks noGrp="1"/>
          </p:cNvSpPr>
          <p:nvPr>
            <p:ph type="ftr" sz="quarter" idx="4"/>
          </p:nvPr>
        </p:nvSpPr>
        <p:spPr>
          <a:xfrm>
            <a:off x="0" y="9309100"/>
            <a:ext cx="2889250" cy="490538"/>
          </a:xfrm>
          <a:prstGeom prst="rect">
            <a:avLst/>
          </a:prstGeom>
        </p:spPr>
        <p:txBody>
          <a:bodyPr vert="horz" lIns="91440" tIns="45720" rIns="91440" bIns="45720" rtlCol="0" anchor="b"/>
          <a:lstStyle>
            <a:lvl1pPr algn="l">
              <a:defRPr sz="1200"/>
            </a:lvl1pPr>
          </a:lstStyle>
          <a:p>
            <a:pPr>
              <a:defRPr/>
            </a:pPr>
            <a:endParaRPr lang="fr-FR"/>
          </a:p>
        </p:txBody>
      </p:sp>
      <p:sp>
        <p:nvSpPr>
          <p:cNvPr id="7" name="Espace réservé du numéro de diapositive 6"/>
          <p:cNvSpPr>
            <a:spLocks noGrp="1"/>
          </p:cNvSpPr>
          <p:nvPr>
            <p:ph type="sldNum" sz="quarter" idx="5"/>
          </p:nvPr>
        </p:nvSpPr>
        <p:spPr>
          <a:xfrm>
            <a:off x="3776663" y="9309100"/>
            <a:ext cx="2889250" cy="490538"/>
          </a:xfrm>
          <a:prstGeom prst="rect">
            <a:avLst/>
          </a:prstGeom>
        </p:spPr>
        <p:txBody>
          <a:bodyPr vert="horz" lIns="91440" tIns="45720" rIns="91440" bIns="45720" rtlCol="0" anchor="b"/>
          <a:lstStyle>
            <a:lvl1pPr algn="r">
              <a:defRPr sz="1200"/>
            </a:lvl1pPr>
          </a:lstStyle>
          <a:p>
            <a:pPr>
              <a:defRPr/>
            </a:pPr>
            <a:fld id="{AE19035F-DA83-4CC8-8BFD-63FF8B64EC99}" type="slidenum">
              <a:rPr lang="fr-FR"/>
              <a:pPr>
                <a:defRPr/>
              </a:pPr>
              <a:t>‹N°›</a:t>
            </a:fld>
            <a:endParaRPr lang="fr-FR"/>
          </a:p>
        </p:txBody>
      </p:sp>
    </p:spTree>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pied de page 3"/>
          <p:cNvSpPr>
            <a:spLocks noGrp="1"/>
          </p:cNvSpPr>
          <p:nvPr>
            <p:ph type="ftr" sz="quarter" idx="4"/>
          </p:nvPr>
        </p:nvSpPr>
        <p:spPr/>
        <p:txBody>
          <a:bodyPr/>
          <a:lstStyle/>
          <a:p>
            <a:pPr>
              <a:defRPr/>
            </a:pPr>
            <a:endParaRPr lang="fr-FR"/>
          </a:p>
        </p:txBody>
      </p:sp>
      <p:sp>
        <p:nvSpPr>
          <p:cNvPr id="5" name="Espace réservé du numéro de diapositive 4"/>
          <p:cNvSpPr>
            <a:spLocks noGrp="1"/>
          </p:cNvSpPr>
          <p:nvPr>
            <p:ph type="sldNum" sz="quarter" idx="5"/>
          </p:nvPr>
        </p:nvSpPr>
        <p:spPr/>
        <p:txBody>
          <a:bodyPr/>
          <a:lstStyle/>
          <a:p>
            <a:pPr>
              <a:defRPr/>
            </a:pPr>
            <a:fld id="{AE19035F-DA83-4CC8-8BFD-63FF8B64EC99}" type="slidenum">
              <a:rPr lang="fr-FR" smtClean="0"/>
              <a:pPr>
                <a:defRPr/>
              </a:pPr>
              <a:t>11</a:t>
            </a:fld>
            <a:endParaRPr lang="fr-FR"/>
          </a:p>
        </p:txBody>
      </p:sp>
    </p:spTree>
    <p:extLst>
      <p:ext uri="{BB962C8B-B14F-4D97-AF65-F5344CB8AC3E}">
        <p14:creationId xmlns:p14="http://schemas.microsoft.com/office/powerpoint/2010/main" val="41577017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4" name="Ellipse 3"/>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endParaRPr lang="en-US"/>
          </a:p>
        </p:txBody>
      </p:sp>
      <p:sp>
        <p:nvSpPr>
          <p:cNvPr id="5" name="Ellipse 4"/>
          <p:cNvSpPr/>
          <p:nvPr/>
        </p:nvSpPr>
        <p:spPr>
          <a:xfrm>
            <a:off x="1157288" y="1344613"/>
            <a:ext cx="63500" cy="65087"/>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endParaRPr lang="en-US"/>
          </a:p>
        </p:txBody>
      </p:sp>
      <p:sp>
        <p:nvSpPr>
          <p:cNvPr id="14" name="Titre 13"/>
          <p:cNvSpPr>
            <a:spLocks noGrp="1"/>
          </p:cNvSpPr>
          <p:nvPr>
            <p:ph type="ctrTitle"/>
          </p:nvPr>
        </p:nvSpPr>
        <p:spPr>
          <a:xfrm>
            <a:off x="1432560" y="359898"/>
            <a:ext cx="7406640" cy="1472184"/>
          </a:xfrm>
        </p:spPr>
        <p:txBody>
          <a:bodyPr anchor="b"/>
          <a:lstStyle>
            <a:lvl1pPr algn="l">
              <a:defRPr/>
            </a:lvl1pPr>
            <a:extLst/>
          </a:lstStyle>
          <a:p>
            <a:r>
              <a:rPr lang="fr-FR"/>
              <a:t>Cliquez pour modifier le style du titre</a:t>
            </a:r>
            <a:endParaRPr lang="en-US"/>
          </a:p>
        </p:txBody>
      </p:sp>
      <p:sp>
        <p:nvSpPr>
          <p:cNvPr id="22" name="Sous-titr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fr-FR"/>
              <a:t>Cliquez pour modifier le style des sous-titres du masque</a:t>
            </a:r>
            <a:endParaRPr lang="en-US"/>
          </a:p>
        </p:txBody>
      </p:sp>
      <p:sp>
        <p:nvSpPr>
          <p:cNvPr id="6" name="Espace réservé de la date 6"/>
          <p:cNvSpPr>
            <a:spLocks noGrp="1"/>
          </p:cNvSpPr>
          <p:nvPr>
            <p:ph type="dt" sz="half" idx="10"/>
          </p:nvPr>
        </p:nvSpPr>
        <p:spPr/>
        <p:txBody>
          <a:bodyPr/>
          <a:lstStyle>
            <a:lvl1pPr>
              <a:defRPr/>
            </a:lvl1pPr>
            <a:extLst/>
          </a:lstStyle>
          <a:p>
            <a:pPr>
              <a:defRPr/>
            </a:pPr>
            <a:endParaRPr lang="fr-FR"/>
          </a:p>
        </p:txBody>
      </p:sp>
      <p:sp>
        <p:nvSpPr>
          <p:cNvPr id="7" name="Espace réservé du pied de page 19"/>
          <p:cNvSpPr>
            <a:spLocks noGrp="1"/>
          </p:cNvSpPr>
          <p:nvPr>
            <p:ph type="ftr" sz="quarter" idx="11"/>
          </p:nvPr>
        </p:nvSpPr>
        <p:spPr/>
        <p:txBody>
          <a:bodyPr/>
          <a:lstStyle>
            <a:lvl1pPr>
              <a:defRPr smtClean="0"/>
            </a:lvl1pPr>
            <a:extLst/>
          </a:lstStyle>
          <a:p>
            <a:pPr>
              <a:defRPr/>
            </a:pPr>
            <a:r>
              <a:rPr lang="fr-FR" dirty="0"/>
              <a:t>1ère année BTS SNIR                                      </a:t>
            </a:r>
          </a:p>
        </p:txBody>
      </p:sp>
      <p:sp>
        <p:nvSpPr>
          <p:cNvPr id="8" name="Espace réservé du numéro de diapositive 9"/>
          <p:cNvSpPr>
            <a:spLocks noGrp="1"/>
          </p:cNvSpPr>
          <p:nvPr>
            <p:ph type="sldNum" sz="quarter" idx="12"/>
          </p:nvPr>
        </p:nvSpPr>
        <p:spPr/>
        <p:txBody>
          <a:bodyPr/>
          <a:lstStyle>
            <a:lvl1pPr>
              <a:defRPr/>
            </a:lvl1pPr>
            <a:extLst/>
          </a:lstStyle>
          <a:p>
            <a:pPr>
              <a:defRPr/>
            </a:pPr>
            <a:fld id="{FB22AC7C-FCBC-4E86-857E-289D948E1D86}" type="slidenum">
              <a:rPr lang="fr-FR"/>
              <a:pPr>
                <a:defRPr/>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endParaRPr lang="en-US"/>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23"/>
          <p:cNvSpPr>
            <a:spLocks noGrp="1"/>
          </p:cNvSpPr>
          <p:nvPr>
            <p:ph type="dt" sz="half" idx="10"/>
          </p:nvPr>
        </p:nvSpPr>
        <p:spPr/>
        <p:txBody>
          <a:bodyPr/>
          <a:lstStyle>
            <a:lvl1pPr>
              <a:defRPr/>
            </a:lvl1pPr>
          </a:lstStyle>
          <a:p>
            <a:pPr>
              <a:defRPr/>
            </a:pPr>
            <a:endParaRPr lang="fr-FR"/>
          </a:p>
        </p:txBody>
      </p:sp>
      <p:sp>
        <p:nvSpPr>
          <p:cNvPr id="5" name="Espace réservé du pied de page 9"/>
          <p:cNvSpPr>
            <a:spLocks noGrp="1"/>
          </p:cNvSpPr>
          <p:nvPr>
            <p:ph type="ftr" sz="quarter" idx="11"/>
          </p:nvPr>
        </p:nvSpPr>
        <p:spPr/>
        <p:txBody>
          <a:bodyPr/>
          <a:lstStyle>
            <a:lvl1pPr>
              <a:defRPr/>
            </a:lvl1pPr>
          </a:lstStyle>
          <a:p>
            <a:pPr>
              <a:defRPr/>
            </a:pPr>
            <a:r>
              <a:rPr lang="fr-FR" dirty="0"/>
              <a:t>1ère année BTS SNIR                                      </a:t>
            </a:r>
          </a:p>
        </p:txBody>
      </p:sp>
      <p:sp>
        <p:nvSpPr>
          <p:cNvPr id="6" name="Espace réservé du numéro de diapositive 21"/>
          <p:cNvSpPr>
            <a:spLocks noGrp="1"/>
          </p:cNvSpPr>
          <p:nvPr>
            <p:ph type="sldNum" sz="quarter" idx="12"/>
          </p:nvPr>
        </p:nvSpPr>
        <p:spPr/>
        <p:txBody>
          <a:bodyPr/>
          <a:lstStyle>
            <a:lvl1pPr>
              <a:defRPr/>
            </a:lvl1pPr>
          </a:lstStyle>
          <a:p>
            <a:pPr>
              <a:defRPr/>
            </a:pPr>
            <a:fld id="{AE65C026-8F1A-49B2-8DBD-F72498D8F816}" type="slidenum">
              <a:rPr lang="fr-FR"/>
              <a:pPr>
                <a:defRPr/>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4" name="Rectangle 3"/>
          <p:cNvSpPr/>
          <p:nvPr/>
        </p:nvSpPr>
        <p:spPr>
          <a:xfrm>
            <a:off x="2282825" y="0"/>
            <a:ext cx="6858000"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5" name="Rectangle 4"/>
          <p:cNvSpPr/>
          <p:nvPr/>
        </p:nvSpPr>
        <p:spPr bwMode="invGray">
          <a:xfrm>
            <a:off x="2286000" y="0"/>
            <a:ext cx="76200"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6" name="Ellipse 5"/>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endParaRPr lang="en-US"/>
          </a:p>
        </p:txBody>
      </p:sp>
      <p:sp>
        <p:nvSpPr>
          <p:cNvPr id="7" name="Ellipse 6"/>
          <p:cNvSpPr/>
          <p:nvPr/>
        </p:nvSpPr>
        <p:spPr>
          <a:xfrm>
            <a:off x="2408238" y="2746375"/>
            <a:ext cx="63500" cy="63500"/>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endParaRPr lang="en-US"/>
          </a:p>
        </p:txBody>
      </p:sp>
      <p:sp>
        <p:nvSpPr>
          <p:cNvPr id="2" name="Titr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lang="fr-FR"/>
              <a:t>Cliquez pour modifier le style du titre</a:t>
            </a:r>
            <a:endParaRPr lang="en-US"/>
          </a:p>
        </p:txBody>
      </p:sp>
      <p:sp>
        <p:nvSpPr>
          <p:cNvPr id="3" name="Espace réservé du texte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fr-FR"/>
              <a:t>Cliquez pour modifier les styles du texte du masque</a:t>
            </a:r>
          </a:p>
        </p:txBody>
      </p:sp>
      <p:sp>
        <p:nvSpPr>
          <p:cNvPr id="8" name="Espace réservé de la date 3"/>
          <p:cNvSpPr>
            <a:spLocks noGrp="1"/>
          </p:cNvSpPr>
          <p:nvPr>
            <p:ph type="dt" sz="half" idx="10"/>
          </p:nvPr>
        </p:nvSpPr>
        <p:spPr/>
        <p:txBody>
          <a:bodyPr/>
          <a:lstStyle>
            <a:lvl1pPr>
              <a:defRPr/>
            </a:lvl1pPr>
            <a:extLst/>
          </a:lstStyle>
          <a:p>
            <a:pPr>
              <a:defRPr/>
            </a:pPr>
            <a:endParaRPr lang="fr-FR"/>
          </a:p>
        </p:txBody>
      </p:sp>
      <p:sp>
        <p:nvSpPr>
          <p:cNvPr id="9" name="Espace réservé du pied de page 4"/>
          <p:cNvSpPr>
            <a:spLocks noGrp="1"/>
          </p:cNvSpPr>
          <p:nvPr>
            <p:ph type="ftr" sz="quarter" idx="11"/>
          </p:nvPr>
        </p:nvSpPr>
        <p:spPr/>
        <p:txBody>
          <a:bodyPr/>
          <a:lstStyle>
            <a:lvl1pPr>
              <a:defRPr smtClean="0"/>
            </a:lvl1pPr>
            <a:extLst/>
          </a:lstStyle>
          <a:p>
            <a:pPr>
              <a:defRPr/>
            </a:pPr>
            <a:r>
              <a:rPr lang="fr-FR" dirty="0"/>
              <a:t>1ère année BTS SNIR                                      </a:t>
            </a:r>
          </a:p>
        </p:txBody>
      </p:sp>
      <p:sp>
        <p:nvSpPr>
          <p:cNvPr id="10" name="Espace réservé du numéro de diapositive 5"/>
          <p:cNvSpPr>
            <a:spLocks noGrp="1"/>
          </p:cNvSpPr>
          <p:nvPr>
            <p:ph type="sldNum" sz="quarter" idx="12"/>
          </p:nvPr>
        </p:nvSpPr>
        <p:spPr/>
        <p:txBody>
          <a:bodyPr/>
          <a:lstStyle>
            <a:lvl1pPr>
              <a:defRPr/>
            </a:lvl1pPr>
            <a:extLst/>
          </a:lstStyle>
          <a:p>
            <a:pPr>
              <a:defRPr/>
            </a:pPr>
            <a:fld id="{A6420CFD-E0E9-49A0-BB6C-6935B51CD71A}" type="slidenum">
              <a:rPr lang="fr-FR"/>
              <a:pPr>
                <a:defRPr/>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1435608" y="274320"/>
            <a:ext cx="7498080" cy="1143000"/>
          </a:xfrm>
        </p:spPr>
        <p:txBody>
          <a:bodyPr/>
          <a:lstStyle/>
          <a:p>
            <a:r>
              <a:rPr lang="fr-FR"/>
              <a:t>Cliquez pour modifier le style du titre</a:t>
            </a:r>
            <a:endParaRPr lang="en-US"/>
          </a:p>
        </p:txBody>
      </p:sp>
      <p:sp>
        <p:nvSpPr>
          <p:cNvPr id="3" name="Espace réservé du contenu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contenu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e la date 23"/>
          <p:cNvSpPr>
            <a:spLocks noGrp="1"/>
          </p:cNvSpPr>
          <p:nvPr>
            <p:ph type="dt" sz="half" idx="10"/>
          </p:nvPr>
        </p:nvSpPr>
        <p:spPr/>
        <p:txBody>
          <a:bodyPr/>
          <a:lstStyle>
            <a:lvl1pPr>
              <a:defRPr/>
            </a:lvl1pPr>
          </a:lstStyle>
          <a:p>
            <a:pPr>
              <a:defRPr/>
            </a:pPr>
            <a:endParaRPr lang="fr-FR"/>
          </a:p>
        </p:txBody>
      </p:sp>
      <p:sp>
        <p:nvSpPr>
          <p:cNvPr id="6" name="Espace réservé du pied de page 9"/>
          <p:cNvSpPr>
            <a:spLocks noGrp="1"/>
          </p:cNvSpPr>
          <p:nvPr>
            <p:ph type="ftr" sz="quarter" idx="11"/>
          </p:nvPr>
        </p:nvSpPr>
        <p:spPr/>
        <p:txBody>
          <a:bodyPr/>
          <a:lstStyle>
            <a:lvl1pPr>
              <a:defRPr/>
            </a:lvl1pPr>
          </a:lstStyle>
          <a:p>
            <a:pPr>
              <a:defRPr/>
            </a:pPr>
            <a:r>
              <a:rPr lang="fr-FR" dirty="0"/>
              <a:t>1ère année BTS SNIR                                      </a:t>
            </a:r>
          </a:p>
        </p:txBody>
      </p:sp>
      <p:sp>
        <p:nvSpPr>
          <p:cNvPr id="7" name="Espace réservé du numéro de diapositive 21"/>
          <p:cNvSpPr>
            <a:spLocks noGrp="1"/>
          </p:cNvSpPr>
          <p:nvPr>
            <p:ph type="sldNum" sz="quarter" idx="12"/>
          </p:nvPr>
        </p:nvSpPr>
        <p:spPr/>
        <p:txBody>
          <a:bodyPr/>
          <a:lstStyle>
            <a:lvl1pPr>
              <a:defRPr/>
            </a:lvl1pPr>
          </a:lstStyle>
          <a:p>
            <a:pPr>
              <a:defRPr/>
            </a:pPr>
            <a:fld id="{ED307A83-B3C7-4B7E-8CC1-F29EA5FF3AE7}" type="slidenum">
              <a:rPr lang="fr-FR"/>
              <a:pPr>
                <a:defRPr/>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5160336"/>
            <a:ext cx="8229600" cy="1143000"/>
          </a:xfrm>
        </p:spPr>
        <p:txBody>
          <a:bodyPr/>
          <a:lstStyle>
            <a:lvl1pPr algn="ctr">
              <a:defRPr sz="4500" b="1" cap="none" baseline="0"/>
            </a:lvl1pPr>
            <a:extLst/>
          </a:lstStyle>
          <a:p>
            <a:r>
              <a:rPr lang="fr-FR"/>
              <a:t>Cliquez pour modifier le style du titre</a:t>
            </a:r>
            <a:endParaRPr lang="en-US"/>
          </a:p>
        </p:txBody>
      </p:sp>
      <p:sp>
        <p:nvSpPr>
          <p:cNvPr id="3" name="Espace réservé du texte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fr-FR"/>
              <a:t>Cliquez pour modifier les styles du texte du masque</a:t>
            </a:r>
          </a:p>
        </p:txBody>
      </p:sp>
      <p:sp>
        <p:nvSpPr>
          <p:cNvPr id="4" name="Espace réservé du texte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fr-FR"/>
              <a:t>Cliquez pour modifier les styles du texte du masque</a:t>
            </a:r>
          </a:p>
        </p:txBody>
      </p:sp>
      <p:sp>
        <p:nvSpPr>
          <p:cNvPr id="5" name="Espace réservé du contenu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Espace réservé du contenu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Espace réservé de la date 6"/>
          <p:cNvSpPr>
            <a:spLocks noGrp="1"/>
          </p:cNvSpPr>
          <p:nvPr>
            <p:ph type="dt" sz="half" idx="10"/>
          </p:nvPr>
        </p:nvSpPr>
        <p:spPr/>
        <p:txBody>
          <a:bodyPr/>
          <a:lstStyle>
            <a:lvl1pPr>
              <a:defRPr/>
            </a:lvl1pPr>
            <a:extLst/>
          </a:lstStyle>
          <a:p>
            <a:pPr>
              <a:defRPr/>
            </a:pPr>
            <a:endParaRPr lang="fr-FR"/>
          </a:p>
        </p:txBody>
      </p:sp>
      <p:sp>
        <p:nvSpPr>
          <p:cNvPr id="8" name="Espace réservé du pied de page 7"/>
          <p:cNvSpPr>
            <a:spLocks noGrp="1"/>
          </p:cNvSpPr>
          <p:nvPr>
            <p:ph type="ftr" sz="quarter" idx="11"/>
          </p:nvPr>
        </p:nvSpPr>
        <p:spPr/>
        <p:txBody>
          <a:bodyPr/>
          <a:lstStyle>
            <a:lvl1pPr>
              <a:defRPr smtClean="0"/>
            </a:lvl1pPr>
            <a:extLst/>
          </a:lstStyle>
          <a:p>
            <a:pPr>
              <a:defRPr/>
            </a:pPr>
            <a:r>
              <a:rPr lang="fr-FR" dirty="0"/>
              <a:t>1ère année BTS SNIR                                      </a:t>
            </a:r>
          </a:p>
        </p:txBody>
      </p:sp>
      <p:sp>
        <p:nvSpPr>
          <p:cNvPr id="9" name="Espace réservé du numéro de diapositive 8"/>
          <p:cNvSpPr>
            <a:spLocks noGrp="1"/>
          </p:cNvSpPr>
          <p:nvPr>
            <p:ph type="sldNum" sz="quarter" idx="12"/>
          </p:nvPr>
        </p:nvSpPr>
        <p:spPr/>
        <p:txBody>
          <a:bodyPr/>
          <a:lstStyle>
            <a:lvl1pPr>
              <a:defRPr/>
            </a:lvl1pPr>
            <a:extLst/>
          </a:lstStyle>
          <a:p>
            <a:pPr>
              <a:defRPr/>
            </a:pPr>
            <a:fld id="{7890A95B-2A61-41B8-8484-30FA15687F5F}" type="slidenum">
              <a:rPr lang="fr-FR"/>
              <a:pPr>
                <a:defRPr/>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seul">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27D011EA-43D2-46E3-ADDD-2743157A0886}"/>
              </a:ext>
            </a:extLst>
          </p:cNvPr>
          <p:cNvSpPr>
            <a:spLocks noGrp="1"/>
          </p:cNvSpPr>
          <p:nvPr>
            <p:ph type="title"/>
          </p:nvPr>
        </p:nvSpPr>
        <p:spPr>
          <a:xfrm>
            <a:off x="1259632" y="260648"/>
            <a:ext cx="7499350" cy="1080120"/>
          </a:xfrm>
          <a:gradFill>
            <a:gsLst>
              <a:gs pos="10212">
                <a:schemeClr val="tx1">
                  <a:lumMod val="25000"/>
                  <a:lumOff val="75000"/>
                </a:schemeClr>
              </a:gs>
              <a:gs pos="0">
                <a:schemeClr val="bg2"/>
              </a:gs>
              <a:gs pos="74000">
                <a:schemeClr val="bg2">
                  <a:lumMod val="75000"/>
                </a:schemeClr>
              </a:gs>
              <a:gs pos="83000">
                <a:schemeClr val="bg2">
                  <a:lumMod val="75000"/>
                </a:schemeClr>
              </a:gs>
              <a:gs pos="100000">
                <a:schemeClr val="bg2">
                  <a:lumMod val="50000"/>
                </a:schemeClr>
              </a:gs>
            </a:gsLst>
            <a:lin ang="5400000" scaled="1"/>
          </a:gradFill>
        </p:spPr>
        <p:txBody>
          <a:bodyPr/>
          <a:lstStyle>
            <a:lvl1pPr>
              <a:defRPr b="1">
                <a:solidFill>
                  <a:srgbClr val="C00000"/>
                </a:solidFill>
              </a:defRPr>
            </a:lvl1pPr>
          </a:lstStyle>
          <a:p>
            <a:r>
              <a:rPr lang="fr-FR" dirty="0"/>
              <a:t>Modifiez le style du titre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1"/>
          <p:cNvSpPr/>
          <p:nvPr/>
        </p:nvSpPr>
        <p:spPr>
          <a:xfrm>
            <a:off x="1014413" y="0"/>
            <a:ext cx="8129587"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3" name="Rectangle 2"/>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4" name="Espace réservé de la date 1"/>
          <p:cNvSpPr>
            <a:spLocks noGrp="1"/>
          </p:cNvSpPr>
          <p:nvPr>
            <p:ph type="dt" sz="half" idx="10"/>
          </p:nvPr>
        </p:nvSpPr>
        <p:spPr/>
        <p:txBody>
          <a:bodyPr/>
          <a:lstStyle>
            <a:lvl1pPr>
              <a:defRPr/>
            </a:lvl1pPr>
            <a:extLst/>
          </a:lstStyle>
          <a:p>
            <a:pPr>
              <a:defRPr/>
            </a:pPr>
            <a:endParaRPr lang="fr-FR"/>
          </a:p>
        </p:txBody>
      </p:sp>
      <p:sp>
        <p:nvSpPr>
          <p:cNvPr id="5" name="Espace réservé du pied de page 2"/>
          <p:cNvSpPr>
            <a:spLocks noGrp="1"/>
          </p:cNvSpPr>
          <p:nvPr>
            <p:ph type="ftr" sz="quarter" idx="11"/>
          </p:nvPr>
        </p:nvSpPr>
        <p:spPr/>
        <p:txBody>
          <a:bodyPr/>
          <a:lstStyle>
            <a:lvl1pPr>
              <a:defRPr smtClean="0"/>
            </a:lvl1pPr>
            <a:extLst/>
          </a:lstStyle>
          <a:p>
            <a:pPr>
              <a:defRPr/>
            </a:pPr>
            <a:r>
              <a:rPr lang="fr-FR" dirty="0"/>
              <a:t>1ère année BTS SNIR                                      </a:t>
            </a:r>
          </a:p>
        </p:txBody>
      </p:sp>
      <p:sp>
        <p:nvSpPr>
          <p:cNvPr id="6" name="Espace réservé du numéro de diapositive 3"/>
          <p:cNvSpPr>
            <a:spLocks noGrp="1"/>
          </p:cNvSpPr>
          <p:nvPr>
            <p:ph type="sldNum" sz="quarter" idx="12"/>
          </p:nvPr>
        </p:nvSpPr>
        <p:spPr/>
        <p:txBody>
          <a:bodyPr/>
          <a:lstStyle>
            <a:lvl1pPr>
              <a:defRPr/>
            </a:lvl1pPr>
            <a:extLst/>
          </a:lstStyle>
          <a:p>
            <a:pPr>
              <a:defRPr/>
            </a:pPr>
            <a:fld id="{CBF90D94-944E-4018-94D9-97078B9D50B5}" type="slidenum">
              <a:rPr lang="fr-FR"/>
              <a:pPr>
                <a:defRPr/>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lang="fr-FR"/>
              <a:t>Cliquez pour modifier le style du titre</a:t>
            </a:r>
            <a:endParaRPr lang="en-US"/>
          </a:p>
        </p:txBody>
      </p:sp>
      <p:sp>
        <p:nvSpPr>
          <p:cNvPr id="3" name="Espace réservé du texte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a:r>
              <a:rPr lang="fr-FR"/>
              <a:t>Cliquez pour modifier les styles du texte du masque</a:t>
            </a:r>
          </a:p>
        </p:txBody>
      </p:sp>
      <p:sp>
        <p:nvSpPr>
          <p:cNvPr id="4" name="Espace réservé du contenu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e la date 4"/>
          <p:cNvSpPr>
            <a:spLocks noGrp="1"/>
          </p:cNvSpPr>
          <p:nvPr>
            <p:ph type="dt" sz="half" idx="10"/>
          </p:nvPr>
        </p:nvSpPr>
        <p:spPr/>
        <p:txBody>
          <a:bodyPr/>
          <a:lstStyle>
            <a:lvl1pPr>
              <a:defRPr/>
            </a:lvl1pPr>
            <a:extLst/>
          </a:lstStyle>
          <a:p>
            <a:pPr>
              <a:defRPr/>
            </a:pPr>
            <a:endParaRPr lang="fr-FR"/>
          </a:p>
        </p:txBody>
      </p:sp>
      <p:sp>
        <p:nvSpPr>
          <p:cNvPr id="6" name="Espace réservé du pied de page 5"/>
          <p:cNvSpPr>
            <a:spLocks noGrp="1"/>
          </p:cNvSpPr>
          <p:nvPr>
            <p:ph type="ftr" sz="quarter" idx="11"/>
          </p:nvPr>
        </p:nvSpPr>
        <p:spPr/>
        <p:txBody>
          <a:bodyPr/>
          <a:lstStyle>
            <a:lvl1pPr>
              <a:defRPr smtClean="0"/>
            </a:lvl1pPr>
            <a:extLst/>
          </a:lstStyle>
          <a:p>
            <a:pPr>
              <a:defRPr/>
            </a:pPr>
            <a:r>
              <a:rPr lang="fr-FR" dirty="0"/>
              <a:t>1ère année BTS SNIR                                      </a:t>
            </a:r>
          </a:p>
        </p:txBody>
      </p:sp>
      <p:sp>
        <p:nvSpPr>
          <p:cNvPr id="7" name="Espace réservé du numéro de diapositive 6"/>
          <p:cNvSpPr>
            <a:spLocks noGrp="1"/>
          </p:cNvSpPr>
          <p:nvPr>
            <p:ph type="sldNum" sz="quarter" idx="12"/>
          </p:nvPr>
        </p:nvSpPr>
        <p:spPr/>
        <p:txBody>
          <a:bodyPr/>
          <a:lstStyle>
            <a:lvl1pPr>
              <a:defRPr/>
            </a:lvl1pPr>
            <a:extLst/>
          </a:lstStyle>
          <a:p>
            <a:pPr>
              <a:defRPr/>
            </a:pPr>
            <a:fld id="{8C93BAA2-95DB-4337-BAA9-084BDCFF8373}" type="slidenum">
              <a:rPr lang="fr-FR"/>
              <a:pPr>
                <a:defRPr/>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5" name="Rectangle 4"/>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tIns="274320">
            <a:normAutofit/>
          </a:bodyPr>
          <a:lstStyle/>
          <a:p>
            <a:pPr indent="-283464" eaLnBrk="1" hangingPunct="1">
              <a:lnSpc>
                <a:spcPts val="3000"/>
              </a:lnSpc>
              <a:spcBef>
                <a:spcPts val="600"/>
              </a:spcBef>
              <a:buClr>
                <a:schemeClr val="accent1"/>
              </a:buClr>
              <a:buSzPct val="80000"/>
              <a:buFont typeface="Wingdings 2"/>
              <a:buNone/>
              <a:defRPr/>
            </a:pPr>
            <a:endParaRPr lang="en-US" sz="3200">
              <a:latin typeface="+mn-lt"/>
            </a:endParaRPr>
          </a:p>
        </p:txBody>
      </p:sp>
      <p:sp>
        <p:nvSpPr>
          <p:cNvPr id="6" name="Organigramme : Processus 5"/>
          <p:cNvSpPr/>
          <p:nvPr/>
        </p:nvSpPr>
        <p:spPr>
          <a:xfrm rot="19468671">
            <a:off x="396875" y="954088"/>
            <a:ext cx="685800" cy="204787"/>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7" name="Organigramme : Processus 6"/>
          <p:cNvSpPr/>
          <p:nvPr/>
        </p:nvSpPr>
        <p:spPr>
          <a:xfrm rot="2103354" flipH="1">
            <a:off x="5003800" y="936625"/>
            <a:ext cx="649288" cy="204788"/>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2" name="Titr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lang="fr-FR"/>
              <a:t>Cliquez pour modifier le style du titre</a:t>
            </a:r>
            <a:endParaRPr lang="en-US"/>
          </a:p>
        </p:txBody>
      </p:sp>
      <p:sp>
        <p:nvSpPr>
          <p:cNvPr id="3" name="Espace réservé pour une image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tIns="274320">
            <a:normAutofit/>
          </a:bodyPr>
          <a:lstStyle>
            <a:lvl1pPr indent="0">
              <a:buNone/>
              <a:defRPr sz="3200"/>
            </a:lvl1pPr>
            <a:extLst/>
          </a:lstStyle>
          <a:p>
            <a:pPr lvl="0"/>
            <a:r>
              <a:rPr lang="fr-FR" noProof="0"/>
              <a:t>Cliquez sur l'icône pour ajouter une image</a:t>
            </a:r>
            <a:endParaRPr lang="en-US" noProof="0" dirty="0"/>
          </a:p>
        </p:txBody>
      </p:sp>
      <p:sp>
        <p:nvSpPr>
          <p:cNvPr id="4" name="Espace réservé du texte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a:r>
              <a:rPr lang="fr-FR"/>
              <a:t>Cliquez pour modifier les styles du texte du masque</a:t>
            </a:r>
          </a:p>
        </p:txBody>
      </p:sp>
      <p:sp>
        <p:nvSpPr>
          <p:cNvPr id="8" name="Espace réservé de la date 4"/>
          <p:cNvSpPr>
            <a:spLocks noGrp="1"/>
          </p:cNvSpPr>
          <p:nvPr>
            <p:ph type="dt" sz="half" idx="10"/>
          </p:nvPr>
        </p:nvSpPr>
        <p:spPr/>
        <p:txBody>
          <a:bodyPr/>
          <a:lstStyle>
            <a:lvl1pPr>
              <a:defRPr/>
            </a:lvl1pPr>
            <a:extLst/>
          </a:lstStyle>
          <a:p>
            <a:pPr>
              <a:defRPr/>
            </a:pPr>
            <a:endParaRPr lang="fr-FR"/>
          </a:p>
        </p:txBody>
      </p:sp>
      <p:sp>
        <p:nvSpPr>
          <p:cNvPr id="9" name="Espace réservé du pied de page 5"/>
          <p:cNvSpPr>
            <a:spLocks noGrp="1"/>
          </p:cNvSpPr>
          <p:nvPr>
            <p:ph type="ftr" sz="quarter" idx="11"/>
          </p:nvPr>
        </p:nvSpPr>
        <p:spPr/>
        <p:txBody>
          <a:bodyPr/>
          <a:lstStyle>
            <a:lvl1pPr>
              <a:defRPr smtClean="0"/>
            </a:lvl1pPr>
            <a:extLst/>
          </a:lstStyle>
          <a:p>
            <a:pPr>
              <a:defRPr/>
            </a:pPr>
            <a:r>
              <a:rPr lang="fr-FR" dirty="0"/>
              <a:t>1ère année BTS SNIR                                      </a:t>
            </a:r>
          </a:p>
        </p:txBody>
      </p:sp>
      <p:sp>
        <p:nvSpPr>
          <p:cNvPr id="10" name="Espace réservé du numéro de diapositive 6"/>
          <p:cNvSpPr>
            <a:spLocks noGrp="1"/>
          </p:cNvSpPr>
          <p:nvPr>
            <p:ph type="sldNum" sz="quarter" idx="12"/>
          </p:nvPr>
        </p:nvSpPr>
        <p:spPr/>
        <p:txBody>
          <a:bodyPr/>
          <a:lstStyle>
            <a:lvl1pPr>
              <a:defRPr/>
            </a:lvl1pPr>
            <a:extLst/>
          </a:lstStyle>
          <a:p>
            <a:pPr>
              <a:defRPr/>
            </a:pPr>
            <a:fld id="{B31EFF51-2DCC-41FB-9250-09EFA46127BD}" type="slidenum">
              <a:rPr lang="fr-FR"/>
              <a:pPr>
                <a:defRPr/>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endParaRPr lang="en-US"/>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23"/>
          <p:cNvSpPr>
            <a:spLocks noGrp="1"/>
          </p:cNvSpPr>
          <p:nvPr>
            <p:ph type="dt" sz="half" idx="10"/>
          </p:nvPr>
        </p:nvSpPr>
        <p:spPr/>
        <p:txBody>
          <a:bodyPr/>
          <a:lstStyle>
            <a:lvl1pPr>
              <a:defRPr/>
            </a:lvl1pPr>
          </a:lstStyle>
          <a:p>
            <a:pPr>
              <a:defRPr/>
            </a:pPr>
            <a:endParaRPr lang="fr-FR"/>
          </a:p>
        </p:txBody>
      </p:sp>
      <p:sp>
        <p:nvSpPr>
          <p:cNvPr id="5" name="Espace réservé du pied de page 9"/>
          <p:cNvSpPr>
            <a:spLocks noGrp="1"/>
          </p:cNvSpPr>
          <p:nvPr>
            <p:ph type="ftr" sz="quarter" idx="11"/>
          </p:nvPr>
        </p:nvSpPr>
        <p:spPr/>
        <p:txBody>
          <a:bodyPr/>
          <a:lstStyle>
            <a:lvl1pPr>
              <a:defRPr/>
            </a:lvl1pPr>
          </a:lstStyle>
          <a:p>
            <a:pPr>
              <a:defRPr/>
            </a:pPr>
            <a:r>
              <a:rPr lang="fr-FR" dirty="0"/>
              <a:t>1ère année BTS SNIR                                      </a:t>
            </a:r>
          </a:p>
        </p:txBody>
      </p:sp>
      <p:sp>
        <p:nvSpPr>
          <p:cNvPr id="6" name="Espace réservé du numéro de diapositive 21"/>
          <p:cNvSpPr>
            <a:spLocks noGrp="1"/>
          </p:cNvSpPr>
          <p:nvPr>
            <p:ph type="sldNum" sz="quarter" idx="12"/>
          </p:nvPr>
        </p:nvSpPr>
        <p:spPr/>
        <p:txBody>
          <a:bodyPr/>
          <a:lstStyle>
            <a:lvl1pPr>
              <a:defRPr/>
            </a:lvl1pPr>
          </a:lstStyle>
          <a:p>
            <a:pPr>
              <a:defRPr/>
            </a:pPr>
            <a:fld id="{813F88EA-D742-4906-8A0D-5A3FF1545799}" type="slidenum">
              <a:rPr lang="fr-FR"/>
              <a:pPr>
                <a:defRPr/>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858000" y="274639"/>
            <a:ext cx="1828800" cy="5851525"/>
          </a:xfrm>
        </p:spPr>
        <p:txBody>
          <a:bodyPr vert="eaVert"/>
          <a:lstStyle/>
          <a:p>
            <a:r>
              <a:rPr lang="fr-FR"/>
              <a:t>Cliquez pour modifier le style du titre</a:t>
            </a:r>
            <a:endParaRPr lang="en-US"/>
          </a:p>
        </p:txBody>
      </p:sp>
      <p:sp>
        <p:nvSpPr>
          <p:cNvPr id="3" name="Espace réservé du texte vertical 2"/>
          <p:cNvSpPr>
            <a:spLocks noGrp="1"/>
          </p:cNvSpPr>
          <p:nvPr>
            <p:ph type="body" orient="vert" idx="1"/>
          </p:nvPr>
        </p:nvSpPr>
        <p:spPr>
          <a:xfrm>
            <a:off x="1143000" y="274640"/>
            <a:ext cx="5562600" cy="58515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23"/>
          <p:cNvSpPr>
            <a:spLocks noGrp="1"/>
          </p:cNvSpPr>
          <p:nvPr>
            <p:ph type="dt" sz="half" idx="10"/>
          </p:nvPr>
        </p:nvSpPr>
        <p:spPr/>
        <p:txBody>
          <a:bodyPr/>
          <a:lstStyle>
            <a:lvl1pPr>
              <a:defRPr/>
            </a:lvl1pPr>
          </a:lstStyle>
          <a:p>
            <a:pPr>
              <a:defRPr/>
            </a:pPr>
            <a:endParaRPr lang="fr-FR"/>
          </a:p>
        </p:txBody>
      </p:sp>
      <p:sp>
        <p:nvSpPr>
          <p:cNvPr id="5" name="Espace réservé du pied de page 9"/>
          <p:cNvSpPr>
            <a:spLocks noGrp="1"/>
          </p:cNvSpPr>
          <p:nvPr>
            <p:ph type="ftr" sz="quarter" idx="11"/>
          </p:nvPr>
        </p:nvSpPr>
        <p:spPr/>
        <p:txBody>
          <a:bodyPr/>
          <a:lstStyle>
            <a:lvl1pPr>
              <a:defRPr/>
            </a:lvl1pPr>
          </a:lstStyle>
          <a:p>
            <a:pPr>
              <a:defRPr/>
            </a:pPr>
            <a:r>
              <a:rPr lang="fr-FR" dirty="0"/>
              <a:t>1ère année BTS SNIR                                      </a:t>
            </a:r>
          </a:p>
        </p:txBody>
      </p:sp>
      <p:sp>
        <p:nvSpPr>
          <p:cNvPr id="6" name="Espace réservé du numéro de diapositive 21"/>
          <p:cNvSpPr>
            <a:spLocks noGrp="1"/>
          </p:cNvSpPr>
          <p:nvPr>
            <p:ph type="sldNum" sz="quarter" idx="12"/>
          </p:nvPr>
        </p:nvSpPr>
        <p:spPr/>
        <p:txBody>
          <a:bodyPr/>
          <a:lstStyle>
            <a:lvl1pPr>
              <a:defRPr/>
            </a:lvl1pPr>
          </a:lstStyle>
          <a:p>
            <a:pPr>
              <a:defRPr/>
            </a:pPr>
            <a:fld id="{266CEA3F-1E76-4551-A484-D71BA62B35B3}" type="slidenum">
              <a:rPr lang="fr-FR"/>
              <a:pPr>
                <a:defRPr/>
              </a:pPr>
              <a:t>‹N°›</a:t>
            </a:fld>
            <a:endParaRPr lang="fr-F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303C12A-08D8-48E6-A515-4AB8F7E941AA}"/>
              </a:ext>
            </a:extLst>
          </p:cNvPr>
          <p:cNvSpPr>
            <a:spLocks noGrp="1"/>
          </p:cNvSpPr>
          <p:nvPr>
            <p:ph type="ctrTitle"/>
          </p:nvPr>
        </p:nvSpPr>
        <p:spPr>
          <a:xfrm>
            <a:off x="1143000" y="1122363"/>
            <a:ext cx="6858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836CD3D2-4CAD-4841-84FC-5952FAEEA741}"/>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8F453775-6FD0-429E-BCB0-897D87550208}"/>
              </a:ext>
            </a:extLst>
          </p:cNvPr>
          <p:cNvSpPr>
            <a:spLocks noGrp="1"/>
          </p:cNvSpPr>
          <p:nvPr>
            <p:ph type="dt" sz="half" idx="10"/>
          </p:nvPr>
        </p:nvSpPr>
        <p:spPr/>
        <p:txBody>
          <a:bodyPr/>
          <a:lstStyle/>
          <a:p>
            <a:fld id="{EF627E7F-2553-4461-95E0-96FCF59DE35E}" type="datetimeFigureOut">
              <a:rPr lang="fr-FR" smtClean="0"/>
              <a:t>19/11/2024</a:t>
            </a:fld>
            <a:endParaRPr lang="fr-FR"/>
          </a:p>
        </p:txBody>
      </p:sp>
      <p:sp>
        <p:nvSpPr>
          <p:cNvPr id="5" name="Espace réservé du pied de page 4">
            <a:extLst>
              <a:ext uri="{FF2B5EF4-FFF2-40B4-BE49-F238E27FC236}">
                <a16:creationId xmlns:a16="http://schemas.microsoft.com/office/drawing/2014/main" id="{F0252142-928F-4BB2-BA1D-56F2121998E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62F39C5-7333-4DF2-848F-D36D20C57CC5}"/>
              </a:ext>
            </a:extLst>
          </p:cNvPr>
          <p:cNvSpPr>
            <a:spLocks noGrp="1"/>
          </p:cNvSpPr>
          <p:nvPr>
            <p:ph type="sldNum" sz="quarter" idx="12"/>
          </p:nvPr>
        </p:nvSpPr>
        <p:spPr/>
        <p:txBody>
          <a:bodyPr/>
          <a:lstStyle/>
          <a:p>
            <a:fld id="{82BBC38E-1131-4FDC-9240-45D994A2E825}" type="slidenum">
              <a:rPr lang="fr-FR" smtClean="0"/>
              <a:t>‹N°›</a:t>
            </a:fld>
            <a:endParaRPr lang="fr-FR"/>
          </a:p>
        </p:txBody>
      </p:sp>
    </p:spTree>
    <p:extLst>
      <p:ext uri="{BB962C8B-B14F-4D97-AF65-F5344CB8AC3E}">
        <p14:creationId xmlns:p14="http://schemas.microsoft.com/office/powerpoint/2010/main" val="1960594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8066F7-C120-4E12-89C3-7644DC7BDF8F}"/>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6487F960-8109-4D62-AE82-4F01789E4EF9}"/>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DC36F77-8A96-4A4F-B391-1F5616F297EB}"/>
              </a:ext>
            </a:extLst>
          </p:cNvPr>
          <p:cNvSpPr>
            <a:spLocks noGrp="1"/>
          </p:cNvSpPr>
          <p:nvPr>
            <p:ph type="dt" sz="half" idx="10"/>
          </p:nvPr>
        </p:nvSpPr>
        <p:spPr/>
        <p:txBody>
          <a:bodyPr/>
          <a:lstStyle/>
          <a:p>
            <a:fld id="{EF627E7F-2553-4461-95E0-96FCF59DE35E}" type="datetimeFigureOut">
              <a:rPr lang="fr-FR" smtClean="0"/>
              <a:t>19/11/2024</a:t>
            </a:fld>
            <a:endParaRPr lang="fr-FR"/>
          </a:p>
        </p:txBody>
      </p:sp>
      <p:sp>
        <p:nvSpPr>
          <p:cNvPr id="5" name="Espace réservé du pied de page 4">
            <a:extLst>
              <a:ext uri="{FF2B5EF4-FFF2-40B4-BE49-F238E27FC236}">
                <a16:creationId xmlns:a16="http://schemas.microsoft.com/office/drawing/2014/main" id="{1CB61D81-016E-46C1-AA38-5EF9DA0F73C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79525E0-2A59-41D7-86CB-D3D7B933B724}"/>
              </a:ext>
            </a:extLst>
          </p:cNvPr>
          <p:cNvSpPr>
            <a:spLocks noGrp="1"/>
          </p:cNvSpPr>
          <p:nvPr>
            <p:ph type="sldNum" sz="quarter" idx="12"/>
          </p:nvPr>
        </p:nvSpPr>
        <p:spPr/>
        <p:txBody>
          <a:bodyPr/>
          <a:lstStyle/>
          <a:p>
            <a:fld id="{82BBC38E-1131-4FDC-9240-45D994A2E825}" type="slidenum">
              <a:rPr lang="fr-FR" smtClean="0"/>
              <a:t>‹N°›</a:t>
            </a:fld>
            <a:endParaRPr lang="fr-FR"/>
          </a:p>
        </p:txBody>
      </p:sp>
    </p:spTree>
    <p:extLst>
      <p:ext uri="{BB962C8B-B14F-4D97-AF65-F5344CB8AC3E}">
        <p14:creationId xmlns:p14="http://schemas.microsoft.com/office/powerpoint/2010/main" val="19100555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510F3BF-0F32-4583-8392-E25EA7AC29C8}"/>
              </a:ext>
            </a:extLst>
          </p:cNvPr>
          <p:cNvSpPr>
            <a:spLocks noGrp="1"/>
          </p:cNvSpPr>
          <p:nvPr>
            <p:ph type="title"/>
          </p:nvPr>
        </p:nvSpPr>
        <p:spPr>
          <a:xfrm>
            <a:off x="623888" y="1709738"/>
            <a:ext cx="78867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866F5A87-40EF-4CA7-A4EE-71D832451C0F}"/>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13523847-1F3C-4188-9AE9-65D39E0F1A08}"/>
              </a:ext>
            </a:extLst>
          </p:cNvPr>
          <p:cNvSpPr>
            <a:spLocks noGrp="1"/>
          </p:cNvSpPr>
          <p:nvPr>
            <p:ph type="dt" sz="half" idx="10"/>
          </p:nvPr>
        </p:nvSpPr>
        <p:spPr/>
        <p:txBody>
          <a:bodyPr/>
          <a:lstStyle/>
          <a:p>
            <a:fld id="{EF627E7F-2553-4461-95E0-96FCF59DE35E}" type="datetimeFigureOut">
              <a:rPr lang="fr-FR" smtClean="0"/>
              <a:t>19/11/2024</a:t>
            </a:fld>
            <a:endParaRPr lang="fr-FR"/>
          </a:p>
        </p:txBody>
      </p:sp>
      <p:sp>
        <p:nvSpPr>
          <p:cNvPr id="5" name="Espace réservé du pied de page 4">
            <a:extLst>
              <a:ext uri="{FF2B5EF4-FFF2-40B4-BE49-F238E27FC236}">
                <a16:creationId xmlns:a16="http://schemas.microsoft.com/office/drawing/2014/main" id="{64B4183C-B233-42DE-9490-68943005EF5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723B1E7-7623-4B89-9C48-83070EE7FBB8}"/>
              </a:ext>
            </a:extLst>
          </p:cNvPr>
          <p:cNvSpPr>
            <a:spLocks noGrp="1"/>
          </p:cNvSpPr>
          <p:nvPr>
            <p:ph type="sldNum" sz="quarter" idx="12"/>
          </p:nvPr>
        </p:nvSpPr>
        <p:spPr/>
        <p:txBody>
          <a:bodyPr/>
          <a:lstStyle/>
          <a:p>
            <a:fld id="{82BBC38E-1131-4FDC-9240-45D994A2E825}" type="slidenum">
              <a:rPr lang="fr-FR" smtClean="0"/>
              <a:t>‹N°›</a:t>
            </a:fld>
            <a:endParaRPr lang="fr-FR"/>
          </a:p>
        </p:txBody>
      </p:sp>
    </p:spTree>
    <p:extLst>
      <p:ext uri="{BB962C8B-B14F-4D97-AF65-F5344CB8AC3E}">
        <p14:creationId xmlns:p14="http://schemas.microsoft.com/office/powerpoint/2010/main" val="38151497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BFFD800-7B08-4A51-82A3-6975F264A727}"/>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02E7CDC-36E1-4AAB-9374-80BDA71997EF}"/>
              </a:ext>
            </a:extLst>
          </p:cNvPr>
          <p:cNvSpPr>
            <a:spLocks noGrp="1"/>
          </p:cNvSpPr>
          <p:nvPr>
            <p:ph sz="half" idx="1"/>
          </p:nvPr>
        </p:nvSpPr>
        <p:spPr>
          <a:xfrm>
            <a:off x="628650" y="1825625"/>
            <a:ext cx="386715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151B01D1-3184-46E6-99D7-73AE2B4F9E3D}"/>
              </a:ext>
            </a:extLst>
          </p:cNvPr>
          <p:cNvSpPr>
            <a:spLocks noGrp="1"/>
          </p:cNvSpPr>
          <p:nvPr>
            <p:ph sz="half" idx="2"/>
          </p:nvPr>
        </p:nvSpPr>
        <p:spPr>
          <a:xfrm>
            <a:off x="4648200" y="1825625"/>
            <a:ext cx="386715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5D55357D-EB53-4582-8D30-A07048F2C9C3}"/>
              </a:ext>
            </a:extLst>
          </p:cNvPr>
          <p:cNvSpPr>
            <a:spLocks noGrp="1"/>
          </p:cNvSpPr>
          <p:nvPr>
            <p:ph type="dt" sz="half" idx="10"/>
          </p:nvPr>
        </p:nvSpPr>
        <p:spPr/>
        <p:txBody>
          <a:bodyPr/>
          <a:lstStyle/>
          <a:p>
            <a:fld id="{EF627E7F-2553-4461-95E0-96FCF59DE35E}" type="datetimeFigureOut">
              <a:rPr lang="fr-FR" smtClean="0"/>
              <a:t>19/11/2024</a:t>
            </a:fld>
            <a:endParaRPr lang="fr-FR"/>
          </a:p>
        </p:txBody>
      </p:sp>
      <p:sp>
        <p:nvSpPr>
          <p:cNvPr id="6" name="Espace réservé du pied de page 5">
            <a:extLst>
              <a:ext uri="{FF2B5EF4-FFF2-40B4-BE49-F238E27FC236}">
                <a16:creationId xmlns:a16="http://schemas.microsoft.com/office/drawing/2014/main" id="{75D4E81B-BDC8-4B1D-BE57-71D9C66BB3B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4AB3B6D-2965-4B7C-91F9-4D0B9BD50530}"/>
              </a:ext>
            </a:extLst>
          </p:cNvPr>
          <p:cNvSpPr>
            <a:spLocks noGrp="1"/>
          </p:cNvSpPr>
          <p:nvPr>
            <p:ph type="sldNum" sz="quarter" idx="12"/>
          </p:nvPr>
        </p:nvSpPr>
        <p:spPr/>
        <p:txBody>
          <a:bodyPr/>
          <a:lstStyle/>
          <a:p>
            <a:fld id="{82BBC38E-1131-4FDC-9240-45D994A2E825}" type="slidenum">
              <a:rPr lang="fr-FR" smtClean="0"/>
              <a:t>‹N°›</a:t>
            </a:fld>
            <a:endParaRPr lang="fr-FR"/>
          </a:p>
        </p:txBody>
      </p:sp>
    </p:spTree>
    <p:extLst>
      <p:ext uri="{BB962C8B-B14F-4D97-AF65-F5344CB8AC3E}">
        <p14:creationId xmlns:p14="http://schemas.microsoft.com/office/powerpoint/2010/main" val="27141424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8FB868-CCA7-4D9E-B38C-E50BB7AE21AF}"/>
              </a:ext>
            </a:extLst>
          </p:cNvPr>
          <p:cNvSpPr>
            <a:spLocks noGrp="1"/>
          </p:cNvSpPr>
          <p:nvPr>
            <p:ph type="title"/>
          </p:nvPr>
        </p:nvSpPr>
        <p:spPr>
          <a:xfrm>
            <a:off x="630238" y="365125"/>
            <a:ext cx="78867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DD8B4AD9-7CA1-44F0-839D-580086A1F797}"/>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24D79174-5A3F-4C9C-ABF0-80999A2EF168}"/>
              </a:ext>
            </a:extLst>
          </p:cNvPr>
          <p:cNvSpPr>
            <a:spLocks noGrp="1"/>
          </p:cNvSpPr>
          <p:nvPr>
            <p:ph sz="half" idx="2"/>
          </p:nvPr>
        </p:nvSpPr>
        <p:spPr>
          <a:xfrm>
            <a:off x="630238" y="2505075"/>
            <a:ext cx="386873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16AB9734-2B77-483F-A87E-C722C0C94C23}"/>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43F2F8CB-9D6C-4CA3-AAEF-D944F765D6ED}"/>
              </a:ext>
            </a:extLst>
          </p:cNvPr>
          <p:cNvSpPr>
            <a:spLocks noGrp="1"/>
          </p:cNvSpPr>
          <p:nvPr>
            <p:ph sz="quarter" idx="4"/>
          </p:nvPr>
        </p:nvSpPr>
        <p:spPr>
          <a:xfrm>
            <a:off x="4629150" y="2505075"/>
            <a:ext cx="38877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0D07074E-63FB-486F-A27F-F69D3EEA753A}"/>
              </a:ext>
            </a:extLst>
          </p:cNvPr>
          <p:cNvSpPr>
            <a:spLocks noGrp="1"/>
          </p:cNvSpPr>
          <p:nvPr>
            <p:ph type="dt" sz="half" idx="10"/>
          </p:nvPr>
        </p:nvSpPr>
        <p:spPr/>
        <p:txBody>
          <a:bodyPr/>
          <a:lstStyle/>
          <a:p>
            <a:fld id="{EF627E7F-2553-4461-95E0-96FCF59DE35E}" type="datetimeFigureOut">
              <a:rPr lang="fr-FR" smtClean="0"/>
              <a:t>19/11/2024</a:t>
            </a:fld>
            <a:endParaRPr lang="fr-FR"/>
          </a:p>
        </p:txBody>
      </p:sp>
      <p:sp>
        <p:nvSpPr>
          <p:cNvPr id="8" name="Espace réservé du pied de page 7">
            <a:extLst>
              <a:ext uri="{FF2B5EF4-FFF2-40B4-BE49-F238E27FC236}">
                <a16:creationId xmlns:a16="http://schemas.microsoft.com/office/drawing/2014/main" id="{2E1FF4CB-4886-4FE9-86CF-F71E6F7B2DFA}"/>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20494566-915C-46FF-AF05-8E122022468C}"/>
              </a:ext>
            </a:extLst>
          </p:cNvPr>
          <p:cNvSpPr>
            <a:spLocks noGrp="1"/>
          </p:cNvSpPr>
          <p:nvPr>
            <p:ph type="sldNum" sz="quarter" idx="12"/>
          </p:nvPr>
        </p:nvSpPr>
        <p:spPr/>
        <p:txBody>
          <a:bodyPr/>
          <a:lstStyle/>
          <a:p>
            <a:fld id="{82BBC38E-1131-4FDC-9240-45D994A2E825}" type="slidenum">
              <a:rPr lang="fr-FR" smtClean="0"/>
              <a:t>‹N°›</a:t>
            </a:fld>
            <a:endParaRPr lang="fr-FR"/>
          </a:p>
        </p:txBody>
      </p:sp>
    </p:spTree>
    <p:extLst>
      <p:ext uri="{BB962C8B-B14F-4D97-AF65-F5344CB8AC3E}">
        <p14:creationId xmlns:p14="http://schemas.microsoft.com/office/powerpoint/2010/main" val="8407442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CF5D679-40B8-48D1-8A51-ECB1873EA229}"/>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48AC9189-7852-4490-ABF3-5B1C8A23E019}"/>
              </a:ext>
            </a:extLst>
          </p:cNvPr>
          <p:cNvSpPr>
            <a:spLocks noGrp="1"/>
          </p:cNvSpPr>
          <p:nvPr>
            <p:ph type="dt" sz="half" idx="10"/>
          </p:nvPr>
        </p:nvSpPr>
        <p:spPr/>
        <p:txBody>
          <a:bodyPr/>
          <a:lstStyle/>
          <a:p>
            <a:fld id="{EF627E7F-2553-4461-95E0-96FCF59DE35E}" type="datetimeFigureOut">
              <a:rPr lang="fr-FR" smtClean="0"/>
              <a:t>19/11/2024</a:t>
            </a:fld>
            <a:endParaRPr lang="fr-FR"/>
          </a:p>
        </p:txBody>
      </p:sp>
      <p:sp>
        <p:nvSpPr>
          <p:cNvPr id="4" name="Espace réservé du pied de page 3">
            <a:extLst>
              <a:ext uri="{FF2B5EF4-FFF2-40B4-BE49-F238E27FC236}">
                <a16:creationId xmlns:a16="http://schemas.microsoft.com/office/drawing/2014/main" id="{FEA88C75-E437-4BA3-A179-88B55632016B}"/>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8C28D353-3177-4150-9DA2-2F7763888296}"/>
              </a:ext>
            </a:extLst>
          </p:cNvPr>
          <p:cNvSpPr>
            <a:spLocks noGrp="1"/>
          </p:cNvSpPr>
          <p:nvPr>
            <p:ph type="sldNum" sz="quarter" idx="12"/>
          </p:nvPr>
        </p:nvSpPr>
        <p:spPr/>
        <p:txBody>
          <a:bodyPr/>
          <a:lstStyle/>
          <a:p>
            <a:fld id="{82BBC38E-1131-4FDC-9240-45D994A2E825}" type="slidenum">
              <a:rPr lang="fr-FR" smtClean="0"/>
              <a:t>‹N°›</a:t>
            </a:fld>
            <a:endParaRPr lang="fr-FR"/>
          </a:p>
        </p:txBody>
      </p:sp>
    </p:spTree>
    <p:extLst>
      <p:ext uri="{BB962C8B-B14F-4D97-AF65-F5344CB8AC3E}">
        <p14:creationId xmlns:p14="http://schemas.microsoft.com/office/powerpoint/2010/main" val="41764771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9B13E1FE-F1F7-4D9B-90FC-BE3567A17C17}"/>
              </a:ext>
            </a:extLst>
          </p:cNvPr>
          <p:cNvSpPr>
            <a:spLocks noGrp="1"/>
          </p:cNvSpPr>
          <p:nvPr>
            <p:ph type="dt" sz="half" idx="10"/>
          </p:nvPr>
        </p:nvSpPr>
        <p:spPr/>
        <p:txBody>
          <a:bodyPr/>
          <a:lstStyle/>
          <a:p>
            <a:fld id="{EF627E7F-2553-4461-95E0-96FCF59DE35E}" type="datetimeFigureOut">
              <a:rPr lang="fr-FR" smtClean="0"/>
              <a:t>19/11/2024</a:t>
            </a:fld>
            <a:endParaRPr lang="fr-FR"/>
          </a:p>
        </p:txBody>
      </p:sp>
      <p:sp>
        <p:nvSpPr>
          <p:cNvPr id="3" name="Espace réservé du pied de page 2">
            <a:extLst>
              <a:ext uri="{FF2B5EF4-FFF2-40B4-BE49-F238E27FC236}">
                <a16:creationId xmlns:a16="http://schemas.microsoft.com/office/drawing/2014/main" id="{275D231C-D472-451E-96AF-51991436A244}"/>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A61C0607-F8E5-42FB-8D98-8712E1FDB9BD}"/>
              </a:ext>
            </a:extLst>
          </p:cNvPr>
          <p:cNvSpPr>
            <a:spLocks noGrp="1"/>
          </p:cNvSpPr>
          <p:nvPr>
            <p:ph type="sldNum" sz="quarter" idx="12"/>
          </p:nvPr>
        </p:nvSpPr>
        <p:spPr/>
        <p:txBody>
          <a:bodyPr/>
          <a:lstStyle/>
          <a:p>
            <a:fld id="{82BBC38E-1131-4FDC-9240-45D994A2E825}" type="slidenum">
              <a:rPr lang="fr-FR" smtClean="0"/>
              <a:t>‹N°›</a:t>
            </a:fld>
            <a:endParaRPr lang="fr-FR"/>
          </a:p>
        </p:txBody>
      </p:sp>
    </p:spTree>
    <p:extLst>
      <p:ext uri="{BB962C8B-B14F-4D97-AF65-F5344CB8AC3E}">
        <p14:creationId xmlns:p14="http://schemas.microsoft.com/office/powerpoint/2010/main" val="32017677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0979D85-7071-4D03-94C6-F1B0593E8399}"/>
              </a:ext>
            </a:extLst>
          </p:cNvPr>
          <p:cNvSpPr>
            <a:spLocks noGrp="1"/>
          </p:cNvSpPr>
          <p:nvPr>
            <p:ph type="title"/>
          </p:nvPr>
        </p:nvSpPr>
        <p:spPr>
          <a:xfrm>
            <a:off x="630238" y="457200"/>
            <a:ext cx="2949575"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129EC59-01A8-4964-B194-A1BBD17BCD5E}"/>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E2A76499-F395-4E61-A3FE-EC72D934F2CA}"/>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657ABA63-5DA2-4A85-BC49-8974D9AE7AAB}"/>
              </a:ext>
            </a:extLst>
          </p:cNvPr>
          <p:cNvSpPr>
            <a:spLocks noGrp="1"/>
          </p:cNvSpPr>
          <p:nvPr>
            <p:ph type="dt" sz="half" idx="10"/>
          </p:nvPr>
        </p:nvSpPr>
        <p:spPr/>
        <p:txBody>
          <a:bodyPr/>
          <a:lstStyle/>
          <a:p>
            <a:fld id="{EF627E7F-2553-4461-95E0-96FCF59DE35E}" type="datetimeFigureOut">
              <a:rPr lang="fr-FR" smtClean="0"/>
              <a:t>19/11/2024</a:t>
            </a:fld>
            <a:endParaRPr lang="fr-FR"/>
          </a:p>
        </p:txBody>
      </p:sp>
      <p:sp>
        <p:nvSpPr>
          <p:cNvPr id="6" name="Espace réservé du pied de page 5">
            <a:extLst>
              <a:ext uri="{FF2B5EF4-FFF2-40B4-BE49-F238E27FC236}">
                <a16:creationId xmlns:a16="http://schemas.microsoft.com/office/drawing/2014/main" id="{286D4271-27F7-4FEA-8DEF-56EA484B4E41}"/>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392011B-B5C7-4C09-8DF3-226CE8830481}"/>
              </a:ext>
            </a:extLst>
          </p:cNvPr>
          <p:cNvSpPr>
            <a:spLocks noGrp="1"/>
          </p:cNvSpPr>
          <p:nvPr>
            <p:ph type="sldNum" sz="quarter" idx="12"/>
          </p:nvPr>
        </p:nvSpPr>
        <p:spPr/>
        <p:txBody>
          <a:bodyPr/>
          <a:lstStyle/>
          <a:p>
            <a:fld id="{82BBC38E-1131-4FDC-9240-45D994A2E825}" type="slidenum">
              <a:rPr lang="fr-FR" smtClean="0"/>
              <a:t>‹N°›</a:t>
            </a:fld>
            <a:endParaRPr lang="fr-FR"/>
          </a:p>
        </p:txBody>
      </p:sp>
    </p:spTree>
    <p:extLst>
      <p:ext uri="{BB962C8B-B14F-4D97-AF65-F5344CB8AC3E}">
        <p14:creationId xmlns:p14="http://schemas.microsoft.com/office/powerpoint/2010/main" val="12761827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7829A16-A2C5-4F01-B79E-BDCA9CF4EBD6}"/>
              </a:ext>
            </a:extLst>
          </p:cNvPr>
          <p:cNvSpPr>
            <a:spLocks noGrp="1"/>
          </p:cNvSpPr>
          <p:nvPr>
            <p:ph type="title"/>
          </p:nvPr>
        </p:nvSpPr>
        <p:spPr>
          <a:xfrm>
            <a:off x="630238" y="457200"/>
            <a:ext cx="2949575"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7C25AC81-5632-49F8-BA0B-DEAFE8214BBC}"/>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FD8C0ABF-CFD9-4A4F-8EF4-842AAC507E1B}"/>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71EC791-AC81-4A97-8C0E-73BBA0B92452}"/>
              </a:ext>
            </a:extLst>
          </p:cNvPr>
          <p:cNvSpPr>
            <a:spLocks noGrp="1"/>
          </p:cNvSpPr>
          <p:nvPr>
            <p:ph type="dt" sz="half" idx="10"/>
          </p:nvPr>
        </p:nvSpPr>
        <p:spPr/>
        <p:txBody>
          <a:bodyPr/>
          <a:lstStyle/>
          <a:p>
            <a:fld id="{EF627E7F-2553-4461-95E0-96FCF59DE35E}" type="datetimeFigureOut">
              <a:rPr lang="fr-FR" smtClean="0"/>
              <a:t>19/11/2024</a:t>
            </a:fld>
            <a:endParaRPr lang="fr-FR"/>
          </a:p>
        </p:txBody>
      </p:sp>
      <p:sp>
        <p:nvSpPr>
          <p:cNvPr id="6" name="Espace réservé du pied de page 5">
            <a:extLst>
              <a:ext uri="{FF2B5EF4-FFF2-40B4-BE49-F238E27FC236}">
                <a16:creationId xmlns:a16="http://schemas.microsoft.com/office/drawing/2014/main" id="{73447DF3-233D-4A55-98F8-BF09165C162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FB90706-742C-48C0-A40D-577A9665999E}"/>
              </a:ext>
            </a:extLst>
          </p:cNvPr>
          <p:cNvSpPr>
            <a:spLocks noGrp="1"/>
          </p:cNvSpPr>
          <p:nvPr>
            <p:ph type="sldNum" sz="quarter" idx="12"/>
          </p:nvPr>
        </p:nvSpPr>
        <p:spPr/>
        <p:txBody>
          <a:bodyPr/>
          <a:lstStyle/>
          <a:p>
            <a:fld id="{82BBC38E-1131-4FDC-9240-45D994A2E825}" type="slidenum">
              <a:rPr lang="fr-FR" smtClean="0"/>
              <a:t>‹N°›</a:t>
            </a:fld>
            <a:endParaRPr lang="fr-FR"/>
          </a:p>
        </p:txBody>
      </p:sp>
    </p:spTree>
    <p:extLst>
      <p:ext uri="{BB962C8B-B14F-4D97-AF65-F5344CB8AC3E}">
        <p14:creationId xmlns:p14="http://schemas.microsoft.com/office/powerpoint/2010/main" val="32292430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1F5BCA-4EAF-4746-97D4-DDAE8CC65D39}"/>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46B9CB87-3B2B-4A51-9208-41DB0617F06E}"/>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F8618E0-25DF-41C2-BB7B-4232C8E3A5D7}"/>
              </a:ext>
            </a:extLst>
          </p:cNvPr>
          <p:cNvSpPr>
            <a:spLocks noGrp="1"/>
          </p:cNvSpPr>
          <p:nvPr>
            <p:ph type="dt" sz="half" idx="10"/>
          </p:nvPr>
        </p:nvSpPr>
        <p:spPr/>
        <p:txBody>
          <a:bodyPr/>
          <a:lstStyle/>
          <a:p>
            <a:fld id="{EF627E7F-2553-4461-95E0-96FCF59DE35E}" type="datetimeFigureOut">
              <a:rPr lang="fr-FR" smtClean="0"/>
              <a:t>19/11/2024</a:t>
            </a:fld>
            <a:endParaRPr lang="fr-FR"/>
          </a:p>
        </p:txBody>
      </p:sp>
      <p:sp>
        <p:nvSpPr>
          <p:cNvPr id="5" name="Espace réservé du pied de page 4">
            <a:extLst>
              <a:ext uri="{FF2B5EF4-FFF2-40B4-BE49-F238E27FC236}">
                <a16:creationId xmlns:a16="http://schemas.microsoft.com/office/drawing/2014/main" id="{1DBDC6CA-9504-4B8A-AA92-AC7D5DBFC1D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EE0FE7B-E1FF-4147-950D-A0F650A8C073}"/>
              </a:ext>
            </a:extLst>
          </p:cNvPr>
          <p:cNvSpPr>
            <a:spLocks noGrp="1"/>
          </p:cNvSpPr>
          <p:nvPr>
            <p:ph type="sldNum" sz="quarter" idx="12"/>
          </p:nvPr>
        </p:nvSpPr>
        <p:spPr/>
        <p:txBody>
          <a:bodyPr/>
          <a:lstStyle/>
          <a:p>
            <a:fld id="{82BBC38E-1131-4FDC-9240-45D994A2E825}" type="slidenum">
              <a:rPr lang="fr-FR" smtClean="0"/>
              <a:t>‹N°›</a:t>
            </a:fld>
            <a:endParaRPr lang="fr-FR"/>
          </a:p>
        </p:txBody>
      </p:sp>
    </p:spTree>
    <p:extLst>
      <p:ext uri="{BB962C8B-B14F-4D97-AF65-F5344CB8AC3E}">
        <p14:creationId xmlns:p14="http://schemas.microsoft.com/office/powerpoint/2010/main" val="25033678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C85F2BFF-F272-4E9D-8E3C-53668A8BAD56}"/>
              </a:ext>
            </a:extLst>
          </p:cNvPr>
          <p:cNvSpPr>
            <a:spLocks noGrp="1"/>
          </p:cNvSpPr>
          <p:nvPr>
            <p:ph type="title" orient="vert"/>
          </p:nvPr>
        </p:nvSpPr>
        <p:spPr>
          <a:xfrm>
            <a:off x="6543675" y="365125"/>
            <a:ext cx="1971675"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A1B8BCF2-6C9E-4235-9CB9-31754B2F5C72}"/>
              </a:ext>
            </a:extLst>
          </p:cNvPr>
          <p:cNvSpPr>
            <a:spLocks noGrp="1"/>
          </p:cNvSpPr>
          <p:nvPr>
            <p:ph type="body" orient="vert" idx="1"/>
          </p:nvPr>
        </p:nvSpPr>
        <p:spPr>
          <a:xfrm>
            <a:off x="628650" y="365125"/>
            <a:ext cx="5762625"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A55E181-58FA-49B5-9F5A-729319CF2C89}"/>
              </a:ext>
            </a:extLst>
          </p:cNvPr>
          <p:cNvSpPr>
            <a:spLocks noGrp="1"/>
          </p:cNvSpPr>
          <p:nvPr>
            <p:ph type="dt" sz="half" idx="10"/>
          </p:nvPr>
        </p:nvSpPr>
        <p:spPr/>
        <p:txBody>
          <a:bodyPr/>
          <a:lstStyle/>
          <a:p>
            <a:fld id="{EF627E7F-2553-4461-95E0-96FCF59DE35E}" type="datetimeFigureOut">
              <a:rPr lang="fr-FR" smtClean="0"/>
              <a:t>19/11/2024</a:t>
            </a:fld>
            <a:endParaRPr lang="fr-FR"/>
          </a:p>
        </p:txBody>
      </p:sp>
      <p:sp>
        <p:nvSpPr>
          <p:cNvPr id="5" name="Espace réservé du pied de page 4">
            <a:extLst>
              <a:ext uri="{FF2B5EF4-FFF2-40B4-BE49-F238E27FC236}">
                <a16:creationId xmlns:a16="http://schemas.microsoft.com/office/drawing/2014/main" id="{694A161A-C079-4259-BCBA-F3E11E24097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A711280-75D7-4228-BC19-6FF4C176DC5F}"/>
              </a:ext>
            </a:extLst>
          </p:cNvPr>
          <p:cNvSpPr>
            <a:spLocks noGrp="1"/>
          </p:cNvSpPr>
          <p:nvPr>
            <p:ph type="sldNum" sz="quarter" idx="12"/>
          </p:nvPr>
        </p:nvSpPr>
        <p:spPr/>
        <p:txBody>
          <a:bodyPr/>
          <a:lstStyle/>
          <a:p>
            <a:fld id="{82BBC38E-1131-4FDC-9240-45D994A2E825}" type="slidenum">
              <a:rPr lang="fr-FR" smtClean="0"/>
              <a:t>‹N°›</a:t>
            </a:fld>
            <a:endParaRPr lang="fr-FR"/>
          </a:p>
        </p:txBody>
      </p:sp>
    </p:spTree>
    <p:extLst>
      <p:ext uri="{BB962C8B-B14F-4D97-AF65-F5344CB8AC3E}">
        <p14:creationId xmlns:p14="http://schemas.microsoft.com/office/powerpoint/2010/main" val="24739182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C4BBD2B-0E6E-4891-AC44-BAEF931D3787}"/>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A81B32D5-F6B2-4238-BDE3-53577E5E225D}"/>
              </a:ext>
            </a:extLst>
          </p:cNvPr>
          <p:cNvSpPr>
            <a:spLocks noGrp="1"/>
          </p:cNvSpPr>
          <p:nvPr>
            <p:ph type="dt" sz="half" idx="10"/>
          </p:nvPr>
        </p:nvSpPr>
        <p:spPr/>
        <p:txBody>
          <a:bodyPr/>
          <a:lstStyle/>
          <a:p>
            <a:fld id="{EF627E7F-2553-4461-95E0-96FCF59DE35E}" type="datetimeFigureOut">
              <a:rPr lang="fr-FR" smtClean="0"/>
              <a:t>19/11/2024</a:t>
            </a:fld>
            <a:endParaRPr lang="fr-FR"/>
          </a:p>
        </p:txBody>
      </p:sp>
      <p:sp>
        <p:nvSpPr>
          <p:cNvPr id="4" name="Espace réservé du pied de page 3">
            <a:extLst>
              <a:ext uri="{FF2B5EF4-FFF2-40B4-BE49-F238E27FC236}">
                <a16:creationId xmlns:a16="http://schemas.microsoft.com/office/drawing/2014/main" id="{02CD2DEB-5264-4302-8B8C-8A95CCD1C9FB}"/>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81165DEC-0C94-4FED-987E-9CCF03E98EB1}"/>
              </a:ext>
            </a:extLst>
          </p:cNvPr>
          <p:cNvSpPr>
            <a:spLocks noGrp="1"/>
          </p:cNvSpPr>
          <p:nvPr>
            <p:ph type="sldNum" sz="quarter" idx="12"/>
          </p:nvPr>
        </p:nvSpPr>
        <p:spPr/>
        <p:txBody>
          <a:bodyPr/>
          <a:lstStyle/>
          <a:p>
            <a:fld id="{82BBC38E-1131-4FDC-9240-45D994A2E825}" type="slidenum">
              <a:rPr lang="fr-FR" smtClean="0"/>
              <a:t>‹N°›</a:t>
            </a:fld>
            <a:endParaRPr lang="fr-FR"/>
          </a:p>
        </p:txBody>
      </p:sp>
    </p:spTree>
    <p:extLst>
      <p:ext uri="{BB962C8B-B14F-4D97-AF65-F5344CB8AC3E}">
        <p14:creationId xmlns:p14="http://schemas.microsoft.com/office/powerpoint/2010/main" val="15125424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7" name="Secteurs 6"/>
          <p:cNvSpPr/>
          <p:nvPr/>
        </p:nvSpPr>
        <p:spPr>
          <a:xfrm>
            <a:off x="-815975" y="-815975"/>
            <a:ext cx="1638300" cy="1638300"/>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8" name="Ellipse 7"/>
          <p:cNvSpPr/>
          <p:nvPr/>
        </p:nvSpPr>
        <p:spPr>
          <a:xfrm>
            <a:off x="168275" y="20638"/>
            <a:ext cx="1703388" cy="1703387"/>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1" name="Bouée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2" name="Rectangle 11"/>
          <p:cNvSpPr/>
          <p:nvPr/>
        </p:nvSpPr>
        <p:spPr>
          <a:xfrm>
            <a:off x="1012825" y="0"/>
            <a:ext cx="8131175"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5" name="Espace réservé du titre 4"/>
          <p:cNvSpPr>
            <a:spLocks noGrp="1"/>
          </p:cNvSpPr>
          <p:nvPr>
            <p:ph type="title"/>
          </p:nvPr>
        </p:nvSpPr>
        <p:spPr>
          <a:xfrm>
            <a:off x="1435100" y="274638"/>
            <a:ext cx="7499350" cy="994122"/>
          </a:xfrm>
          <a:prstGeom prst="rect">
            <a:avLst/>
          </a:prstGeom>
          <a:gradFill>
            <a:gsLst>
              <a:gs pos="10212">
                <a:schemeClr val="tx1">
                  <a:lumMod val="25000"/>
                  <a:lumOff val="75000"/>
                </a:schemeClr>
              </a:gs>
              <a:gs pos="0">
                <a:schemeClr val="bg2"/>
              </a:gs>
              <a:gs pos="74000">
                <a:schemeClr val="bg2">
                  <a:lumMod val="75000"/>
                </a:schemeClr>
              </a:gs>
              <a:gs pos="83000">
                <a:schemeClr val="bg2">
                  <a:lumMod val="75000"/>
                </a:schemeClr>
              </a:gs>
              <a:gs pos="100000">
                <a:schemeClr val="bg2">
                  <a:lumMod val="50000"/>
                </a:schemeClr>
              </a:gs>
            </a:gsLst>
            <a:lin ang="5400000" scaled="1"/>
          </a:gradFill>
        </p:spPr>
        <p:txBody>
          <a:bodyPr anchor="ctr">
            <a:normAutofit/>
          </a:bodyPr>
          <a:lstStyle/>
          <a:p>
            <a:r>
              <a:rPr lang="fr-FR" dirty="0"/>
              <a:t>Cliquez pour modifier le style du titre</a:t>
            </a:r>
            <a:endParaRPr lang="en-US" dirty="0"/>
          </a:p>
        </p:txBody>
      </p:sp>
      <p:sp>
        <p:nvSpPr>
          <p:cNvPr id="1033" name="Espace réservé du texte 8"/>
          <p:cNvSpPr>
            <a:spLocks noGrp="1"/>
          </p:cNvSpPr>
          <p:nvPr>
            <p:ph type="body" idx="1"/>
          </p:nvPr>
        </p:nvSpPr>
        <p:spPr bwMode="auto">
          <a:xfrm>
            <a:off x="1435100" y="1447800"/>
            <a:ext cx="7499350" cy="480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24" name="Espace réservé de la date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pPr>
              <a:defRPr/>
            </a:pPr>
            <a:endParaRPr lang="fr-FR"/>
          </a:p>
        </p:txBody>
      </p:sp>
      <p:sp>
        <p:nvSpPr>
          <p:cNvPr id="10" name="Espace réservé du pied de page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smtClean="0">
                <a:solidFill>
                  <a:schemeClr val="bg2">
                    <a:shade val="50000"/>
                    <a:satMod val="200000"/>
                  </a:schemeClr>
                </a:solidFill>
                <a:effectLst/>
              </a:defRPr>
            </a:lvl1pPr>
            <a:extLst/>
          </a:lstStyle>
          <a:p>
            <a:pPr>
              <a:defRPr/>
            </a:pPr>
            <a:r>
              <a:rPr lang="fr-FR" dirty="0"/>
              <a:t>1ère année BTS SNIR                                      </a:t>
            </a:r>
          </a:p>
        </p:txBody>
      </p:sp>
      <p:sp>
        <p:nvSpPr>
          <p:cNvPr id="22" name="Espace réservé du numéro de diapositive 21"/>
          <p:cNvSpPr>
            <a:spLocks noGrp="1"/>
          </p:cNvSpPr>
          <p:nvPr>
            <p:ph type="sldNum" sz="quarter" idx="4"/>
          </p:nvPr>
        </p:nvSpPr>
        <p:spPr>
          <a:xfrm>
            <a:off x="8613775"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pPr>
              <a:defRPr/>
            </a:pPr>
            <a:fld id="{76390041-112A-4349-9860-A73A64E58C76}" type="slidenum">
              <a:rPr lang="fr-FR"/>
              <a:pPr>
                <a:defRPr/>
              </a:pPr>
              <a:t>‹N°›</a:t>
            </a:fld>
            <a:endParaRPr lang="fr-FR"/>
          </a:p>
        </p:txBody>
      </p:sp>
      <p:sp>
        <p:nvSpPr>
          <p:cNvPr id="15" name="Rectangle 14"/>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Tree>
  </p:cSld>
  <p:clrMap bg1="lt1" tx1="dk1" bg2="lt2" tx2="dk2" accent1="accent1" accent2="accent2" accent3="accent3" accent4="accent4" accent5="accent5" accent6="accent6" hlink="hlink" folHlink="folHlink"/>
  <p:sldLayoutIdLst>
    <p:sldLayoutId id="2147483819" r:id="rId1"/>
    <p:sldLayoutId id="2147483814" r:id="rId2"/>
    <p:sldLayoutId id="2147483820" r:id="rId3"/>
    <p:sldLayoutId id="2147483815" r:id="rId4"/>
    <p:sldLayoutId id="2147483821" r:id="rId5"/>
    <p:sldLayoutId id="2147483816" r:id="rId6"/>
    <p:sldLayoutId id="2147483822" r:id="rId7"/>
    <p:sldLayoutId id="2147483823" r:id="rId8"/>
    <p:sldLayoutId id="2147483824" r:id="rId9"/>
    <p:sldLayoutId id="2147483817" r:id="rId10"/>
    <p:sldLayoutId id="2147483818" r:id="rId11"/>
  </p:sldLayoutIdLst>
  <p:hf hdr="0" dt="0"/>
  <p:txStyles>
    <p:titleStyle>
      <a:lvl1pPr algn="l" rtl="0" eaLnBrk="0" fontAlgn="base" hangingPunct="0">
        <a:spcBef>
          <a:spcPct val="0"/>
        </a:spcBef>
        <a:spcAft>
          <a:spcPct val="0"/>
        </a:spcAft>
        <a:defRPr sz="4300" b="1" kern="1200">
          <a:solidFill>
            <a:srgbClr val="C00000"/>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a:defRPr>
      </a:lvl2pPr>
      <a:lvl3pPr algn="l" rtl="0" eaLnBrk="0" fontAlgn="base" hangingPunct="0">
        <a:spcBef>
          <a:spcPct val="0"/>
        </a:spcBef>
        <a:spcAft>
          <a:spcPct val="0"/>
        </a:spcAft>
        <a:defRPr sz="4300">
          <a:solidFill>
            <a:srgbClr val="572314"/>
          </a:solidFill>
          <a:latin typeface="Gill Sans MT"/>
        </a:defRPr>
      </a:lvl3pPr>
      <a:lvl4pPr algn="l" rtl="0" eaLnBrk="0" fontAlgn="base" hangingPunct="0">
        <a:spcBef>
          <a:spcPct val="0"/>
        </a:spcBef>
        <a:spcAft>
          <a:spcPct val="0"/>
        </a:spcAft>
        <a:defRPr sz="4300">
          <a:solidFill>
            <a:srgbClr val="572314"/>
          </a:solidFill>
          <a:latin typeface="Gill Sans MT"/>
        </a:defRPr>
      </a:lvl4pPr>
      <a:lvl5pPr algn="l" rtl="0" eaLnBrk="0" fontAlgn="base" hangingPunct="0">
        <a:spcBef>
          <a:spcPct val="0"/>
        </a:spcBef>
        <a:spcAft>
          <a:spcPct val="0"/>
        </a:spcAft>
        <a:defRPr sz="4300">
          <a:solidFill>
            <a:srgbClr val="572314"/>
          </a:solidFill>
          <a:latin typeface="Gill Sans MT"/>
        </a:defRPr>
      </a:lvl5pPr>
      <a:lvl6pPr marL="457200" algn="l" rtl="0" fontAlgn="base">
        <a:spcBef>
          <a:spcPct val="0"/>
        </a:spcBef>
        <a:spcAft>
          <a:spcPct val="0"/>
        </a:spcAft>
        <a:defRPr sz="4300">
          <a:solidFill>
            <a:srgbClr val="572314"/>
          </a:solidFill>
          <a:latin typeface="Gill Sans MT"/>
        </a:defRPr>
      </a:lvl6pPr>
      <a:lvl7pPr marL="914400" algn="l" rtl="0" fontAlgn="base">
        <a:spcBef>
          <a:spcPct val="0"/>
        </a:spcBef>
        <a:spcAft>
          <a:spcPct val="0"/>
        </a:spcAft>
        <a:defRPr sz="4300">
          <a:solidFill>
            <a:srgbClr val="572314"/>
          </a:solidFill>
          <a:latin typeface="Gill Sans MT"/>
        </a:defRPr>
      </a:lvl7pPr>
      <a:lvl8pPr marL="1371600" algn="l" rtl="0" fontAlgn="base">
        <a:spcBef>
          <a:spcPct val="0"/>
        </a:spcBef>
        <a:spcAft>
          <a:spcPct val="0"/>
        </a:spcAft>
        <a:defRPr sz="4300">
          <a:solidFill>
            <a:srgbClr val="572314"/>
          </a:solidFill>
          <a:latin typeface="Gill Sans MT"/>
        </a:defRPr>
      </a:lvl8pPr>
      <a:lvl9pPr marL="1828800" algn="l" rtl="0" fontAlgn="base">
        <a:spcBef>
          <a:spcPct val="0"/>
        </a:spcBef>
        <a:spcAft>
          <a:spcPct val="0"/>
        </a:spcAft>
        <a:defRPr sz="4300">
          <a:solidFill>
            <a:srgbClr val="572314"/>
          </a:solidFill>
          <a:latin typeface="Gill Sans MT"/>
        </a:defRPr>
      </a:lvl9pPr>
      <a:extLst/>
    </p:titleStyle>
    <p:bodyStyle>
      <a:lvl1pPr marL="365125" indent="-282575" algn="l" rtl="0" eaLnBrk="0" fontAlgn="base" hangingPunct="0">
        <a:spcBef>
          <a:spcPts val="600"/>
        </a:spcBef>
        <a:spcAft>
          <a:spcPct val="0"/>
        </a:spcAft>
        <a:buClr>
          <a:schemeClr val="accent1"/>
        </a:buClr>
        <a:buSzPct val="80000"/>
        <a:buFont typeface="Wingdings 2" pitchFamily="18" charset="2"/>
        <a:buChar char=""/>
        <a:defRPr sz="2400" kern="1200">
          <a:solidFill>
            <a:schemeClr val="tx1"/>
          </a:solidFill>
          <a:latin typeface="+mn-lt"/>
          <a:ea typeface="+mn-ea"/>
          <a:cs typeface="+mn-cs"/>
        </a:defRPr>
      </a:lvl1pPr>
      <a:lvl2pPr marL="639763" indent="-236538" algn="l" rtl="0" eaLnBrk="0" fontAlgn="base" hangingPunct="0">
        <a:spcBef>
          <a:spcPts val="550"/>
        </a:spcBef>
        <a:spcAft>
          <a:spcPct val="0"/>
        </a:spcAft>
        <a:buClr>
          <a:schemeClr val="accent1"/>
        </a:buClr>
        <a:buFont typeface="Verdana" pitchFamily="34" charset="0"/>
        <a:buChar char="◦"/>
        <a:defRPr sz="2800" kern="1200">
          <a:solidFill>
            <a:schemeClr val="tx1"/>
          </a:solidFill>
          <a:latin typeface="+mn-lt"/>
          <a:ea typeface="+mn-ea"/>
          <a:cs typeface="+mn-cs"/>
        </a:defRPr>
      </a:lvl2pPr>
      <a:lvl3pPr marL="885825" indent="-228600" algn="l" rtl="0" eaLnBrk="0" fontAlgn="base" hangingPunct="0">
        <a:spcBef>
          <a:spcPct val="20000"/>
        </a:spcBef>
        <a:spcAft>
          <a:spcPct val="0"/>
        </a:spcAft>
        <a:buClr>
          <a:schemeClr val="accent2"/>
        </a:buClr>
        <a:buFont typeface="Wingdings 2" pitchFamily="18" charset="2"/>
        <a:buChar char=""/>
        <a:defRPr sz="2400"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sz="20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D62BE985-0878-4F39-8CDC-788FD7432E14}"/>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D6D3E8A7-FFCD-4C41-810B-D1529A2E2A9F}"/>
              </a:ext>
            </a:extLst>
          </p:cNvPr>
          <p:cNvSpPr>
            <a:spLocks noGrp="1"/>
          </p:cNvSpPr>
          <p:nvPr>
            <p:ph type="body" idx="1"/>
          </p:nvPr>
        </p:nvSpPr>
        <p:spPr>
          <a:xfrm>
            <a:off x="628650" y="1772816"/>
            <a:ext cx="78867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e la date 3">
            <a:extLst>
              <a:ext uri="{FF2B5EF4-FFF2-40B4-BE49-F238E27FC236}">
                <a16:creationId xmlns:a16="http://schemas.microsoft.com/office/drawing/2014/main" id="{2CD7F2D7-519C-4869-9DC1-3C7A264D11A8}"/>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627E7F-2553-4461-95E0-96FCF59DE35E}" type="datetimeFigureOut">
              <a:rPr lang="fr-FR" smtClean="0"/>
              <a:t>19/11/2024</a:t>
            </a:fld>
            <a:endParaRPr lang="fr-FR"/>
          </a:p>
        </p:txBody>
      </p:sp>
      <p:sp>
        <p:nvSpPr>
          <p:cNvPr id="5" name="Espace réservé du pied de page 4">
            <a:extLst>
              <a:ext uri="{FF2B5EF4-FFF2-40B4-BE49-F238E27FC236}">
                <a16:creationId xmlns:a16="http://schemas.microsoft.com/office/drawing/2014/main" id="{91DD15CC-49E3-4316-B937-1383E1E83506}"/>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56F79368-FA37-41C5-9FE0-F00BDC14D685}"/>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BBC38E-1131-4FDC-9240-45D994A2E825}" type="slidenum">
              <a:rPr lang="fr-FR" smtClean="0"/>
              <a:t>‹N°›</a:t>
            </a:fld>
            <a:endParaRPr lang="fr-FR"/>
          </a:p>
        </p:txBody>
      </p:sp>
    </p:spTree>
    <p:extLst>
      <p:ext uri="{BB962C8B-B14F-4D97-AF65-F5344CB8AC3E}">
        <p14:creationId xmlns:p14="http://schemas.microsoft.com/office/powerpoint/2010/main" val="3811689803"/>
      </p:ext>
    </p:extLst>
  </p:cSld>
  <p:clrMap bg1="lt1" tx1="dk1" bg2="lt2" tx2="dk2" accent1="accent1" accent2="accent2" accent3="accent3" accent4="accent4" accent5="accent5" accent6="accent6" hlink="hlink" folHlink="folHlink"/>
  <p:sldLayoutIdLst>
    <p:sldLayoutId id="2147483826" r:id="rId1"/>
    <p:sldLayoutId id="2147483827" r:id="rId2"/>
    <p:sldLayoutId id="2147483828" r:id="rId3"/>
    <p:sldLayoutId id="2147483829" r:id="rId4"/>
    <p:sldLayoutId id="2147483830" r:id="rId5"/>
    <p:sldLayoutId id="2147483831" r:id="rId6"/>
    <p:sldLayoutId id="2147483832" r:id="rId7"/>
    <p:sldLayoutId id="2147483833" r:id="rId8"/>
    <p:sldLayoutId id="2147483834" r:id="rId9"/>
    <p:sldLayoutId id="2147483835" r:id="rId10"/>
    <p:sldLayoutId id="2147483836" r:id="rId11"/>
    <p:sldLayoutId id="2147483837"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9.emf"/><Relationship Id="rId7"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12.emf"/><Relationship Id="rId5" Type="http://schemas.openxmlformats.org/officeDocument/2006/relationships/image" Target="../media/image11.emf"/><Relationship Id="rId4" Type="http://schemas.openxmlformats.org/officeDocument/2006/relationships/image" Target="../media/image10.emf"/></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image" Target="../media/image16.gif"/><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ZoneTexte 11">
            <a:extLst>
              <a:ext uri="{FF2B5EF4-FFF2-40B4-BE49-F238E27FC236}">
                <a16:creationId xmlns:a16="http://schemas.microsoft.com/office/drawing/2014/main" id="{472BA5BE-0ACA-40EA-8C5B-F3651C4F92BD}"/>
              </a:ext>
            </a:extLst>
          </p:cNvPr>
          <p:cNvSpPr txBox="1"/>
          <p:nvPr/>
        </p:nvSpPr>
        <p:spPr>
          <a:xfrm>
            <a:off x="1763688" y="1351508"/>
            <a:ext cx="6768752" cy="4154984"/>
          </a:xfrm>
          <a:prstGeom prst="rect">
            <a:avLst/>
          </a:prstGeom>
          <a:solidFill>
            <a:schemeClr val="bg1">
              <a:lumMod val="75000"/>
            </a:schemeClr>
          </a:solidFill>
        </p:spPr>
        <p:txBody>
          <a:bodyPr wrap="square">
            <a:spAutoFit/>
          </a:bodyPr>
          <a:lstStyle/>
          <a:p>
            <a:pPr algn="ctr"/>
            <a:r>
              <a:rPr lang="fr-FR" sz="4400" b="1" dirty="0">
                <a:solidFill>
                  <a:srgbClr val="C00000"/>
                </a:solidFill>
              </a:rPr>
              <a:t>Chapitre Introduction aux Réseaux Informatiques</a:t>
            </a:r>
          </a:p>
          <a:p>
            <a:endParaRPr lang="fr-FR" sz="4400" dirty="0"/>
          </a:p>
          <a:p>
            <a:endParaRPr lang="fr-FR" sz="4400" dirty="0"/>
          </a:p>
          <a:p>
            <a:endParaRPr lang="fr-FR" sz="4400" dirty="0"/>
          </a:p>
          <a:p>
            <a:endParaRPr lang="fr-FR" sz="4400" dirty="0"/>
          </a:p>
        </p:txBody>
      </p:sp>
      <p:pic>
        <p:nvPicPr>
          <p:cNvPr id="8195" name="Image 4" descr="reseau_gauche.jpg"/>
          <p:cNvPicPr>
            <a:picLocks noChangeAspect="1"/>
          </p:cNvPicPr>
          <p:nvPr/>
        </p:nvPicPr>
        <p:blipFill>
          <a:blip r:embed="rId2"/>
          <a:srcRect/>
          <a:stretch>
            <a:fillRect/>
          </a:stretch>
        </p:blipFill>
        <p:spPr bwMode="auto">
          <a:xfrm>
            <a:off x="3275856" y="3047238"/>
            <a:ext cx="3905528" cy="2459254"/>
          </a:xfrm>
          <a:prstGeom prst="rect">
            <a:avLst/>
          </a:prstGeom>
          <a:noFill/>
          <a:ln w="9525">
            <a:noFill/>
            <a:miter lim="800000"/>
            <a:headEnd/>
            <a:tailEn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1435100" y="274638"/>
            <a:ext cx="7499350" cy="994122"/>
          </a:xfrm>
          <a:solidFill>
            <a:schemeClr val="bg2">
              <a:lumMod val="75000"/>
            </a:schemeClr>
          </a:solidFill>
        </p:spPr>
        <p:txBody>
          <a:bodyPr>
            <a:normAutofit fontScale="90000"/>
          </a:bodyPr>
          <a:lstStyle/>
          <a:p>
            <a:r>
              <a:rPr lang="fr-FR" dirty="0"/>
              <a:t>les points traités dans ce chapitre </a:t>
            </a:r>
          </a:p>
        </p:txBody>
      </p:sp>
      <p:sp>
        <p:nvSpPr>
          <p:cNvPr id="10243" name="Rectangle 3"/>
          <p:cNvSpPr>
            <a:spLocks noGrp="1" noChangeArrowheads="1"/>
          </p:cNvSpPr>
          <p:nvPr>
            <p:ph idx="1"/>
          </p:nvPr>
        </p:nvSpPr>
        <p:spPr>
          <a:xfrm>
            <a:off x="1435100" y="1447800"/>
            <a:ext cx="7499350" cy="4800600"/>
          </a:xfrm>
        </p:spPr>
        <p:txBody>
          <a:bodyPr/>
          <a:lstStyle/>
          <a:p>
            <a:r>
              <a:rPr lang="fr-FR" dirty="0"/>
              <a:t>Définition réseau</a:t>
            </a:r>
          </a:p>
          <a:p>
            <a:r>
              <a:rPr lang="fr-FR" dirty="0"/>
              <a:t>Topologie réseau</a:t>
            </a:r>
          </a:p>
          <a:p>
            <a:pPr lvl="1"/>
            <a:r>
              <a:rPr lang="fr-FR" dirty="0"/>
              <a:t>Bus</a:t>
            </a:r>
          </a:p>
          <a:p>
            <a:pPr lvl="1"/>
            <a:r>
              <a:rPr lang="fr-FR" dirty="0"/>
              <a:t>Anneau</a:t>
            </a:r>
          </a:p>
          <a:p>
            <a:pPr lvl="1"/>
            <a:r>
              <a:rPr lang="fr-FR" dirty="0"/>
              <a:t>Etoile</a:t>
            </a:r>
          </a:p>
          <a:p>
            <a:pPr lvl="1"/>
            <a:r>
              <a:rPr lang="fr-FR" dirty="0"/>
              <a:t>Hiérarchisée</a:t>
            </a:r>
          </a:p>
          <a:p>
            <a:pPr lvl="1"/>
            <a:r>
              <a:rPr lang="fr-FR" dirty="0"/>
              <a:t>Maillée</a:t>
            </a:r>
          </a:p>
          <a:p>
            <a:r>
              <a:rPr lang="fr-FR" dirty="0"/>
              <a:t>Type de réseau</a:t>
            </a:r>
          </a:p>
          <a:p>
            <a:r>
              <a:rPr lang="fr-FR" dirty="0"/>
              <a:t>Architecture Client/serveur</a:t>
            </a:r>
          </a:p>
          <a:p>
            <a:r>
              <a:rPr lang="fr-FR" dirty="0"/>
              <a:t>Architecture Poste à poste (Peer2Peer)</a:t>
            </a:r>
          </a:p>
        </p:txBody>
      </p:sp>
      <p:sp>
        <p:nvSpPr>
          <p:cNvPr id="2" name="Espace réservé du numéro de diapositive 1">
            <a:extLst>
              <a:ext uri="{FF2B5EF4-FFF2-40B4-BE49-F238E27FC236}">
                <a16:creationId xmlns:a16="http://schemas.microsoft.com/office/drawing/2014/main" id="{4230AA04-4EB6-465C-A06E-24E9F2696CDD}"/>
              </a:ext>
            </a:extLst>
          </p:cNvPr>
          <p:cNvSpPr>
            <a:spLocks noGrp="1"/>
          </p:cNvSpPr>
          <p:nvPr>
            <p:ph type="sldNum" sz="quarter" idx="12"/>
          </p:nvPr>
        </p:nvSpPr>
        <p:spPr>
          <a:xfrm>
            <a:off x="8613775" y="6305550"/>
            <a:ext cx="457200" cy="476250"/>
          </a:xfrm>
        </p:spPr>
        <p:txBody>
          <a:bodyPr/>
          <a:lstStyle/>
          <a:p>
            <a:fld id="{AE65C026-8F1A-49B2-8DBD-F72498D8F816}" type="slidenum">
              <a:rPr lang="fr-FR" smtClean="0"/>
              <a:pPr/>
              <a:t>2</a:t>
            </a:fld>
            <a:endParaRPr lang="fr-F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46A4516-8AF5-0F91-0532-EE1B00A1CAC5}"/>
              </a:ext>
            </a:extLst>
          </p:cNvPr>
          <p:cNvSpPr>
            <a:spLocks noGrp="1"/>
          </p:cNvSpPr>
          <p:nvPr>
            <p:ph type="title"/>
          </p:nvPr>
        </p:nvSpPr>
        <p:spPr/>
        <p:txBody>
          <a:bodyPr/>
          <a:lstStyle/>
          <a:p>
            <a:r>
              <a:rPr lang="fr-FR" dirty="0"/>
              <a:t>Introduction</a:t>
            </a:r>
          </a:p>
        </p:txBody>
      </p:sp>
      <p:sp>
        <p:nvSpPr>
          <p:cNvPr id="3" name="Espace réservé du contenu 2">
            <a:extLst>
              <a:ext uri="{FF2B5EF4-FFF2-40B4-BE49-F238E27FC236}">
                <a16:creationId xmlns:a16="http://schemas.microsoft.com/office/drawing/2014/main" id="{FD5C145D-A0EA-D33F-C993-C768312556A4}"/>
              </a:ext>
            </a:extLst>
          </p:cNvPr>
          <p:cNvSpPr>
            <a:spLocks noGrp="1"/>
          </p:cNvSpPr>
          <p:nvPr>
            <p:ph idx="1"/>
          </p:nvPr>
        </p:nvSpPr>
        <p:spPr>
          <a:xfrm>
            <a:off x="1435100" y="1628800"/>
            <a:ext cx="7499350" cy="4800600"/>
          </a:xfrm>
        </p:spPr>
        <p:txBody>
          <a:bodyPr/>
          <a:lstStyle/>
          <a:p>
            <a:pPr marL="82550" indent="0">
              <a:buNone/>
            </a:pPr>
            <a:r>
              <a:rPr lang="fr-FR" dirty="0"/>
              <a:t>Depuis la fin du </a:t>
            </a:r>
            <a:r>
              <a:rPr lang="fr-FR" b="1" dirty="0"/>
              <a:t>19</a:t>
            </a:r>
            <a:r>
              <a:rPr lang="fr-FR" b="1" baseline="30000" dirty="0"/>
              <a:t>e</a:t>
            </a:r>
            <a:r>
              <a:rPr lang="fr-FR" b="1" dirty="0"/>
              <a:t> siècle</a:t>
            </a:r>
            <a:r>
              <a:rPr lang="fr-FR" dirty="0"/>
              <a:t>, les hommes ont pris l'habitude de </a:t>
            </a:r>
            <a:r>
              <a:rPr lang="fr-FR" b="1" dirty="0"/>
              <a:t>communiquer rapidement </a:t>
            </a:r>
            <a:r>
              <a:rPr lang="fr-FR" dirty="0"/>
              <a:t>et à grande distance, d'abord grâce au </a:t>
            </a:r>
            <a:r>
              <a:rPr lang="fr-FR" b="1" dirty="0"/>
              <a:t>télégraphe</a:t>
            </a:r>
            <a:r>
              <a:rPr lang="fr-FR" dirty="0"/>
              <a:t>, au </a:t>
            </a:r>
            <a:r>
              <a:rPr lang="fr-FR" b="1" dirty="0"/>
              <a:t>télégramme</a:t>
            </a:r>
            <a:r>
              <a:rPr lang="fr-FR" dirty="0"/>
              <a:t> puis au </a:t>
            </a:r>
            <a:r>
              <a:rPr lang="fr-FR" b="1" dirty="0"/>
              <a:t>téléphone</a:t>
            </a:r>
            <a:r>
              <a:rPr lang="fr-FR" dirty="0"/>
              <a:t> et désormais via </a:t>
            </a:r>
            <a:r>
              <a:rPr lang="fr-FR" b="1" dirty="0"/>
              <a:t>internet</a:t>
            </a:r>
            <a:r>
              <a:rPr lang="fr-FR" dirty="0"/>
              <a:t>.</a:t>
            </a:r>
          </a:p>
          <a:p>
            <a:endParaRPr lang="fr-FR" dirty="0"/>
          </a:p>
        </p:txBody>
      </p:sp>
      <p:sp>
        <p:nvSpPr>
          <p:cNvPr id="5" name="Espace réservé du numéro de diapositive 4">
            <a:extLst>
              <a:ext uri="{FF2B5EF4-FFF2-40B4-BE49-F238E27FC236}">
                <a16:creationId xmlns:a16="http://schemas.microsoft.com/office/drawing/2014/main" id="{49974202-04D4-3EF3-6DAE-47358C744E38}"/>
              </a:ext>
            </a:extLst>
          </p:cNvPr>
          <p:cNvSpPr>
            <a:spLocks noGrp="1"/>
          </p:cNvSpPr>
          <p:nvPr>
            <p:ph type="sldNum" sz="quarter" idx="12"/>
          </p:nvPr>
        </p:nvSpPr>
        <p:spPr/>
        <p:txBody>
          <a:bodyPr/>
          <a:lstStyle/>
          <a:p>
            <a:pPr>
              <a:defRPr/>
            </a:pPr>
            <a:fld id="{AE65C026-8F1A-49B2-8DBD-F72498D8F816}" type="slidenum">
              <a:rPr lang="fr-FR" smtClean="0"/>
              <a:pPr>
                <a:defRPr/>
              </a:pPr>
              <a:t>3</a:t>
            </a:fld>
            <a:endParaRPr lang="fr-FR"/>
          </a:p>
        </p:txBody>
      </p:sp>
      <p:pic>
        <p:nvPicPr>
          <p:cNvPr id="11" name="Image 10">
            <a:extLst>
              <a:ext uri="{FF2B5EF4-FFF2-40B4-BE49-F238E27FC236}">
                <a16:creationId xmlns:a16="http://schemas.microsoft.com/office/drawing/2014/main" id="{76127F31-9F91-CD39-AD91-618D605EDF43}"/>
              </a:ext>
            </a:extLst>
          </p:cNvPr>
          <p:cNvPicPr>
            <a:picLocks noChangeAspect="1"/>
          </p:cNvPicPr>
          <p:nvPr/>
        </p:nvPicPr>
        <p:blipFill>
          <a:blip r:embed="rId2"/>
          <a:stretch>
            <a:fillRect/>
          </a:stretch>
        </p:blipFill>
        <p:spPr>
          <a:xfrm>
            <a:off x="1365453" y="3429000"/>
            <a:ext cx="6516657" cy="2592288"/>
          </a:xfrm>
          <a:prstGeom prst="rect">
            <a:avLst/>
          </a:prstGeom>
        </p:spPr>
      </p:pic>
    </p:spTree>
    <p:extLst>
      <p:ext uri="{BB962C8B-B14F-4D97-AF65-F5344CB8AC3E}">
        <p14:creationId xmlns:p14="http://schemas.microsoft.com/office/powerpoint/2010/main" val="286457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258888" y="260350"/>
            <a:ext cx="7499350" cy="897965"/>
          </a:xfrm>
          <a:solidFill>
            <a:schemeClr val="bg2">
              <a:lumMod val="75000"/>
            </a:schemeClr>
          </a:solidFill>
        </p:spPr>
        <p:txBody>
          <a:bodyPr>
            <a:normAutofit/>
          </a:bodyPr>
          <a:lstStyle/>
          <a:p>
            <a:r>
              <a:rPr lang="fr-FR" dirty="0"/>
              <a:t>Définition d’un réseau:</a:t>
            </a:r>
          </a:p>
        </p:txBody>
      </p:sp>
      <p:sp>
        <p:nvSpPr>
          <p:cNvPr id="3" name="Espace réservé du numéro de diapositive 2">
            <a:extLst>
              <a:ext uri="{FF2B5EF4-FFF2-40B4-BE49-F238E27FC236}">
                <a16:creationId xmlns:a16="http://schemas.microsoft.com/office/drawing/2014/main" id="{BEADBAD5-25FB-4FFA-A7D3-1270C6C2B13A}"/>
              </a:ext>
            </a:extLst>
          </p:cNvPr>
          <p:cNvSpPr>
            <a:spLocks noGrp="1"/>
          </p:cNvSpPr>
          <p:nvPr>
            <p:ph type="sldNum" sz="quarter" idx="4294967295"/>
          </p:nvPr>
        </p:nvSpPr>
        <p:spPr>
          <a:xfrm>
            <a:off x="8686800" y="6305550"/>
            <a:ext cx="457200" cy="476250"/>
          </a:xfrm>
        </p:spPr>
        <p:txBody>
          <a:bodyPr/>
          <a:lstStyle/>
          <a:p>
            <a:pPr>
              <a:defRPr/>
            </a:pPr>
            <a:fld id="{59EB3592-E4B7-4B42-9B17-519130A2B0CE}" type="slidenum">
              <a:rPr lang="fr-FR" smtClean="0"/>
              <a:pPr>
                <a:defRPr/>
              </a:pPr>
              <a:t>4</a:t>
            </a:fld>
            <a:endParaRPr lang="fr-FR"/>
          </a:p>
        </p:txBody>
      </p:sp>
      <p:sp>
        <p:nvSpPr>
          <p:cNvPr id="2" name="ZoneTexte 1">
            <a:extLst>
              <a:ext uri="{FF2B5EF4-FFF2-40B4-BE49-F238E27FC236}">
                <a16:creationId xmlns:a16="http://schemas.microsoft.com/office/drawing/2014/main" id="{BD7C89FF-B545-41B7-B784-02EA0B8252CA}"/>
              </a:ext>
            </a:extLst>
          </p:cNvPr>
          <p:cNvSpPr txBox="1"/>
          <p:nvPr/>
        </p:nvSpPr>
        <p:spPr>
          <a:xfrm>
            <a:off x="1030883" y="1307790"/>
            <a:ext cx="7955359" cy="5324535"/>
          </a:xfrm>
          <a:prstGeom prst="rect">
            <a:avLst/>
          </a:prstGeom>
          <a:noFill/>
        </p:spPr>
        <p:txBody>
          <a:bodyPr wrap="square" rtlCol="0">
            <a:spAutoFit/>
          </a:bodyPr>
          <a:lstStyle/>
          <a:p>
            <a:r>
              <a:rPr lang="fr-FR" sz="2000" dirty="0">
                <a:latin typeface="+mn-lt"/>
              </a:rPr>
              <a:t>Un réseau est un ensemble </a:t>
            </a:r>
            <a:r>
              <a:rPr lang="fr-FR" sz="2000" b="1" dirty="0">
                <a:latin typeface="+mn-lt"/>
              </a:rPr>
              <a:t>d'objets interconnectés </a:t>
            </a:r>
            <a:r>
              <a:rPr lang="fr-FR" sz="2000" dirty="0">
                <a:latin typeface="+mn-lt"/>
              </a:rPr>
              <a:t>les uns avec les autres. </a:t>
            </a:r>
          </a:p>
          <a:p>
            <a:r>
              <a:rPr lang="fr-FR" sz="2000" dirty="0">
                <a:latin typeface="+mn-lt"/>
              </a:rPr>
              <a:t>Il permet de faire circuler des informations entre chacun de ces objets selon des </a:t>
            </a:r>
            <a:r>
              <a:rPr lang="fr-FR" sz="2000" b="1" dirty="0">
                <a:latin typeface="+mn-lt"/>
              </a:rPr>
              <a:t>règles</a:t>
            </a:r>
            <a:r>
              <a:rPr lang="fr-FR" sz="2000" dirty="0">
                <a:latin typeface="+mn-lt"/>
              </a:rPr>
              <a:t> bien définies. </a:t>
            </a:r>
          </a:p>
          <a:p>
            <a:pPr marL="630555">
              <a:spcBef>
                <a:spcPts val="600"/>
              </a:spcBef>
            </a:pPr>
            <a:endParaRPr lang="fr-FR" sz="2000" dirty="0">
              <a:effectLst/>
              <a:latin typeface="+mn-lt"/>
              <a:ea typeface="Calibri" panose="020F0502020204030204" pitchFamily="34" charset="0"/>
              <a:cs typeface="Calibri" panose="020F0502020204030204" pitchFamily="34" charset="0"/>
            </a:endParaRPr>
          </a:p>
          <a:p>
            <a:pPr marL="630555">
              <a:spcBef>
                <a:spcPts val="600"/>
              </a:spcBef>
            </a:pPr>
            <a:endParaRPr lang="fr-FR" sz="2000" dirty="0">
              <a:effectLst/>
              <a:latin typeface="+mn-lt"/>
              <a:ea typeface="Calibri" panose="020F0502020204030204" pitchFamily="34" charset="0"/>
              <a:cs typeface="Calibri" panose="020F0502020204030204" pitchFamily="34" charset="0"/>
            </a:endParaRPr>
          </a:p>
          <a:p>
            <a:pPr marL="630555">
              <a:spcBef>
                <a:spcPts val="600"/>
              </a:spcBef>
            </a:pPr>
            <a:endParaRPr lang="fr-FR" sz="2000" dirty="0">
              <a:latin typeface="+mn-lt"/>
              <a:ea typeface="Calibri" panose="020F0502020204030204" pitchFamily="34" charset="0"/>
              <a:cs typeface="Calibri" panose="020F0502020204030204" pitchFamily="34" charset="0"/>
            </a:endParaRPr>
          </a:p>
          <a:p>
            <a:pPr marL="630555">
              <a:spcBef>
                <a:spcPts val="600"/>
              </a:spcBef>
            </a:pPr>
            <a:r>
              <a:rPr lang="fr-FR" sz="2000" dirty="0">
                <a:effectLst/>
                <a:latin typeface="+mn-lt"/>
                <a:ea typeface="Calibri" panose="020F0502020204030204" pitchFamily="34" charset="0"/>
                <a:cs typeface="Calibri" panose="020F0502020204030204" pitchFamily="34" charset="0"/>
              </a:rPr>
              <a:t>On distingue deux types de périphériques :</a:t>
            </a:r>
          </a:p>
          <a:p>
            <a:pPr marL="630555">
              <a:spcBef>
                <a:spcPts val="600"/>
              </a:spcBef>
            </a:pPr>
            <a:r>
              <a:rPr lang="fr-FR" sz="2000" b="1" dirty="0">
                <a:effectLst/>
                <a:highlight>
                  <a:srgbClr val="C6B07E"/>
                </a:highlight>
                <a:latin typeface="+mn-lt"/>
                <a:ea typeface="Calibri" panose="020F0502020204030204" pitchFamily="34" charset="0"/>
                <a:cs typeface="Calibri" panose="020F0502020204030204" pitchFamily="34" charset="0"/>
              </a:rPr>
              <a:t>Les périphériques terminaux </a:t>
            </a:r>
            <a:r>
              <a:rPr lang="fr-FR" sz="2000" dirty="0">
                <a:effectLst/>
                <a:latin typeface="+mn-lt"/>
                <a:ea typeface="Calibri" panose="020F0502020204030204" pitchFamily="34" charset="0"/>
                <a:cs typeface="Calibri" panose="020F0502020204030204" pitchFamily="34" charset="0"/>
              </a:rPr>
              <a:t>:</a:t>
            </a:r>
          </a:p>
          <a:p>
            <a:pPr marL="342900" lvl="0" indent="-342900">
              <a:spcBef>
                <a:spcPts val="600"/>
              </a:spcBef>
              <a:buFont typeface="Symbol" panose="05050102010706020507" pitchFamily="18" charset="2"/>
              <a:buChar char=""/>
            </a:pPr>
            <a:r>
              <a:rPr lang="fr-FR" sz="2000" dirty="0">
                <a:effectLst/>
                <a:latin typeface="+mn-lt"/>
                <a:ea typeface="Calibri" panose="020F0502020204030204" pitchFamily="34" charset="0"/>
                <a:cs typeface="Calibri" panose="020F0502020204030204" pitchFamily="34" charset="0"/>
              </a:rPr>
              <a:t>Serveurs, Ordinateurs de bureau, Ordinateurs portables, Imprimantes,</a:t>
            </a:r>
          </a:p>
          <a:p>
            <a:pPr lvl="0"/>
            <a:r>
              <a:rPr lang="fr-FR" sz="2000" dirty="0">
                <a:effectLst/>
                <a:latin typeface="+mn-lt"/>
                <a:ea typeface="Calibri" panose="020F0502020204030204" pitchFamily="34" charset="0"/>
                <a:cs typeface="Calibri" panose="020F0502020204030204" pitchFamily="34" charset="0"/>
              </a:rPr>
              <a:t>Téléphones IP, PDA, web phone, ……..</a:t>
            </a:r>
          </a:p>
          <a:p>
            <a:pPr marL="630555">
              <a:spcBef>
                <a:spcPts val="600"/>
              </a:spcBef>
            </a:pPr>
            <a:r>
              <a:rPr lang="fr-FR" sz="2000" b="1" dirty="0">
                <a:effectLst/>
                <a:highlight>
                  <a:srgbClr val="C6B07E"/>
                </a:highlight>
                <a:latin typeface="+mn-lt"/>
                <a:ea typeface="Calibri" panose="020F0502020204030204" pitchFamily="34" charset="0"/>
                <a:cs typeface="Calibri" panose="020F0502020204030204" pitchFamily="34" charset="0"/>
              </a:rPr>
              <a:t>Les périphériques intermédiaires </a:t>
            </a:r>
            <a:r>
              <a:rPr lang="fr-FR" sz="2000" dirty="0">
                <a:effectLst/>
                <a:latin typeface="+mn-lt"/>
                <a:ea typeface="Calibri" panose="020F0502020204030204" pitchFamily="34" charset="0"/>
                <a:cs typeface="Calibri" panose="020F0502020204030204" pitchFamily="34" charset="0"/>
              </a:rPr>
              <a:t>:</a:t>
            </a:r>
          </a:p>
          <a:p>
            <a:pPr marL="342900" lvl="0" indent="-342900">
              <a:spcBef>
                <a:spcPts val="600"/>
              </a:spcBef>
              <a:buFont typeface="Symbol" panose="05050102010706020507" pitchFamily="18" charset="2"/>
              <a:buChar char=""/>
            </a:pPr>
            <a:r>
              <a:rPr lang="fr-FR" sz="2000" dirty="0">
                <a:effectLst/>
                <a:latin typeface="+mn-lt"/>
                <a:ea typeface="Calibri" panose="020F0502020204030204" pitchFamily="34" charset="0"/>
                <a:cs typeface="Calibri" panose="020F0502020204030204" pitchFamily="34" charset="0"/>
              </a:rPr>
              <a:t>Commutateur, Pare-feu (assure la sécurité du réseau),</a:t>
            </a:r>
          </a:p>
          <a:p>
            <a:pPr marL="342900" lvl="0" indent="-342900">
              <a:buFont typeface="Symbol" panose="05050102010706020507" pitchFamily="18" charset="2"/>
              <a:buChar char=""/>
            </a:pPr>
            <a:r>
              <a:rPr lang="fr-FR" sz="2000" dirty="0">
                <a:effectLst/>
                <a:latin typeface="+mn-lt"/>
                <a:ea typeface="Calibri" panose="020F0502020204030204" pitchFamily="34" charset="0"/>
                <a:cs typeface="Calibri" panose="020F0502020204030204" pitchFamily="34" charset="0"/>
              </a:rPr>
              <a:t>Routeur (contribue à orienter les messages transitant sur un réseau),</a:t>
            </a:r>
          </a:p>
          <a:p>
            <a:pPr marL="342900" lvl="0" indent="-342900">
              <a:buFont typeface="Symbol" panose="05050102010706020507" pitchFamily="18" charset="2"/>
              <a:buChar char=""/>
            </a:pPr>
            <a:r>
              <a:rPr lang="fr-FR" sz="2000" dirty="0">
                <a:effectLst/>
                <a:latin typeface="+mn-lt"/>
                <a:ea typeface="Calibri" panose="020F0502020204030204" pitchFamily="34" charset="0"/>
                <a:cs typeface="Calibri" panose="020F0502020204030204" pitchFamily="34" charset="0"/>
              </a:rPr>
              <a:t>Routeur sans fil, Nuage (sert à représenter un groupe de périphériques réseau)…</a:t>
            </a:r>
          </a:p>
        </p:txBody>
      </p:sp>
      <p:pic>
        <p:nvPicPr>
          <p:cNvPr id="7" name="Image 6">
            <a:extLst>
              <a:ext uri="{FF2B5EF4-FFF2-40B4-BE49-F238E27FC236}">
                <a16:creationId xmlns:a16="http://schemas.microsoft.com/office/drawing/2014/main" id="{EA675BB2-B042-47FA-A706-C371345D597A}"/>
              </a:ext>
            </a:extLst>
          </p:cNvPr>
          <p:cNvPicPr/>
          <p:nvPr/>
        </p:nvPicPr>
        <p:blipFill>
          <a:blip r:embed="rId2" cstate="print"/>
          <a:srcRect b="10312"/>
          <a:stretch>
            <a:fillRect/>
          </a:stretch>
        </p:blipFill>
        <p:spPr bwMode="auto">
          <a:xfrm>
            <a:off x="3131840" y="2327438"/>
            <a:ext cx="5594923" cy="1101562"/>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BCE1A5-5473-4C70-AE81-8B490F319BF2}"/>
              </a:ext>
            </a:extLst>
          </p:cNvPr>
          <p:cNvSpPr>
            <a:spLocks noGrp="1"/>
          </p:cNvSpPr>
          <p:nvPr>
            <p:ph type="title"/>
          </p:nvPr>
        </p:nvSpPr>
        <p:spPr>
          <a:xfrm>
            <a:off x="1259632" y="260648"/>
            <a:ext cx="7499350" cy="1080120"/>
          </a:xfrm>
          <a:solidFill>
            <a:schemeClr val="bg2">
              <a:lumMod val="75000"/>
            </a:schemeClr>
          </a:solidFill>
        </p:spPr>
        <p:txBody>
          <a:bodyPr/>
          <a:lstStyle/>
          <a:p>
            <a:r>
              <a:rPr lang="fr-FR" dirty="0"/>
              <a:t>Les connexions (médias) </a:t>
            </a:r>
          </a:p>
        </p:txBody>
      </p:sp>
      <p:sp>
        <p:nvSpPr>
          <p:cNvPr id="7" name="Espace réservé du numéro de diapositive 6">
            <a:extLst>
              <a:ext uri="{FF2B5EF4-FFF2-40B4-BE49-F238E27FC236}">
                <a16:creationId xmlns:a16="http://schemas.microsoft.com/office/drawing/2014/main" id="{3444BDDA-2F93-46B4-8573-B6DD315C01DA}"/>
              </a:ext>
            </a:extLst>
          </p:cNvPr>
          <p:cNvSpPr>
            <a:spLocks noGrp="1"/>
          </p:cNvSpPr>
          <p:nvPr>
            <p:ph type="sldNum" sz="quarter" idx="4294967295"/>
          </p:nvPr>
        </p:nvSpPr>
        <p:spPr>
          <a:xfrm>
            <a:off x="8686800" y="6305550"/>
            <a:ext cx="457200" cy="476250"/>
          </a:xfrm>
        </p:spPr>
        <p:txBody>
          <a:bodyPr/>
          <a:lstStyle/>
          <a:p>
            <a:pPr>
              <a:defRPr/>
            </a:pPr>
            <a:fld id="{59EB3592-E4B7-4B42-9B17-519130A2B0CE}" type="slidenum">
              <a:rPr lang="fr-FR" smtClean="0"/>
              <a:pPr>
                <a:defRPr/>
              </a:pPr>
              <a:t>5</a:t>
            </a:fld>
            <a:endParaRPr lang="fr-FR"/>
          </a:p>
        </p:txBody>
      </p:sp>
      <p:sp>
        <p:nvSpPr>
          <p:cNvPr id="4" name="ZoneTexte 3">
            <a:extLst>
              <a:ext uri="{FF2B5EF4-FFF2-40B4-BE49-F238E27FC236}">
                <a16:creationId xmlns:a16="http://schemas.microsoft.com/office/drawing/2014/main" id="{8DD22CA1-F86B-4F03-A4FD-CDE8D1DF9E6D}"/>
              </a:ext>
            </a:extLst>
          </p:cNvPr>
          <p:cNvSpPr txBox="1"/>
          <p:nvPr/>
        </p:nvSpPr>
        <p:spPr>
          <a:xfrm>
            <a:off x="1259632" y="1236642"/>
            <a:ext cx="7674056" cy="1723549"/>
          </a:xfrm>
          <a:prstGeom prst="rect">
            <a:avLst/>
          </a:prstGeom>
          <a:solidFill>
            <a:schemeClr val="bg2"/>
          </a:solidFill>
        </p:spPr>
        <p:txBody>
          <a:bodyPr wrap="square" rtlCol="0">
            <a:spAutoFit/>
          </a:bodyPr>
          <a:lstStyle/>
          <a:p>
            <a:pPr marL="630555">
              <a:spcBef>
                <a:spcPts val="600"/>
              </a:spcBef>
            </a:pPr>
            <a:r>
              <a:rPr lang="fr-FR" b="1" dirty="0">
                <a:effectLst/>
                <a:latin typeface="Calibri" panose="020F0502020204030204" pitchFamily="34" charset="0"/>
                <a:ea typeface="Calibri" panose="020F0502020204030204" pitchFamily="34" charset="0"/>
                <a:cs typeface="Calibri" panose="020F0502020204030204" pitchFamily="34" charset="0"/>
              </a:rPr>
              <a:t>Les connexions </a:t>
            </a:r>
            <a:r>
              <a:rPr lang="fr-FR" dirty="0">
                <a:effectLst/>
                <a:latin typeface="Calibri" panose="020F0502020204030204" pitchFamily="34" charset="0"/>
                <a:ea typeface="Calibri" panose="020F0502020204030204" pitchFamily="34" charset="0"/>
                <a:cs typeface="Calibri" panose="020F0502020204030204" pitchFamily="34" charset="0"/>
              </a:rPr>
              <a:t>:</a:t>
            </a:r>
          </a:p>
          <a:p>
            <a:pPr marL="342900" lvl="0" indent="-342900">
              <a:spcBef>
                <a:spcPts val="600"/>
              </a:spcBef>
              <a:buFont typeface="Symbol" panose="05050102010706020507" pitchFamily="18" charset="2"/>
              <a:buChar char=""/>
            </a:pPr>
            <a:r>
              <a:rPr lang="fr-FR" b="1" dirty="0">
                <a:effectLst/>
                <a:latin typeface="Calibri" panose="020F0502020204030204" pitchFamily="34" charset="0"/>
                <a:ea typeface="Calibri" panose="020F0502020204030204" pitchFamily="34" charset="0"/>
                <a:cs typeface="Calibri" panose="020F0502020204030204" pitchFamily="34" charset="0"/>
              </a:rPr>
              <a:t>Filaires</a:t>
            </a:r>
            <a:r>
              <a:rPr lang="fr-FR" dirty="0">
                <a:effectLst/>
                <a:latin typeface="Calibri" panose="020F0502020204030204" pitchFamily="34" charset="0"/>
                <a:ea typeface="Calibri" panose="020F0502020204030204" pitchFamily="34" charset="0"/>
                <a:cs typeface="Calibri" panose="020F0502020204030204" pitchFamily="34" charset="0"/>
              </a:rPr>
              <a:t> (câble: droit, croisé, téléphonique, série, …),</a:t>
            </a:r>
          </a:p>
          <a:p>
            <a:pPr marL="342900" lvl="0" indent="-342900">
              <a:buFont typeface="Symbol" panose="05050102010706020507" pitchFamily="18" charset="2"/>
              <a:buChar char=""/>
            </a:pPr>
            <a:r>
              <a:rPr lang="en-GB" b="1" dirty="0">
                <a:effectLst/>
                <a:latin typeface="Calibri" panose="020F0502020204030204" pitchFamily="34" charset="0"/>
                <a:ea typeface="Calibri" panose="020F0502020204030204" pitchFamily="34" charset="0"/>
                <a:cs typeface="Calibri" panose="020F0502020204030204" pitchFamily="34" charset="0"/>
              </a:rPr>
              <a:t>Sans-fil</a:t>
            </a:r>
            <a:r>
              <a:rPr lang="en-GB" dirty="0">
                <a:effectLst/>
                <a:latin typeface="Calibri" panose="020F0502020204030204" pitchFamily="34" charset="0"/>
                <a:ea typeface="Calibri" panose="020F0502020204030204" pitchFamily="34" charset="0"/>
                <a:cs typeface="Calibri" panose="020F0502020204030204" pitchFamily="34" charset="0"/>
              </a:rPr>
              <a:t> (</a:t>
            </a:r>
            <a:r>
              <a:rPr lang="en-GB" dirty="0" err="1">
                <a:effectLst/>
                <a:latin typeface="Calibri" panose="020F0502020204030204" pitchFamily="34" charset="0"/>
                <a:ea typeface="Calibri" panose="020F0502020204030204" pitchFamily="34" charset="0"/>
                <a:cs typeface="Calibri" panose="020F0502020204030204" pitchFamily="34" charset="0"/>
              </a:rPr>
              <a:t>WiFi</a:t>
            </a:r>
            <a:r>
              <a:rPr lang="en-GB" dirty="0">
                <a:effectLst/>
                <a:latin typeface="Calibri" panose="020F0502020204030204" pitchFamily="34" charset="0"/>
                <a:ea typeface="Calibri" panose="020F0502020204030204" pitchFamily="34" charset="0"/>
                <a:cs typeface="Calibri" panose="020F0502020204030204" pitchFamily="34" charset="0"/>
              </a:rPr>
              <a:t>, GSM, GPRS, Bluetooth, …),</a:t>
            </a:r>
            <a:endParaRPr lang="fr-FR"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spcBef>
                <a:spcPts val="600"/>
              </a:spcBef>
              <a:spcAft>
                <a:spcPts val="300"/>
              </a:spcAft>
              <a:buFont typeface="Symbol" panose="05050102010706020507" pitchFamily="18" charset="2"/>
              <a:buChar char=""/>
            </a:pPr>
            <a:r>
              <a:rPr lang="fr-FR" b="1" dirty="0">
                <a:effectLst/>
                <a:latin typeface="Calibri" panose="020F0502020204030204" pitchFamily="34" charset="0"/>
                <a:ea typeface="Calibri" panose="020F0502020204030204" pitchFamily="34" charset="0"/>
                <a:cs typeface="Calibri" panose="020F0502020204030204" pitchFamily="34" charset="0"/>
              </a:rPr>
              <a:t>Optique</a:t>
            </a:r>
            <a:r>
              <a:rPr lang="fr-FR" dirty="0">
                <a:effectLst/>
                <a:latin typeface="Calibri" panose="020F0502020204030204" pitchFamily="34" charset="0"/>
                <a:ea typeface="Calibri" panose="020F0502020204030204" pitchFamily="34" charset="0"/>
                <a:cs typeface="Calibri" panose="020F0502020204030204" pitchFamily="34" charset="0"/>
              </a:rPr>
              <a:t> (fibre: monomode, multimode, …).</a:t>
            </a:r>
          </a:p>
        </p:txBody>
      </p:sp>
      <p:pic>
        <p:nvPicPr>
          <p:cNvPr id="6" name="Image 5">
            <a:extLst>
              <a:ext uri="{FF2B5EF4-FFF2-40B4-BE49-F238E27FC236}">
                <a16:creationId xmlns:a16="http://schemas.microsoft.com/office/drawing/2014/main" id="{77E19AD4-BDDC-4762-A2D5-4A2711BAD080}"/>
              </a:ext>
            </a:extLst>
          </p:cNvPr>
          <p:cNvPicPr/>
          <p:nvPr/>
        </p:nvPicPr>
        <p:blipFill>
          <a:blip r:embed="rId2" cstate="print">
            <a:clrChange>
              <a:clrFrom>
                <a:srgbClr val="FFFFFF"/>
              </a:clrFrom>
              <a:clrTo>
                <a:srgbClr val="FFFFFF">
                  <a:alpha val="0"/>
                </a:srgbClr>
              </a:clrTo>
            </a:clrChange>
          </a:blip>
          <a:srcRect t="5311"/>
          <a:stretch>
            <a:fillRect/>
          </a:stretch>
        </p:blipFill>
        <p:spPr bwMode="auto">
          <a:xfrm>
            <a:off x="1835696" y="3068960"/>
            <a:ext cx="5832648" cy="3384376"/>
          </a:xfrm>
          <a:prstGeom prst="rect">
            <a:avLst/>
          </a:prstGeom>
          <a:noFill/>
          <a:ln w="9525">
            <a:noFill/>
            <a:miter lim="800000"/>
            <a:headEnd/>
            <a:tailEnd/>
          </a:ln>
        </p:spPr>
      </p:pic>
    </p:spTree>
    <p:extLst>
      <p:ext uri="{BB962C8B-B14F-4D97-AF65-F5344CB8AC3E}">
        <p14:creationId xmlns:p14="http://schemas.microsoft.com/office/powerpoint/2010/main" val="10940059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ChangeArrowheads="1"/>
          </p:cNvSpPr>
          <p:nvPr/>
        </p:nvSpPr>
        <p:spPr bwMode="auto">
          <a:xfrm>
            <a:off x="1085849" y="1411903"/>
            <a:ext cx="7985125" cy="5139869"/>
          </a:xfrm>
          <a:prstGeom prst="rect">
            <a:avLst/>
          </a:prstGeom>
          <a:solidFill>
            <a:schemeClr val="bg2"/>
          </a:solidFill>
          <a:ln w="9525">
            <a:noFill/>
            <a:miter lim="800000"/>
            <a:headEnd/>
            <a:tailEnd/>
          </a:ln>
        </p:spPr>
        <p:txBody>
          <a:bodyPr wrap="square">
            <a:spAutoFit/>
          </a:bodyPr>
          <a:lstStyle/>
          <a:p>
            <a:r>
              <a:rPr lang="fr-FR" dirty="0"/>
              <a:t>Pour décrire un réseau, il faut répondre aux questions suivantes:</a:t>
            </a:r>
          </a:p>
          <a:p>
            <a:endParaRPr lang="fr-FR" dirty="0"/>
          </a:p>
          <a:p>
            <a:pPr algn="just"/>
            <a:r>
              <a:rPr lang="fr-FR" b="1" dirty="0"/>
              <a:t>Exemple pour le « réseau informatique » :</a:t>
            </a:r>
          </a:p>
          <a:p>
            <a:pPr algn="just"/>
            <a:endParaRPr lang="fr-FR" dirty="0"/>
          </a:p>
          <a:p>
            <a:pPr algn="just">
              <a:buFontTx/>
              <a:buChar char="•"/>
            </a:pPr>
            <a:r>
              <a:rPr lang="fr-FR" dirty="0"/>
              <a:t> </a:t>
            </a:r>
            <a:r>
              <a:rPr lang="fr-FR" b="1" dirty="0">
                <a:highlight>
                  <a:srgbClr val="C6B07E"/>
                </a:highlight>
              </a:rPr>
              <a:t>Que transporte le réseau ?</a:t>
            </a:r>
          </a:p>
          <a:p>
            <a:pPr marL="800100" lvl="1" indent="-342900" algn="just">
              <a:buFont typeface="Wingdings" panose="05000000000000000000" pitchFamily="2" charset="2"/>
              <a:buChar char="Ø"/>
            </a:pPr>
            <a:r>
              <a:rPr lang="fr-FR" dirty="0"/>
              <a:t> Des informations (octets sous forme de fichiers)</a:t>
            </a:r>
          </a:p>
          <a:p>
            <a:pPr marL="800100" lvl="1" indent="-342900" algn="just">
              <a:buFont typeface="Wingdings" panose="05000000000000000000" pitchFamily="2" charset="2"/>
              <a:buChar char="Ø"/>
            </a:pPr>
            <a:endParaRPr lang="fr-FR" dirty="0"/>
          </a:p>
          <a:p>
            <a:pPr algn="just">
              <a:buFontTx/>
              <a:buChar char="•"/>
            </a:pPr>
            <a:r>
              <a:rPr lang="fr-FR" dirty="0"/>
              <a:t> </a:t>
            </a:r>
            <a:r>
              <a:rPr lang="fr-FR" b="1" dirty="0">
                <a:highlight>
                  <a:srgbClr val="C6B07E"/>
                </a:highlight>
              </a:rPr>
              <a:t>Qui assure le transport ?</a:t>
            </a:r>
          </a:p>
          <a:p>
            <a:pPr marL="800100" lvl="1" indent="-342900" algn="just">
              <a:buFont typeface="Wingdings" panose="05000000000000000000" pitchFamily="2" charset="2"/>
              <a:buChar char="Ø"/>
            </a:pPr>
            <a:r>
              <a:rPr lang="fr-FR" dirty="0"/>
              <a:t> Support physique (cuivre, fibre optique, onde radio)</a:t>
            </a:r>
          </a:p>
          <a:p>
            <a:pPr marL="800100" lvl="1" indent="-342900" algn="just">
              <a:buFont typeface="Wingdings" panose="05000000000000000000" pitchFamily="2" charset="2"/>
              <a:buChar char="Ø"/>
            </a:pPr>
            <a:endParaRPr lang="fr-FR" dirty="0"/>
          </a:p>
          <a:p>
            <a:pPr algn="just">
              <a:buFontTx/>
              <a:buChar char="•"/>
            </a:pPr>
            <a:r>
              <a:rPr lang="fr-FR" dirty="0"/>
              <a:t> </a:t>
            </a:r>
            <a:r>
              <a:rPr lang="fr-FR" b="1" dirty="0">
                <a:highlight>
                  <a:srgbClr val="C6B07E"/>
                </a:highlight>
              </a:rPr>
              <a:t>Comment le transporte-il ?</a:t>
            </a:r>
          </a:p>
          <a:p>
            <a:pPr marL="800100" lvl="1" indent="-342900" algn="just">
              <a:buFont typeface="Wingdings" panose="05000000000000000000" pitchFamily="2" charset="2"/>
              <a:buChar char="Ø"/>
            </a:pPr>
            <a:r>
              <a:rPr lang="fr-FR" dirty="0"/>
              <a:t>En utilisant des protocoles de communication.</a:t>
            </a:r>
          </a:p>
          <a:p>
            <a:pPr algn="just"/>
            <a:endParaRPr lang="fr-FR" sz="2000" dirty="0"/>
          </a:p>
          <a:p>
            <a:pPr algn="just"/>
            <a:endParaRPr lang="fr-FR" sz="2000" dirty="0"/>
          </a:p>
        </p:txBody>
      </p:sp>
      <p:sp>
        <p:nvSpPr>
          <p:cNvPr id="8196" name="Rectangle 5"/>
          <p:cNvSpPr>
            <a:spLocks noGrp="1" noChangeArrowheads="1"/>
          </p:cNvSpPr>
          <p:nvPr>
            <p:ph type="title"/>
          </p:nvPr>
        </p:nvSpPr>
        <p:spPr>
          <a:xfrm>
            <a:off x="1328736" y="188640"/>
            <a:ext cx="7499350" cy="1081088"/>
          </a:xfrm>
          <a:solidFill>
            <a:schemeClr val="bg2">
              <a:lumMod val="75000"/>
            </a:schemeClr>
          </a:solidFill>
        </p:spPr>
        <p:txBody>
          <a:bodyPr>
            <a:normAutofit fontScale="90000"/>
          </a:bodyPr>
          <a:lstStyle/>
          <a:p>
            <a:r>
              <a:rPr lang="fr-FR" dirty="0"/>
              <a:t>Questions pour décrire un réseau</a:t>
            </a:r>
          </a:p>
        </p:txBody>
      </p:sp>
      <p:sp>
        <p:nvSpPr>
          <p:cNvPr id="2" name="Espace réservé du numéro de diapositive 1">
            <a:extLst>
              <a:ext uri="{FF2B5EF4-FFF2-40B4-BE49-F238E27FC236}">
                <a16:creationId xmlns:a16="http://schemas.microsoft.com/office/drawing/2014/main" id="{54127BBD-2FB4-483D-A0AD-524710ED85A3}"/>
              </a:ext>
            </a:extLst>
          </p:cNvPr>
          <p:cNvSpPr>
            <a:spLocks noGrp="1"/>
          </p:cNvSpPr>
          <p:nvPr>
            <p:ph type="sldNum" sz="quarter" idx="4294967295"/>
          </p:nvPr>
        </p:nvSpPr>
        <p:spPr>
          <a:xfrm>
            <a:off x="8686800" y="6305550"/>
            <a:ext cx="457200" cy="476250"/>
          </a:xfrm>
        </p:spPr>
        <p:txBody>
          <a:bodyPr/>
          <a:lstStyle/>
          <a:p>
            <a:pPr>
              <a:defRPr/>
            </a:pPr>
            <a:fld id="{CBF90D94-944E-4018-94D9-97078B9D50B5}" type="slidenum">
              <a:rPr lang="fr-FR" smtClean="0"/>
              <a:pPr>
                <a:defRPr/>
              </a:pPr>
              <a:t>6</a:t>
            </a:fld>
            <a:endParaRPr lang="fr-F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259632" y="260648"/>
            <a:ext cx="7499350" cy="792088"/>
          </a:xfrm>
          <a:solidFill>
            <a:schemeClr val="bg2">
              <a:lumMod val="75000"/>
            </a:schemeClr>
          </a:solidFill>
        </p:spPr>
        <p:txBody>
          <a:bodyPr anchor="t">
            <a:normAutofit fontScale="90000"/>
          </a:bodyPr>
          <a:lstStyle/>
          <a:p>
            <a:r>
              <a:rPr lang="fr-FR" dirty="0"/>
              <a:t> </a:t>
            </a:r>
            <a:r>
              <a:rPr lang="fr-FR" sz="4000" dirty="0"/>
              <a:t>Topologie d’un réseau informatique:</a:t>
            </a:r>
          </a:p>
        </p:txBody>
      </p:sp>
      <p:sp>
        <p:nvSpPr>
          <p:cNvPr id="3" name="Espace réservé du numéro de diapositive 2">
            <a:extLst>
              <a:ext uri="{FF2B5EF4-FFF2-40B4-BE49-F238E27FC236}">
                <a16:creationId xmlns:a16="http://schemas.microsoft.com/office/drawing/2014/main" id="{90709B99-936C-4B00-A8DB-BFC86F576953}"/>
              </a:ext>
            </a:extLst>
          </p:cNvPr>
          <p:cNvSpPr>
            <a:spLocks noGrp="1"/>
          </p:cNvSpPr>
          <p:nvPr>
            <p:ph type="sldNum" sz="quarter" idx="4294967295"/>
          </p:nvPr>
        </p:nvSpPr>
        <p:spPr>
          <a:xfrm>
            <a:off x="8686800" y="6305550"/>
            <a:ext cx="457200" cy="476250"/>
          </a:xfrm>
        </p:spPr>
        <p:txBody>
          <a:bodyPr/>
          <a:lstStyle/>
          <a:p>
            <a:pPr>
              <a:defRPr/>
            </a:pPr>
            <a:fld id="{59EB3592-E4B7-4B42-9B17-519130A2B0CE}" type="slidenum">
              <a:rPr lang="fr-FR" smtClean="0"/>
              <a:pPr>
                <a:defRPr/>
              </a:pPr>
              <a:t>7</a:t>
            </a:fld>
            <a:endParaRPr lang="fr-FR"/>
          </a:p>
        </p:txBody>
      </p:sp>
      <p:sp>
        <p:nvSpPr>
          <p:cNvPr id="14339" name="Rectangle 3"/>
          <p:cNvSpPr>
            <a:spLocks noChangeArrowheads="1"/>
          </p:cNvSpPr>
          <p:nvPr/>
        </p:nvSpPr>
        <p:spPr bwMode="auto">
          <a:xfrm>
            <a:off x="1187624" y="1772816"/>
            <a:ext cx="7845425" cy="4154984"/>
          </a:xfrm>
          <a:prstGeom prst="rect">
            <a:avLst/>
          </a:prstGeom>
          <a:solidFill>
            <a:schemeClr val="bg2"/>
          </a:solidFill>
          <a:ln w="9525">
            <a:noFill/>
            <a:miter lim="800000"/>
            <a:headEnd/>
            <a:tailEnd/>
          </a:ln>
        </p:spPr>
        <p:txBody>
          <a:bodyPr>
            <a:spAutoFit/>
          </a:bodyPr>
          <a:lstStyle/>
          <a:p>
            <a:pPr marL="342900" indent="-342900">
              <a:buFont typeface="Arial" panose="020B0604020202020204" pitchFamily="34" charset="0"/>
              <a:buChar char="•"/>
            </a:pPr>
            <a:r>
              <a:rPr lang="fr-FR" dirty="0">
                <a:solidFill>
                  <a:srgbClr val="000000"/>
                </a:solidFill>
                <a:latin typeface="Calibri" panose="020F0502020204030204" pitchFamily="34" charset="0"/>
                <a:cs typeface="Calibri" panose="020F0502020204030204" pitchFamily="34" charset="0"/>
              </a:rPr>
              <a:t>Un réseau est un groupe d’ordinateurs reliés les uns aux autres (par un support de transmission), permettant aux utilisateurs de communiquer et d’échanger des informations.</a:t>
            </a:r>
          </a:p>
          <a:p>
            <a:pPr marL="342900" indent="-342900">
              <a:buFont typeface="Arial" panose="020B0604020202020204" pitchFamily="34" charset="0"/>
              <a:buChar char="•"/>
            </a:pPr>
            <a:endParaRPr lang="fr-FR" dirty="0">
              <a:solidFill>
                <a:srgbClr val="000000"/>
              </a:solidFill>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fr-FR" dirty="0">
                <a:latin typeface="Calibri" panose="020F0502020204030204" pitchFamily="34" charset="0"/>
                <a:cs typeface="Calibri" panose="020F0502020204030204" pitchFamily="34" charset="0"/>
              </a:rPr>
              <a:t> </a:t>
            </a:r>
            <a:r>
              <a:rPr lang="fr-FR" dirty="0">
                <a:highlight>
                  <a:srgbClr val="C6B07E"/>
                </a:highlight>
                <a:latin typeface="Calibri" panose="020F0502020204030204" pitchFamily="34" charset="0"/>
                <a:cs typeface="Calibri" panose="020F0502020204030204" pitchFamily="34" charset="0"/>
              </a:rPr>
              <a:t>L'arrangement de ces éléments est appelé </a:t>
            </a:r>
            <a:r>
              <a:rPr lang="fr-FR" b="1" i="1" dirty="0">
                <a:highlight>
                  <a:srgbClr val="C6B07E"/>
                </a:highlight>
                <a:latin typeface="Calibri" panose="020F0502020204030204" pitchFamily="34" charset="0"/>
                <a:cs typeface="Calibri" panose="020F0502020204030204" pitchFamily="34" charset="0"/>
              </a:rPr>
              <a:t>topologie </a:t>
            </a:r>
            <a:r>
              <a:rPr lang="fr-FR" dirty="0">
                <a:latin typeface="Calibri" panose="020F0502020204030204" pitchFamily="34" charset="0"/>
                <a:cs typeface="Calibri" panose="020F0502020204030204" pitchFamily="34" charset="0"/>
              </a:rPr>
              <a:t>. </a:t>
            </a:r>
          </a:p>
          <a:p>
            <a:pPr marL="342900" indent="-342900">
              <a:buFont typeface="Arial" panose="020B0604020202020204" pitchFamily="34" charset="0"/>
              <a:buChar char="•"/>
            </a:pPr>
            <a:endParaRPr lang="fr-FR" dirty="0">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fr-FR" dirty="0">
                <a:latin typeface="Calibri" panose="020F0502020204030204" pitchFamily="34" charset="0"/>
                <a:cs typeface="Calibri" panose="020F0502020204030204" pitchFamily="34" charset="0"/>
              </a:rPr>
              <a:t>On Distingue deux types de Topologie: </a:t>
            </a:r>
          </a:p>
          <a:p>
            <a:pPr marL="800100" lvl="1" indent="-342900">
              <a:buFont typeface="Wingdings" panose="05000000000000000000" pitchFamily="2" charset="2"/>
              <a:buChar char="Ø"/>
            </a:pPr>
            <a:r>
              <a:rPr lang="fr-FR" b="1" dirty="0">
                <a:latin typeface="Calibri" panose="020F0502020204030204" pitchFamily="34" charset="0"/>
                <a:cs typeface="Calibri" panose="020F0502020204030204" pitchFamily="34" charset="0"/>
              </a:rPr>
              <a:t>Topologie Physique</a:t>
            </a:r>
          </a:p>
          <a:p>
            <a:pPr marL="800100" lvl="1" indent="-342900">
              <a:buFont typeface="Wingdings" panose="05000000000000000000" pitchFamily="2" charset="2"/>
              <a:buChar char="Ø"/>
            </a:pPr>
            <a:r>
              <a:rPr lang="fr-FR" b="1" dirty="0">
                <a:latin typeface="Calibri" panose="020F0502020204030204" pitchFamily="34" charset="0"/>
                <a:cs typeface="Calibri" panose="020F0502020204030204" pitchFamily="34" charset="0"/>
              </a:rPr>
              <a:t>Topologie Logique</a:t>
            </a:r>
          </a:p>
          <a:p>
            <a:r>
              <a:rPr lang="fr-FR" dirty="0">
                <a:solidFill>
                  <a:srgbClr val="000000"/>
                </a:solidFill>
                <a:latin typeface="Calibri" panose="020F0502020204030204" pitchFamily="34" charset="0"/>
                <a:cs typeface="Calibri" panose="020F0502020204030204" pitchFamily="34" charset="0"/>
              </a:rPr>
              <a:t>	</a:t>
            </a:r>
            <a:endParaRPr lang="fr-F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61B1E25-6C15-A751-606F-DC1F5B2142FD}"/>
              </a:ext>
            </a:extLst>
          </p:cNvPr>
          <p:cNvSpPr>
            <a:spLocks noGrp="1"/>
          </p:cNvSpPr>
          <p:nvPr>
            <p:ph type="title"/>
          </p:nvPr>
        </p:nvSpPr>
        <p:spPr/>
        <p:txBody>
          <a:bodyPr/>
          <a:lstStyle/>
          <a:p>
            <a:r>
              <a:rPr lang="fr-FR" dirty="0"/>
              <a:t>Topologie Physique</a:t>
            </a:r>
          </a:p>
        </p:txBody>
      </p:sp>
      <p:pic>
        <p:nvPicPr>
          <p:cNvPr id="4" name="Image 3">
            <a:extLst>
              <a:ext uri="{FF2B5EF4-FFF2-40B4-BE49-F238E27FC236}">
                <a16:creationId xmlns:a16="http://schemas.microsoft.com/office/drawing/2014/main" id="{5BE79F27-A97E-515E-569D-C26A178055E4}"/>
              </a:ext>
            </a:extLst>
          </p:cNvPr>
          <p:cNvPicPr>
            <a:picLocks noChangeAspect="1"/>
          </p:cNvPicPr>
          <p:nvPr/>
        </p:nvPicPr>
        <p:blipFill>
          <a:blip r:embed="rId2"/>
          <a:stretch>
            <a:fillRect/>
          </a:stretch>
        </p:blipFill>
        <p:spPr>
          <a:xfrm>
            <a:off x="1331640" y="2276872"/>
            <a:ext cx="6840760" cy="4200615"/>
          </a:xfrm>
          <a:prstGeom prst="rect">
            <a:avLst/>
          </a:prstGeom>
        </p:spPr>
      </p:pic>
      <p:sp>
        <p:nvSpPr>
          <p:cNvPr id="6" name="ZoneTexte 5">
            <a:extLst>
              <a:ext uri="{FF2B5EF4-FFF2-40B4-BE49-F238E27FC236}">
                <a16:creationId xmlns:a16="http://schemas.microsoft.com/office/drawing/2014/main" id="{752A91B4-BC0A-4DB5-F537-42FA160FD5CF}"/>
              </a:ext>
            </a:extLst>
          </p:cNvPr>
          <p:cNvSpPr txBox="1"/>
          <p:nvPr/>
        </p:nvSpPr>
        <p:spPr>
          <a:xfrm>
            <a:off x="5508104" y="1556792"/>
            <a:ext cx="2664296" cy="1477328"/>
          </a:xfrm>
          <a:prstGeom prst="rect">
            <a:avLst/>
          </a:prstGeom>
          <a:solidFill>
            <a:srgbClr val="A9E9CF"/>
          </a:solidFill>
        </p:spPr>
        <p:txBody>
          <a:bodyPr wrap="square">
            <a:spAutoFit/>
          </a:bodyPr>
          <a:lstStyle/>
          <a:p>
            <a:r>
              <a:rPr lang="fr-FR" sz="1800" dirty="0"/>
              <a:t>La topologie physique représente l'installation du </a:t>
            </a:r>
          </a:p>
          <a:p>
            <a:r>
              <a:rPr lang="fr-FR" sz="1800" dirty="0"/>
              <a:t>câblage et l'emplacement </a:t>
            </a:r>
          </a:p>
          <a:p>
            <a:r>
              <a:rPr lang="fr-FR" sz="1800" dirty="0"/>
              <a:t>des périphériques réseau </a:t>
            </a:r>
          </a:p>
          <a:p>
            <a:r>
              <a:rPr lang="fr-FR" sz="1800" dirty="0"/>
              <a:t>qui connectent les hôtes. </a:t>
            </a:r>
          </a:p>
        </p:txBody>
      </p:sp>
    </p:spTree>
    <p:extLst>
      <p:ext uri="{BB962C8B-B14F-4D97-AF65-F5344CB8AC3E}">
        <p14:creationId xmlns:p14="http://schemas.microsoft.com/office/powerpoint/2010/main" val="18427032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5B83C04-BEDE-BE38-00D3-BCD32651C507}"/>
              </a:ext>
            </a:extLst>
          </p:cNvPr>
          <p:cNvSpPr>
            <a:spLocks noGrp="1"/>
          </p:cNvSpPr>
          <p:nvPr>
            <p:ph type="title"/>
          </p:nvPr>
        </p:nvSpPr>
        <p:spPr/>
        <p:txBody>
          <a:bodyPr/>
          <a:lstStyle/>
          <a:p>
            <a:r>
              <a:rPr lang="fr-FR" dirty="0"/>
              <a:t>Topologie Logique</a:t>
            </a:r>
          </a:p>
        </p:txBody>
      </p:sp>
      <p:pic>
        <p:nvPicPr>
          <p:cNvPr id="4" name="Image 3">
            <a:extLst>
              <a:ext uri="{FF2B5EF4-FFF2-40B4-BE49-F238E27FC236}">
                <a16:creationId xmlns:a16="http://schemas.microsoft.com/office/drawing/2014/main" id="{9B5B99C3-C2D3-8557-7F99-6E820762CA7C}"/>
              </a:ext>
            </a:extLst>
          </p:cNvPr>
          <p:cNvPicPr>
            <a:picLocks noChangeAspect="1"/>
          </p:cNvPicPr>
          <p:nvPr/>
        </p:nvPicPr>
        <p:blipFill>
          <a:blip r:embed="rId2"/>
          <a:stretch>
            <a:fillRect/>
          </a:stretch>
        </p:blipFill>
        <p:spPr>
          <a:xfrm>
            <a:off x="1253916" y="1988840"/>
            <a:ext cx="6530106" cy="4148112"/>
          </a:xfrm>
          <a:prstGeom prst="rect">
            <a:avLst/>
          </a:prstGeom>
        </p:spPr>
      </p:pic>
      <p:sp>
        <p:nvSpPr>
          <p:cNvPr id="8" name="ZoneTexte 7">
            <a:extLst>
              <a:ext uri="{FF2B5EF4-FFF2-40B4-BE49-F238E27FC236}">
                <a16:creationId xmlns:a16="http://schemas.microsoft.com/office/drawing/2014/main" id="{EC80EA2F-08F1-6E81-454F-553AFFEDA908}"/>
              </a:ext>
            </a:extLst>
          </p:cNvPr>
          <p:cNvSpPr txBox="1"/>
          <p:nvPr/>
        </p:nvSpPr>
        <p:spPr>
          <a:xfrm>
            <a:off x="5868144" y="1484784"/>
            <a:ext cx="3168352" cy="2031325"/>
          </a:xfrm>
          <a:prstGeom prst="rect">
            <a:avLst/>
          </a:prstGeom>
          <a:solidFill>
            <a:srgbClr val="A9E9CF"/>
          </a:solidFill>
        </p:spPr>
        <p:txBody>
          <a:bodyPr wrap="square">
            <a:spAutoFit/>
          </a:bodyPr>
          <a:lstStyle/>
          <a:p>
            <a:r>
              <a:rPr lang="fr-FR" sz="1800" dirty="0"/>
              <a:t>La  topologie logique représente les hôtes selon la façon dont ils utilisent le réseau, quel que soit leur emplacement physique: </a:t>
            </a:r>
          </a:p>
          <a:p>
            <a:r>
              <a:rPr lang="fr-FR" sz="1800" dirty="0"/>
              <a:t>Les noms, les adresses, les </a:t>
            </a:r>
          </a:p>
          <a:p>
            <a:r>
              <a:rPr lang="fr-FR" sz="1800" dirty="0"/>
              <a:t>informations de groupe et les</a:t>
            </a:r>
          </a:p>
          <a:p>
            <a:r>
              <a:rPr lang="fr-FR" sz="1800" dirty="0"/>
              <a:t>applications des hôtes .</a:t>
            </a:r>
          </a:p>
        </p:txBody>
      </p:sp>
    </p:spTree>
    <p:extLst>
      <p:ext uri="{BB962C8B-B14F-4D97-AF65-F5344CB8AC3E}">
        <p14:creationId xmlns:p14="http://schemas.microsoft.com/office/powerpoint/2010/main" val="21270844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C291C5A-9E0E-6FDE-1EE8-76EB246C66F8}"/>
              </a:ext>
            </a:extLst>
          </p:cNvPr>
          <p:cNvSpPr>
            <a:spLocks noGrp="1"/>
          </p:cNvSpPr>
          <p:nvPr>
            <p:ph type="title"/>
          </p:nvPr>
        </p:nvSpPr>
        <p:spPr>
          <a:xfrm>
            <a:off x="1259632" y="260648"/>
            <a:ext cx="7499350" cy="720080"/>
          </a:xfrm>
        </p:spPr>
        <p:txBody>
          <a:bodyPr>
            <a:normAutofit fontScale="90000"/>
          </a:bodyPr>
          <a:lstStyle/>
          <a:p>
            <a:r>
              <a:rPr lang="fr-FR" b="1" i="1" dirty="0">
                <a:latin typeface="Calibri" panose="020F0502020204030204" pitchFamily="34" charset="0"/>
                <a:cs typeface="Calibri" panose="020F0502020204030204" pitchFamily="34" charset="0"/>
              </a:rPr>
              <a:t>Caractéristiques des Topologies</a:t>
            </a:r>
            <a:endParaRPr lang="fr-FR" dirty="0"/>
          </a:p>
        </p:txBody>
      </p:sp>
      <p:sp>
        <p:nvSpPr>
          <p:cNvPr id="4" name="ZoneTexte 3">
            <a:extLst>
              <a:ext uri="{FF2B5EF4-FFF2-40B4-BE49-F238E27FC236}">
                <a16:creationId xmlns:a16="http://schemas.microsoft.com/office/drawing/2014/main" id="{21D9D526-AEB8-5383-1C59-DAAE5932190E}"/>
              </a:ext>
            </a:extLst>
          </p:cNvPr>
          <p:cNvSpPr txBox="1"/>
          <p:nvPr/>
        </p:nvSpPr>
        <p:spPr>
          <a:xfrm>
            <a:off x="1403648" y="1628800"/>
            <a:ext cx="7200800" cy="3416320"/>
          </a:xfrm>
          <a:prstGeom prst="rect">
            <a:avLst/>
          </a:prstGeom>
          <a:noFill/>
        </p:spPr>
        <p:txBody>
          <a:bodyPr wrap="square">
            <a:spAutoFit/>
          </a:bodyPr>
          <a:lstStyle/>
          <a:p>
            <a:pPr algn="l"/>
            <a:r>
              <a:rPr lang="fr-FR" b="0" i="0" u="none" strike="noStrike" baseline="0" dirty="0">
                <a:solidFill>
                  <a:srgbClr val="000000"/>
                </a:solidFill>
                <a:latin typeface="Calibri" panose="020F0502020204030204" pitchFamily="34" charset="0"/>
                <a:cs typeface="Calibri" panose="020F0502020204030204" pitchFamily="34" charset="0"/>
              </a:rPr>
              <a:t>Chaque topologie présente des caractéristiques et performances différentes.</a:t>
            </a:r>
          </a:p>
          <a:p>
            <a:pPr marL="342900" indent="-342900" algn="l">
              <a:buFont typeface="Wingdings" panose="05000000000000000000" pitchFamily="2" charset="2"/>
              <a:buChar char="Ø"/>
            </a:pPr>
            <a:r>
              <a:rPr lang="fr-FR" b="0" i="0" u="none" strike="noStrike" baseline="0" dirty="0">
                <a:solidFill>
                  <a:srgbClr val="FF9A00"/>
                </a:solidFill>
                <a:latin typeface="Calibri" panose="020F0502020204030204" pitchFamily="34" charset="0"/>
                <a:cs typeface="Calibri" panose="020F0502020204030204" pitchFamily="34" charset="0"/>
              </a:rPr>
              <a:t> </a:t>
            </a:r>
            <a:r>
              <a:rPr lang="fr-FR" b="0" i="0" u="none" strike="noStrike" baseline="0" dirty="0">
                <a:solidFill>
                  <a:srgbClr val="000000"/>
                </a:solidFill>
                <a:latin typeface="Calibri" panose="020F0502020204030204" pitchFamily="34" charset="0"/>
                <a:cs typeface="Calibri" panose="020F0502020204030204" pitchFamily="34" charset="0"/>
              </a:rPr>
              <a:t>Débits.</a:t>
            </a:r>
          </a:p>
          <a:p>
            <a:pPr marL="342900" indent="-342900" algn="l">
              <a:buFont typeface="Wingdings" panose="05000000000000000000" pitchFamily="2" charset="2"/>
              <a:buChar char="Ø"/>
            </a:pPr>
            <a:r>
              <a:rPr lang="fr-FR" b="0" i="0" u="none" strike="noStrike" baseline="0" dirty="0">
                <a:solidFill>
                  <a:srgbClr val="FF9A00"/>
                </a:solidFill>
                <a:latin typeface="Calibri" panose="020F0502020204030204" pitchFamily="34" charset="0"/>
                <a:cs typeface="Calibri" panose="020F0502020204030204" pitchFamily="34" charset="0"/>
              </a:rPr>
              <a:t> </a:t>
            </a:r>
            <a:r>
              <a:rPr lang="fr-FR" b="0" i="0" u="none" strike="noStrike" baseline="0" dirty="0">
                <a:solidFill>
                  <a:srgbClr val="000000"/>
                </a:solidFill>
                <a:latin typeface="Calibri" panose="020F0502020204030204" pitchFamily="34" charset="0"/>
                <a:cs typeface="Calibri" panose="020F0502020204030204" pitchFamily="34" charset="0"/>
              </a:rPr>
              <a:t>Nombre maximum d'utilisateurs.</a:t>
            </a:r>
          </a:p>
          <a:p>
            <a:pPr marL="342900" indent="-342900" algn="l">
              <a:buFont typeface="Wingdings" panose="05000000000000000000" pitchFamily="2" charset="2"/>
              <a:buChar char="Ø"/>
            </a:pPr>
            <a:r>
              <a:rPr lang="fr-FR" b="0" i="0" u="none" strike="noStrike" baseline="0" dirty="0">
                <a:solidFill>
                  <a:srgbClr val="000000"/>
                </a:solidFill>
                <a:latin typeface="Calibri" panose="020F0502020204030204" pitchFamily="34" charset="0"/>
                <a:cs typeface="Calibri" panose="020F0502020204030204" pitchFamily="34" charset="0"/>
              </a:rPr>
              <a:t>Temps d'accès.</a:t>
            </a:r>
          </a:p>
          <a:p>
            <a:pPr marL="342900" indent="-342900" algn="l">
              <a:buFont typeface="Wingdings" panose="05000000000000000000" pitchFamily="2" charset="2"/>
              <a:buChar char="Ø"/>
            </a:pPr>
            <a:r>
              <a:rPr lang="fr-FR" b="0" i="0" u="none" strike="noStrike" baseline="0" dirty="0">
                <a:solidFill>
                  <a:srgbClr val="FF9A00"/>
                </a:solidFill>
                <a:latin typeface="Calibri" panose="020F0502020204030204" pitchFamily="34" charset="0"/>
                <a:cs typeface="Calibri" panose="020F0502020204030204" pitchFamily="34" charset="0"/>
              </a:rPr>
              <a:t> </a:t>
            </a:r>
            <a:r>
              <a:rPr lang="fr-FR" b="0" i="0" u="none" strike="noStrike" baseline="0" dirty="0">
                <a:solidFill>
                  <a:srgbClr val="000000"/>
                </a:solidFill>
                <a:latin typeface="Calibri" panose="020F0502020204030204" pitchFamily="34" charset="0"/>
                <a:cs typeface="Calibri" panose="020F0502020204030204" pitchFamily="34" charset="0"/>
              </a:rPr>
              <a:t>Tolérance aux pannes.</a:t>
            </a:r>
          </a:p>
          <a:p>
            <a:pPr marL="342900" indent="-342900" algn="l">
              <a:buFont typeface="Wingdings" panose="05000000000000000000" pitchFamily="2" charset="2"/>
              <a:buChar char="Ø"/>
            </a:pPr>
            <a:r>
              <a:rPr lang="fr-FR" b="0" i="0" u="none" strike="noStrike" baseline="0" dirty="0">
                <a:solidFill>
                  <a:srgbClr val="FF9A00"/>
                </a:solidFill>
                <a:latin typeface="Calibri" panose="020F0502020204030204" pitchFamily="34" charset="0"/>
                <a:cs typeface="Calibri" panose="020F0502020204030204" pitchFamily="34" charset="0"/>
              </a:rPr>
              <a:t> </a:t>
            </a:r>
            <a:r>
              <a:rPr lang="fr-FR" b="0" i="0" u="none" strike="noStrike" baseline="0" dirty="0">
                <a:solidFill>
                  <a:srgbClr val="000000"/>
                </a:solidFill>
                <a:latin typeface="Calibri" panose="020F0502020204030204" pitchFamily="34" charset="0"/>
                <a:cs typeface="Calibri" panose="020F0502020204030204" pitchFamily="34" charset="0"/>
              </a:rPr>
              <a:t>Longueur de câblage.</a:t>
            </a:r>
          </a:p>
          <a:p>
            <a:pPr marL="342900" indent="-342900" algn="l">
              <a:buFont typeface="Wingdings" panose="05000000000000000000" pitchFamily="2" charset="2"/>
              <a:buChar char="Ø"/>
            </a:pPr>
            <a:r>
              <a:rPr lang="fr-FR" b="0" i="0" u="none" strike="noStrike" baseline="0" dirty="0">
                <a:solidFill>
                  <a:srgbClr val="FF9A00"/>
                </a:solidFill>
                <a:latin typeface="Calibri" panose="020F0502020204030204" pitchFamily="34" charset="0"/>
                <a:cs typeface="Calibri" panose="020F0502020204030204" pitchFamily="34" charset="0"/>
              </a:rPr>
              <a:t> </a:t>
            </a:r>
            <a:r>
              <a:rPr lang="fr-FR" b="0" i="0" u="none" strike="noStrike" baseline="0" dirty="0">
                <a:solidFill>
                  <a:srgbClr val="000000"/>
                </a:solidFill>
                <a:latin typeface="Calibri" panose="020F0502020204030204" pitchFamily="34" charset="0"/>
                <a:cs typeface="Calibri" panose="020F0502020204030204" pitchFamily="34" charset="0"/>
              </a:rPr>
              <a:t>Types d'applications.</a:t>
            </a:r>
          </a:p>
          <a:p>
            <a:pPr marL="342900" indent="-342900" algn="l">
              <a:buFont typeface="Wingdings" panose="05000000000000000000" pitchFamily="2" charset="2"/>
              <a:buChar char="Ø"/>
            </a:pPr>
            <a:r>
              <a:rPr lang="fr-FR" b="0" i="0" u="none" strike="noStrike" baseline="0" dirty="0">
                <a:solidFill>
                  <a:srgbClr val="FF9A00"/>
                </a:solidFill>
                <a:latin typeface="Calibri" panose="020F0502020204030204" pitchFamily="34" charset="0"/>
                <a:cs typeface="Calibri" panose="020F0502020204030204" pitchFamily="34" charset="0"/>
              </a:rPr>
              <a:t> </a:t>
            </a:r>
            <a:r>
              <a:rPr lang="fr-FR" b="0" i="0" u="none" strike="noStrike" baseline="0" dirty="0">
                <a:solidFill>
                  <a:srgbClr val="000000"/>
                </a:solidFill>
                <a:latin typeface="Calibri" panose="020F0502020204030204" pitchFamily="34" charset="0"/>
                <a:cs typeface="Calibri" panose="020F0502020204030204" pitchFamily="34" charset="0"/>
              </a:rPr>
              <a:t>...</a:t>
            </a:r>
            <a:endParaRPr lang="fr-FR" dirty="0"/>
          </a:p>
        </p:txBody>
      </p:sp>
    </p:spTree>
    <p:extLst>
      <p:ext uri="{BB962C8B-B14F-4D97-AF65-F5344CB8AC3E}">
        <p14:creationId xmlns:p14="http://schemas.microsoft.com/office/powerpoint/2010/main" val="20530345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79C245A-7947-4FE2-B6D2-FE705EE21685}"/>
              </a:ext>
            </a:extLst>
          </p:cNvPr>
          <p:cNvSpPr>
            <a:spLocks noGrp="1"/>
          </p:cNvSpPr>
          <p:nvPr>
            <p:ph type="title"/>
          </p:nvPr>
        </p:nvSpPr>
        <p:spPr>
          <a:xfrm>
            <a:off x="1115616" y="260648"/>
            <a:ext cx="7643366" cy="1080120"/>
          </a:xfrm>
          <a:solidFill>
            <a:schemeClr val="bg2">
              <a:lumMod val="75000"/>
            </a:schemeClr>
          </a:solidFill>
        </p:spPr>
        <p:txBody>
          <a:bodyPr>
            <a:normAutofit/>
          </a:bodyPr>
          <a:lstStyle/>
          <a:p>
            <a:r>
              <a:rPr lang="fr-FR" sz="3200" dirty="0"/>
              <a:t>Principaux niveaux de classification utilisés</a:t>
            </a:r>
          </a:p>
        </p:txBody>
      </p:sp>
      <p:sp>
        <p:nvSpPr>
          <p:cNvPr id="4" name="Espace réservé du numéro de diapositive 3">
            <a:extLst>
              <a:ext uri="{FF2B5EF4-FFF2-40B4-BE49-F238E27FC236}">
                <a16:creationId xmlns:a16="http://schemas.microsoft.com/office/drawing/2014/main" id="{0064F259-E872-4CB5-BE2A-D98F1F5DA6FD}"/>
              </a:ext>
            </a:extLst>
          </p:cNvPr>
          <p:cNvSpPr>
            <a:spLocks noGrp="1"/>
          </p:cNvSpPr>
          <p:nvPr>
            <p:ph type="sldNum" sz="quarter" idx="4294967295"/>
          </p:nvPr>
        </p:nvSpPr>
        <p:spPr>
          <a:xfrm>
            <a:off x="8686800" y="6305550"/>
            <a:ext cx="457200" cy="476250"/>
          </a:xfrm>
        </p:spPr>
        <p:txBody>
          <a:bodyPr/>
          <a:lstStyle/>
          <a:p>
            <a:pPr>
              <a:defRPr/>
            </a:pPr>
            <a:fld id="{59EB3592-E4B7-4B42-9B17-519130A2B0CE}" type="slidenum">
              <a:rPr lang="fr-FR" smtClean="0"/>
              <a:pPr>
                <a:defRPr/>
              </a:pPr>
              <a:t>11</a:t>
            </a:fld>
            <a:endParaRPr lang="fr-FR"/>
          </a:p>
        </p:txBody>
      </p:sp>
      <p:sp>
        <p:nvSpPr>
          <p:cNvPr id="8" name="ZoneTexte 7">
            <a:extLst>
              <a:ext uri="{FF2B5EF4-FFF2-40B4-BE49-F238E27FC236}">
                <a16:creationId xmlns:a16="http://schemas.microsoft.com/office/drawing/2014/main" id="{56BAD2DE-33BE-4017-B365-F542E5092B20}"/>
              </a:ext>
            </a:extLst>
          </p:cNvPr>
          <p:cNvSpPr txBox="1"/>
          <p:nvPr/>
        </p:nvSpPr>
        <p:spPr>
          <a:xfrm>
            <a:off x="1259631" y="1628800"/>
            <a:ext cx="7811343" cy="5262979"/>
          </a:xfrm>
          <a:prstGeom prst="rect">
            <a:avLst/>
          </a:prstGeom>
          <a:solidFill>
            <a:schemeClr val="bg2"/>
          </a:solidFill>
        </p:spPr>
        <p:txBody>
          <a:bodyPr wrap="square">
            <a:spAutoFit/>
          </a:bodyPr>
          <a:lstStyle/>
          <a:p>
            <a:pPr marL="342900" indent="-342900">
              <a:buFont typeface="Arial" panose="020B0604020202020204" pitchFamily="34" charset="0"/>
              <a:buChar char="•"/>
            </a:pPr>
            <a:r>
              <a:rPr lang="fr-FR" dirty="0">
                <a:solidFill>
                  <a:srgbClr val="000000"/>
                </a:solidFill>
                <a:latin typeface="Calibri" panose="020F0502020204030204" pitchFamily="34" charset="0"/>
                <a:cs typeface="Calibri" panose="020F0502020204030204" pitchFamily="34" charset="0"/>
              </a:rPr>
              <a:t>Classification par le type de topologie</a:t>
            </a:r>
            <a:endParaRPr lang="fr-FR" sz="2400" b="0" i="0" u="none" strike="noStrike" baseline="0" dirty="0">
              <a:solidFill>
                <a:srgbClr val="FF9A00"/>
              </a:solidFill>
              <a:latin typeface="Calibri" panose="020F0502020204030204" pitchFamily="34" charset="0"/>
              <a:cs typeface="Calibri" panose="020F0502020204030204" pitchFamily="34" charset="0"/>
            </a:endParaRPr>
          </a:p>
          <a:p>
            <a:pPr marL="342900" indent="-342900" algn="l">
              <a:buFont typeface="Arial" panose="020B0604020202020204" pitchFamily="34" charset="0"/>
              <a:buChar char="•"/>
            </a:pPr>
            <a:r>
              <a:rPr lang="fr-FR" sz="2400" b="0" i="0" u="none" strike="noStrike" baseline="0" dirty="0">
                <a:solidFill>
                  <a:srgbClr val="000000"/>
                </a:solidFill>
                <a:latin typeface="Calibri" panose="020F0502020204030204" pitchFamily="34" charset="0"/>
                <a:cs typeface="Calibri" panose="020F0502020204030204" pitchFamily="34" charset="0"/>
              </a:rPr>
              <a:t>Classification par la taille du réseau</a:t>
            </a:r>
          </a:p>
          <a:p>
            <a:pPr marL="342900" indent="-342900" algn="l">
              <a:buFont typeface="Arial" panose="020B0604020202020204" pitchFamily="34" charset="0"/>
              <a:buChar char="•"/>
            </a:pPr>
            <a:r>
              <a:rPr lang="fr-FR" sz="2400" b="0" i="0" u="none" strike="noStrike" baseline="0" dirty="0">
                <a:solidFill>
                  <a:srgbClr val="000000"/>
                </a:solidFill>
                <a:latin typeface="Calibri" panose="020F0502020204030204" pitchFamily="34" charset="0"/>
                <a:cs typeface="Calibri" panose="020F0502020204030204" pitchFamily="34" charset="0"/>
              </a:rPr>
              <a:t>Classification par le débit du réseau</a:t>
            </a:r>
          </a:p>
          <a:p>
            <a:pPr algn="l"/>
            <a:r>
              <a:rPr lang="fr-FR" sz="2400" b="0" i="0" u="none" strike="noStrike" baseline="0" dirty="0">
                <a:solidFill>
                  <a:srgbClr val="FF9A00"/>
                </a:solidFill>
                <a:latin typeface="Wingdings" panose="05000000000000000000" pitchFamily="2" charset="2"/>
              </a:rPr>
              <a:t> </a:t>
            </a:r>
          </a:p>
          <a:p>
            <a:pPr algn="l"/>
            <a:r>
              <a:rPr lang="fr-FR" b="1" i="0" u="none" strike="noStrike" baseline="0" dirty="0">
                <a:solidFill>
                  <a:srgbClr val="000000"/>
                </a:solidFill>
                <a:highlight>
                  <a:srgbClr val="C6B07E"/>
                </a:highlight>
                <a:latin typeface="Calibri" panose="020F0502020204030204" pitchFamily="34" charset="0"/>
                <a:cs typeface="Calibri" panose="020F0502020204030204" pitchFamily="34" charset="0"/>
              </a:rPr>
              <a:t>Classification par le type de topologie</a:t>
            </a:r>
          </a:p>
          <a:p>
            <a:pPr algn="l"/>
            <a:r>
              <a:rPr lang="fr-FR" b="0" i="0" u="none" strike="noStrike" baseline="0" dirty="0">
                <a:solidFill>
                  <a:srgbClr val="000000"/>
                </a:solidFill>
                <a:latin typeface="Calibri" panose="020F0502020204030204" pitchFamily="34" charset="0"/>
                <a:cs typeface="Calibri" panose="020F0502020204030204" pitchFamily="34" charset="0"/>
              </a:rPr>
              <a:t>Il existe des multiples de </a:t>
            </a:r>
            <a:r>
              <a:rPr lang="fr-FR" dirty="0">
                <a:solidFill>
                  <a:srgbClr val="000000"/>
                </a:solidFill>
                <a:latin typeface="Calibri" panose="020F0502020204030204" pitchFamily="34" charset="0"/>
                <a:cs typeface="Calibri" panose="020F0502020204030204" pitchFamily="34" charset="0"/>
              </a:rPr>
              <a:t>t</a:t>
            </a:r>
            <a:r>
              <a:rPr lang="fr-FR" b="0" i="0" u="none" strike="noStrike" baseline="0" dirty="0">
                <a:solidFill>
                  <a:srgbClr val="000000"/>
                </a:solidFill>
                <a:latin typeface="Calibri" panose="020F0502020204030204" pitchFamily="34" charset="0"/>
                <a:cs typeface="Calibri" panose="020F0502020204030204" pitchFamily="34" charset="0"/>
              </a:rPr>
              <a:t>opologies :</a:t>
            </a:r>
          </a:p>
          <a:p>
            <a:pPr algn="l"/>
            <a:endParaRPr lang="fr-FR" b="0" i="0" u="none" strike="noStrike" baseline="0" dirty="0">
              <a:solidFill>
                <a:srgbClr val="000000"/>
              </a:solidFill>
              <a:latin typeface="Calibri" panose="020F0502020204030204" pitchFamily="34" charset="0"/>
              <a:cs typeface="Calibri" panose="020F0502020204030204" pitchFamily="34" charset="0"/>
            </a:endParaRPr>
          </a:p>
          <a:p>
            <a:pPr marL="342900" indent="-342900" algn="l">
              <a:buFont typeface="Arial" panose="020B0604020202020204" pitchFamily="34" charset="0"/>
              <a:buChar char="•"/>
            </a:pPr>
            <a:r>
              <a:rPr lang="fr-FR" b="0" i="0" u="none" strike="noStrike" baseline="0" dirty="0">
                <a:solidFill>
                  <a:srgbClr val="FF9A00"/>
                </a:solidFill>
                <a:latin typeface="Calibri" panose="020F0502020204030204" pitchFamily="34" charset="0"/>
                <a:cs typeface="Calibri" panose="020F0502020204030204" pitchFamily="34" charset="0"/>
              </a:rPr>
              <a:t> </a:t>
            </a:r>
            <a:r>
              <a:rPr lang="fr-FR" b="0" i="0" u="none" strike="noStrike" baseline="0" dirty="0">
                <a:solidFill>
                  <a:srgbClr val="000000"/>
                </a:solidFill>
                <a:latin typeface="Calibri" panose="020F0502020204030204" pitchFamily="34" charset="0"/>
                <a:cs typeface="Calibri" panose="020F0502020204030204" pitchFamily="34" charset="0"/>
              </a:rPr>
              <a:t>Bus</a:t>
            </a:r>
          </a:p>
          <a:p>
            <a:pPr marL="342900" indent="-342900" algn="l">
              <a:buFont typeface="Arial" panose="020B0604020202020204" pitchFamily="34" charset="0"/>
              <a:buChar char="•"/>
            </a:pPr>
            <a:r>
              <a:rPr lang="fr-FR" b="0" i="0" u="none" strike="noStrike" baseline="0" dirty="0">
                <a:solidFill>
                  <a:srgbClr val="FF9A00"/>
                </a:solidFill>
                <a:latin typeface="Calibri" panose="020F0502020204030204" pitchFamily="34" charset="0"/>
                <a:cs typeface="Calibri" panose="020F0502020204030204" pitchFamily="34" charset="0"/>
              </a:rPr>
              <a:t> </a:t>
            </a:r>
            <a:r>
              <a:rPr lang="fr-FR" b="0" i="0" u="none" strike="noStrike" baseline="0" dirty="0">
                <a:solidFill>
                  <a:srgbClr val="000000"/>
                </a:solidFill>
                <a:latin typeface="Calibri" panose="020F0502020204030204" pitchFamily="34" charset="0"/>
                <a:cs typeface="Calibri" panose="020F0502020204030204" pitchFamily="34" charset="0"/>
              </a:rPr>
              <a:t>Anneau</a:t>
            </a:r>
          </a:p>
          <a:p>
            <a:pPr marL="342900" indent="-342900" algn="l">
              <a:buFont typeface="Arial" panose="020B0604020202020204" pitchFamily="34" charset="0"/>
              <a:buChar char="•"/>
            </a:pPr>
            <a:r>
              <a:rPr lang="fr-FR" b="0" i="0" u="none" strike="noStrike" baseline="0" dirty="0">
                <a:solidFill>
                  <a:srgbClr val="FF9A00"/>
                </a:solidFill>
                <a:latin typeface="Calibri" panose="020F0502020204030204" pitchFamily="34" charset="0"/>
                <a:cs typeface="Calibri" panose="020F0502020204030204" pitchFamily="34" charset="0"/>
              </a:rPr>
              <a:t> </a:t>
            </a:r>
            <a:r>
              <a:rPr lang="fr-FR" b="0" i="0" u="none" strike="noStrike" baseline="0" dirty="0">
                <a:solidFill>
                  <a:srgbClr val="000000"/>
                </a:solidFill>
                <a:latin typeface="Calibri" panose="020F0502020204030204" pitchFamily="34" charset="0"/>
                <a:cs typeface="Calibri" panose="020F0502020204030204" pitchFamily="34" charset="0"/>
              </a:rPr>
              <a:t>Etoile</a:t>
            </a:r>
          </a:p>
          <a:p>
            <a:pPr marL="342900" indent="-342900" algn="l">
              <a:buFont typeface="Arial" panose="020B0604020202020204" pitchFamily="34" charset="0"/>
              <a:buChar char="•"/>
            </a:pPr>
            <a:r>
              <a:rPr lang="fr-FR" b="0" i="0" u="none" strike="noStrike" baseline="0" dirty="0">
                <a:solidFill>
                  <a:srgbClr val="FF9A00"/>
                </a:solidFill>
                <a:latin typeface="Calibri" panose="020F0502020204030204" pitchFamily="34" charset="0"/>
                <a:cs typeface="Calibri" panose="020F0502020204030204" pitchFamily="34" charset="0"/>
              </a:rPr>
              <a:t> </a:t>
            </a:r>
            <a:r>
              <a:rPr lang="fr-FR" b="0" i="0" u="none" strike="noStrike" baseline="0" dirty="0">
                <a:solidFill>
                  <a:srgbClr val="000000"/>
                </a:solidFill>
                <a:latin typeface="Calibri" panose="020F0502020204030204" pitchFamily="34" charset="0"/>
                <a:cs typeface="Calibri" panose="020F0502020204030204" pitchFamily="34" charset="0"/>
              </a:rPr>
              <a:t>Hiérarchisée ou en Arbre</a:t>
            </a:r>
          </a:p>
          <a:p>
            <a:pPr marL="342900" indent="-342900" algn="l">
              <a:buFont typeface="Arial" panose="020B0604020202020204" pitchFamily="34" charset="0"/>
              <a:buChar char="•"/>
            </a:pPr>
            <a:r>
              <a:rPr lang="fr-FR" b="0" i="0" u="none" strike="noStrike" baseline="0" dirty="0">
                <a:solidFill>
                  <a:srgbClr val="FF9A00"/>
                </a:solidFill>
                <a:latin typeface="Calibri" panose="020F0502020204030204" pitchFamily="34" charset="0"/>
                <a:cs typeface="Calibri" panose="020F0502020204030204" pitchFamily="34" charset="0"/>
              </a:rPr>
              <a:t> </a:t>
            </a:r>
            <a:r>
              <a:rPr lang="fr-FR" b="0" i="0" u="none" strike="noStrike" baseline="0" dirty="0">
                <a:solidFill>
                  <a:srgbClr val="000000"/>
                </a:solidFill>
                <a:latin typeface="Calibri" panose="020F0502020204030204" pitchFamily="34" charset="0"/>
                <a:cs typeface="Calibri" panose="020F0502020204030204" pitchFamily="34" charset="0"/>
              </a:rPr>
              <a:t>Maillée</a:t>
            </a:r>
          </a:p>
          <a:p>
            <a:pPr marL="342900" indent="-342900" algn="l">
              <a:buFont typeface="Arial" panose="020B0604020202020204" pitchFamily="34" charset="0"/>
              <a:buChar char="•"/>
            </a:pPr>
            <a:endParaRPr lang="fr-FR" dirty="0">
              <a:solidFill>
                <a:srgbClr val="000000"/>
              </a:solidFill>
              <a:latin typeface="Calibri" panose="020F0502020204030204" pitchFamily="34" charset="0"/>
              <a:cs typeface="Calibri" panose="020F0502020204030204" pitchFamily="34" charset="0"/>
            </a:endParaRPr>
          </a:p>
          <a:p>
            <a:pPr algn="l"/>
            <a:endParaRPr lang="fr-FR" dirty="0">
              <a:latin typeface="Calibri" panose="020F0502020204030204" pitchFamily="34" charset="0"/>
              <a:cs typeface="Calibri" panose="020F0502020204030204" pitchFamily="34" charset="0"/>
            </a:endParaRPr>
          </a:p>
        </p:txBody>
      </p:sp>
      <p:pic>
        <p:nvPicPr>
          <p:cNvPr id="10" name="Image 9">
            <a:extLst>
              <a:ext uri="{FF2B5EF4-FFF2-40B4-BE49-F238E27FC236}">
                <a16:creationId xmlns:a16="http://schemas.microsoft.com/office/drawing/2014/main" id="{1DBFA609-6EDC-4CEB-B5D7-521D7C0B17C4}"/>
              </a:ext>
            </a:extLst>
          </p:cNvPr>
          <p:cNvPicPr>
            <a:picLocks noChangeAspect="1"/>
          </p:cNvPicPr>
          <p:nvPr/>
        </p:nvPicPr>
        <p:blipFill>
          <a:blip r:embed="rId3"/>
          <a:stretch>
            <a:fillRect/>
          </a:stretch>
        </p:blipFill>
        <p:spPr>
          <a:xfrm>
            <a:off x="4889650" y="3905615"/>
            <a:ext cx="1249276" cy="1293001"/>
          </a:xfrm>
          <a:prstGeom prst="rect">
            <a:avLst/>
          </a:prstGeom>
        </p:spPr>
      </p:pic>
      <p:pic>
        <p:nvPicPr>
          <p:cNvPr id="12" name="Image 11">
            <a:extLst>
              <a:ext uri="{FF2B5EF4-FFF2-40B4-BE49-F238E27FC236}">
                <a16:creationId xmlns:a16="http://schemas.microsoft.com/office/drawing/2014/main" id="{16BF5449-4A19-410B-A0D8-25F2A2CC77BB}"/>
              </a:ext>
            </a:extLst>
          </p:cNvPr>
          <p:cNvPicPr>
            <a:picLocks noChangeAspect="1"/>
          </p:cNvPicPr>
          <p:nvPr/>
        </p:nvPicPr>
        <p:blipFill>
          <a:blip r:embed="rId4"/>
          <a:stretch>
            <a:fillRect/>
          </a:stretch>
        </p:blipFill>
        <p:spPr>
          <a:xfrm>
            <a:off x="6279447" y="3930278"/>
            <a:ext cx="1249276" cy="1268338"/>
          </a:xfrm>
          <a:prstGeom prst="rect">
            <a:avLst/>
          </a:prstGeom>
        </p:spPr>
      </p:pic>
      <p:pic>
        <p:nvPicPr>
          <p:cNvPr id="14" name="Image 13">
            <a:extLst>
              <a:ext uri="{FF2B5EF4-FFF2-40B4-BE49-F238E27FC236}">
                <a16:creationId xmlns:a16="http://schemas.microsoft.com/office/drawing/2014/main" id="{9AA914A9-175B-438D-A143-4E7476C83C36}"/>
              </a:ext>
            </a:extLst>
          </p:cNvPr>
          <p:cNvPicPr>
            <a:picLocks noChangeAspect="1"/>
          </p:cNvPicPr>
          <p:nvPr/>
        </p:nvPicPr>
        <p:blipFill>
          <a:blip r:embed="rId5"/>
          <a:stretch>
            <a:fillRect/>
          </a:stretch>
        </p:blipFill>
        <p:spPr>
          <a:xfrm>
            <a:off x="7697566" y="3902005"/>
            <a:ext cx="1315822" cy="1300223"/>
          </a:xfrm>
          <a:prstGeom prst="rect">
            <a:avLst/>
          </a:prstGeom>
        </p:spPr>
      </p:pic>
      <p:pic>
        <p:nvPicPr>
          <p:cNvPr id="20" name="Image 19">
            <a:extLst>
              <a:ext uri="{FF2B5EF4-FFF2-40B4-BE49-F238E27FC236}">
                <a16:creationId xmlns:a16="http://schemas.microsoft.com/office/drawing/2014/main" id="{A0FD7FEB-4AAD-4DE3-81B3-4EAE566284F7}"/>
              </a:ext>
            </a:extLst>
          </p:cNvPr>
          <p:cNvPicPr>
            <a:picLocks noChangeAspect="1"/>
          </p:cNvPicPr>
          <p:nvPr/>
        </p:nvPicPr>
        <p:blipFill>
          <a:blip r:embed="rId6"/>
          <a:stretch>
            <a:fillRect/>
          </a:stretch>
        </p:blipFill>
        <p:spPr>
          <a:xfrm>
            <a:off x="7391922" y="5312206"/>
            <a:ext cx="1510798" cy="1469594"/>
          </a:xfrm>
          <a:prstGeom prst="rect">
            <a:avLst/>
          </a:prstGeom>
        </p:spPr>
      </p:pic>
      <p:pic>
        <p:nvPicPr>
          <p:cNvPr id="26" name="Image 25">
            <a:extLst>
              <a:ext uri="{FF2B5EF4-FFF2-40B4-BE49-F238E27FC236}">
                <a16:creationId xmlns:a16="http://schemas.microsoft.com/office/drawing/2014/main" id="{6C45EABD-4A04-4457-A102-152A353B1321}"/>
              </a:ext>
            </a:extLst>
          </p:cNvPr>
          <p:cNvPicPr>
            <a:picLocks noChangeAspect="1"/>
          </p:cNvPicPr>
          <p:nvPr/>
        </p:nvPicPr>
        <p:blipFill>
          <a:blip r:embed="rId7"/>
          <a:stretch>
            <a:fillRect/>
          </a:stretch>
        </p:blipFill>
        <p:spPr>
          <a:xfrm>
            <a:off x="5550678" y="5316579"/>
            <a:ext cx="1613610" cy="1469594"/>
          </a:xfrm>
          <a:prstGeom prst="rect">
            <a:avLst/>
          </a:prstGeom>
        </p:spPr>
      </p:pic>
    </p:spTree>
    <p:extLst>
      <p:ext uri="{BB962C8B-B14F-4D97-AF65-F5344CB8AC3E}">
        <p14:creationId xmlns:p14="http://schemas.microsoft.com/office/powerpoint/2010/main" val="32047653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EAC450-F354-4F8B-BCE8-171FB7F27291}"/>
              </a:ext>
            </a:extLst>
          </p:cNvPr>
          <p:cNvSpPr>
            <a:spLocks noGrp="1"/>
          </p:cNvSpPr>
          <p:nvPr>
            <p:ph type="title"/>
          </p:nvPr>
        </p:nvSpPr>
        <p:spPr>
          <a:xfrm>
            <a:off x="1202613" y="120951"/>
            <a:ext cx="7674056" cy="740391"/>
          </a:xfrm>
          <a:solidFill>
            <a:schemeClr val="bg2">
              <a:lumMod val="75000"/>
            </a:schemeClr>
          </a:solidFill>
        </p:spPr>
        <p:txBody>
          <a:bodyPr>
            <a:normAutofit fontScale="90000"/>
          </a:bodyPr>
          <a:lstStyle/>
          <a:p>
            <a:br>
              <a:rPr lang="fr-FR" dirty="0"/>
            </a:br>
            <a:r>
              <a:rPr lang="fr-FR" sz="4900" dirty="0">
                <a:effectLst/>
              </a:rPr>
              <a:t>Topologie en Bus</a:t>
            </a:r>
            <a:br>
              <a:rPr lang="fr-FR" dirty="0"/>
            </a:br>
            <a:endParaRPr lang="fr-FR" dirty="0"/>
          </a:p>
        </p:txBody>
      </p:sp>
      <p:sp>
        <p:nvSpPr>
          <p:cNvPr id="4" name="Espace réservé du numéro de diapositive 3">
            <a:extLst>
              <a:ext uri="{FF2B5EF4-FFF2-40B4-BE49-F238E27FC236}">
                <a16:creationId xmlns:a16="http://schemas.microsoft.com/office/drawing/2014/main" id="{FB90F339-6B01-4BBF-8727-F4416603C024}"/>
              </a:ext>
            </a:extLst>
          </p:cNvPr>
          <p:cNvSpPr>
            <a:spLocks noGrp="1"/>
          </p:cNvSpPr>
          <p:nvPr>
            <p:ph type="sldNum" sz="quarter" idx="4294967295"/>
          </p:nvPr>
        </p:nvSpPr>
        <p:spPr>
          <a:xfrm>
            <a:off x="8686800" y="6305550"/>
            <a:ext cx="457200" cy="476250"/>
          </a:xfrm>
        </p:spPr>
        <p:txBody>
          <a:bodyPr/>
          <a:lstStyle/>
          <a:p>
            <a:pPr>
              <a:defRPr/>
            </a:pPr>
            <a:fld id="{59EB3592-E4B7-4B42-9B17-519130A2B0CE}" type="slidenum">
              <a:rPr lang="fr-FR" smtClean="0"/>
              <a:pPr>
                <a:defRPr/>
              </a:pPr>
              <a:t>12</a:t>
            </a:fld>
            <a:endParaRPr lang="fr-FR"/>
          </a:p>
        </p:txBody>
      </p:sp>
      <p:sp>
        <p:nvSpPr>
          <p:cNvPr id="6" name="ZoneTexte 5">
            <a:extLst>
              <a:ext uri="{FF2B5EF4-FFF2-40B4-BE49-F238E27FC236}">
                <a16:creationId xmlns:a16="http://schemas.microsoft.com/office/drawing/2014/main" id="{24DE2B47-E1E4-4AAD-95F6-42941E3337C9}"/>
              </a:ext>
            </a:extLst>
          </p:cNvPr>
          <p:cNvSpPr txBox="1"/>
          <p:nvPr/>
        </p:nvSpPr>
        <p:spPr>
          <a:xfrm>
            <a:off x="1051956" y="937542"/>
            <a:ext cx="8100392" cy="5766570"/>
          </a:xfrm>
          <a:prstGeom prst="rect">
            <a:avLst/>
          </a:prstGeom>
          <a:solidFill>
            <a:schemeClr val="bg2"/>
          </a:solidFill>
          <a:ln>
            <a:solidFill>
              <a:srgbClr val="B1C9E3"/>
            </a:solidFill>
          </a:ln>
        </p:spPr>
        <p:txBody>
          <a:bodyPr wrap="square" tIns="36000" bIns="36000">
            <a:spAutoFit/>
          </a:bodyPr>
          <a:lstStyle/>
          <a:p>
            <a:pPr algn="l"/>
            <a:r>
              <a:rPr lang="fr-FR" sz="2000" b="1" i="0" u="none" strike="noStrike" baseline="0" dirty="0">
                <a:solidFill>
                  <a:srgbClr val="000000"/>
                </a:solidFill>
                <a:highlight>
                  <a:srgbClr val="C6B07E"/>
                </a:highlight>
                <a:latin typeface="+mn-lt"/>
                <a:cs typeface="Calibri" panose="020F0502020204030204" pitchFamily="34" charset="0"/>
              </a:rPr>
              <a:t>Support de communication unique</a:t>
            </a:r>
          </a:p>
          <a:p>
            <a:pPr algn="l"/>
            <a:r>
              <a:rPr lang="fr-FR" sz="1800" b="0" i="0" u="none" strike="noStrike" kern="600" baseline="0" dirty="0">
                <a:latin typeface="+mj-lt"/>
                <a:cs typeface="Calibri" panose="020F0502020204030204" pitchFamily="34" charset="0"/>
              </a:rPr>
              <a:t>L’interconnexion est constituée d'un </a:t>
            </a:r>
            <a:r>
              <a:rPr lang="fr-FR" sz="1800" b="1" i="0" u="none" strike="noStrike" kern="600" baseline="0" dirty="0">
                <a:latin typeface="+mj-lt"/>
                <a:cs typeface="Calibri" panose="020F0502020204030204" pitchFamily="34" charset="0"/>
              </a:rPr>
              <a:t>seul fil </a:t>
            </a:r>
            <a:r>
              <a:rPr lang="fr-FR" sz="1800" b="0" i="0" u="none" strike="noStrike" kern="600" baseline="0" dirty="0">
                <a:latin typeface="+mj-lt"/>
                <a:cs typeface="Calibri" panose="020F0502020204030204" pitchFamily="34" charset="0"/>
              </a:rPr>
              <a:t>couvrant l'étendue du réseau (</a:t>
            </a:r>
            <a:r>
              <a:rPr lang="fr-FR" sz="1800" b="1" i="0" u="none" strike="noStrike" kern="600" baseline="0" dirty="0">
                <a:latin typeface="+mj-lt"/>
                <a:cs typeface="Calibri" panose="020F0502020204030204" pitchFamily="34" charset="0"/>
              </a:rPr>
              <a:t>bus</a:t>
            </a:r>
            <a:r>
              <a:rPr lang="fr-FR" sz="1800" b="0" i="0" u="none" strike="noStrike" kern="600" baseline="0" dirty="0">
                <a:latin typeface="+mj-lt"/>
                <a:cs typeface="Calibri" panose="020F0502020204030204" pitchFamily="34" charset="0"/>
              </a:rPr>
              <a:t>)</a:t>
            </a:r>
          </a:p>
          <a:p>
            <a:pPr algn="l">
              <a:buFont typeface="Arial" panose="020B0604020202020204" pitchFamily="34" charset="0"/>
              <a:buChar char="•"/>
            </a:pPr>
            <a:r>
              <a:rPr lang="fr-FR" sz="1800" b="0" i="0" u="none" strike="noStrike" kern="600" baseline="0" dirty="0">
                <a:latin typeface="+mj-lt"/>
                <a:cs typeface="Calibri" panose="020F0502020204030204" pitchFamily="34" charset="0"/>
              </a:rPr>
              <a:t> </a:t>
            </a:r>
            <a:r>
              <a:rPr lang="fr-FR" sz="1800" b="0" i="0" dirty="0">
                <a:effectLst/>
                <a:latin typeface="+mj-lt"/>
              </a:rPr>
              <a:t>Chaque extrémité est bouclée sur un "bouchon" dont l'impédance électrique est égale à l'impédance caractéristique du conducteur, ceci afin d'éviter les réflexions des signaux en bout de câble.</a:t>
            </a:r>
          </a:p>
          <a:p>
            <a:pPr algn="l">
              <a:buFont typeface="Arial" panose="020B0604020202020204" pitchFamily="34" charset="0"/>
              <a:buChar char="•"/>
            </a:pPr>
            <a:r>
              <a:rPr lang="fr-FR" sz="1800" b="0" i="0" dirty="0">
                <a:effectLst/>
                <a:latin typeface="+mj-lt"/>
              </a:rPr>
              <a:t>Chaque poste est "piqué" sur ce bus au moyen d'un "T" de raccordement.</a:t>
            </a:r>
          </a:p>
          <a:p>
            <a:pPr algn="l"/>
            <a:r>
              <a:rPr lang="fr-FR" sz="2000" b="1" i="0" u="none" strike="noStrike" kern="600" baseline="0" dirty="0">
                <a:solidFill>
                  <a:srgbClr val="000000"/>
                </a:solidFill>
                <a:highlight>
                  <a:srgbClr val="C6B07E"/>
                </a:highlight>
                <a:latin typeface="+mn-lt"/>
                <a:cs typeface="Calibri" panose="020F0502020204030204" pitchFamily="34" charset="0"/>
              </a:rPr>
              <a:t>Réseau à diffusion (broadcast)</a:t>
            </a:r>
          </a:p>
          <a:p>
            <a:pPr algn="l"/>
            <a:r>
              <a:rPr lang="fr-FR" sz="2000" b="0" i="0" u="none" strike="noStrike" kern="600" baseline="0" dirty="0">
                <a:solidFill>
                  <a:srgbClr val="FF9A00"/>
                </a:solidFill>
                <a:latin typeface="+mn-lt"/>
                <a:cs typeface="Calibri" panose="020F0502020204030204" pitchFamily="34" charset="0"/>
              </a:rPr>
              <a:t> </a:t>
            </a:r>
            <a:r>
              <a:rPr lang="fr-FR" sz="2000" b="0" i="0" u="none" strike="noStrike" kern="600" baseline="0" dirty="0">
                <a:solidFill>
                  <a:srgbClr val="000000"/>
                </a:solidFill>
                <a:latin typeface="+mn-lt"/>
                <a:cs typeface="Calibri" panose="020F0502020204030204" pitchFamily="34" charset="0"/>
              </a:rPr>
              <a:t>L’information émise par une station est </a:t>
            </a:r>
          </a:p>
          <a:p>
            <a:pPr algn="l"/>
            <a:r>
              <a:rPr lang="fr-FR" sz="2000" b="0" i="0" u="none" strike="noStrike" kern="600" baseline="0" dirty="0">
                <a:solidFill>
                  <a:srgbClr val="000000"/>
                </a:solidFill>
                <a:latin typeface="+mn-lt"/>
                <a:cs typeface="Calibri" panose="020F0502020204030204" pitchFamily="34" charset="0"/>
              </a:rPr>
              <a:t>diffusée sur le réseau à toutes les stations.</a:t>
            </a:r>
          </a:p>
          <a:p>
            <a:pPr algn="l"/>
            <a:r>
              <a:rPr lang="fr-FR" sz="2000" b="1" i="0" u="none" strike="noStrike" kern="600" baseline="0" dirty="0">
                <a:solidFill>
                  <a:srgbClr val="000000"/>
                </a:solidFill>
                <a:highlight>
                  <a:srgbClr val="C6B07E"/>
                </a:highlight>
                <a:latin typeface="+mn-lt"/>
                <a:cs typeface="Calibri" panose="020F0502020204030204" pitchFamily="34" charset="0"/>
              </a:rPr>
              <a:t>Avantage</a:t>
            </a:r>
          </a:p>
          <a:p>
            <a:pPr algn="l"/>
            <a:r>
              <a:rPr lang="fr-FR" sz="2000" b="0" i="0" u="none" strike="noStrike" kern="600" baseline="0" dirty="0">
                <a:solidFill>
                  <a:srgbClr val="FF9A00"/>
                </a:solidFill>
                <a:latin typeface="+mn-lt"/>
                <a:cs typeface="Calibri" panose="020F0502020204030204" pitchFamily="34" charset="0"/>
              </a:rPr>
              <a:t> </a:t>
            </a:r>
            <a:r>
              <a:rPr lang="fr-FR" sz="2000" dirty="0">
                <a:latin typeface="+mn-lt"/>
                <a:cs typeface="Arial" panose="020B0604020202020204" pitchFamily="34" charset="0"/>
              </a:rPr>
              <a:t>Mise en œuvre simple, reconfiguration facile, </a:t>
            </a:r>
          </a:p>
          <a:p>
            <a:pPr algn="l"/>
            <a:r>
              <a:rPr lang="fr-FR" sz="2000" dirty="0">
                <a:latin typeface="+mn-lt"/>
                <a:cs typeface="Arial" panose="020B0604020202020204" pitchFamily="34" charset="0"/>
              </a:rPr>
              <a:t>moindre coût en ligne et en coupleurs.</a:t>
            </a:r>
          </a:p>
          <a:p>
            <a:pPr algn="l"/>
            <a:r>
              <a:rPr lang="fr-FR" sz="2000" b="1" i="0" u="none" strike="noStrike" kern="600" baseline="0" dirty="0">
                <a:solidFill>
                  <a:srgbClr val="000000"/>
                </a:solidFill>
                <a:highlight>
                  <a:srgbClr val="C6B07E"/>
                </a:highlight>
                <a:latin typeface="+mn-lt"/>
                <a:cs typeface="Calibri" panose="020F0502020204030204" pitchFamily="34" charset="0"/>
              </a:rPr>
              <a:t>Inconvénients</a:t>
            </a:r>
          </a:p>
          <a:p>
            <a:pPr algn="l"/>
            <a:r>
              <a:rPr lang="fr-FR" sz="2000" dirty="0">
                <a:latin typeface="+mn-lt"/>
                <a:cs typeface="Arial" panose="020B0604020202020204" pitchFamily="34" charset="0"/>
              </a:rPr>
              <a:t>Le nombre de stations sera limité en fonction de la longueur du support</a:t>
            </a:r>
          </a:p>
          <a:p>
            <a:pPr algn="l"/>
            <a:r>
              <a:rPr lang="fr-FR" sz="2000" b="0" i="0" u="none" strike="noStrike" kern="600" baseline="0" dirty="0">
                <a:solidFill>
                  <a:srgbClr val="000000"/>
                </a:solidFill>
                <a:latin typeface="+mn-lt"/>
                <a:cs typeface="Calibri" panose="020F0502020204030204" pitchFamily="34" charset="0"/>
              </a:rPr>
              <a:t>Conflits sur le bus: </a:t>
            </a:r>
            <a:r>
              <a:rPr lang="fr-FR" sz="2000" kern="600" dirty="0">
                <a:solidFill>
                  <a:srgbClr val="000000"/>
                </a:solidFill>
                <a:latin typeface="+mn-lt"/>
                <a:cs typeface="Calibri" panose="020F0502020204030204" pitchFamily="34" charset="0"/>
              </a:rPr>
              <a:t>Vulnérable aux pannes (</a:t>
            </a:r>
            <a:r>
              <a:rPr lang="fr-FR" sz="2000" kern="600" dirty="0">
                <a:solidFill>
                  <a:srgbClr val="000000"/>
                </a:solidFill>
                <a:highlight>
                  <a:srgbClr val="B1C9E3"/>
                </a:highlight>
                <a:latin typeface="+mn-lt"/>
                <a:cs typeface="Calibri" panose="020F0502020204030204" pitchFamily="34" charset="0"/>
              </a:rPr>
              <a:t>Une connexion défectueuse entraîne la panne de l’ensemble du réseau</a:t>
            </a:r>
            <a:r>
              <a:rPr lang="fr-FR" sz="2000" kern="600" dirty="0">
                <a:solidFill>
                  <a:srgbClr val="000000"/>
                </a:solidFill>
                <a:latin typeface="+mn-lt"/>
                <a:cs typeface="Calibri" panose="020F0502020204030204" pitchFamily="34" charset="0"/>
              </a:rPr>
              <a:t>)</a:t>
            </a:r>
          </a:p>
          <a:p>
            <a:pPr algn="l"/>
            <a:endParaRPr lang="fr-FR" sz="2000" b="1" i="0" u="none" strike="noStrike" kern="600" baseline="0" dirty="0">
              <a:solidFill>
                <a:srgbClr val="000000"/>
              </a:solidFill>
              <a:highlight>
                <a:srgbClr val="C6B07E"/>
              </a:highlight>
              <a:latin typeface="+mn-lt"/>
              <a:cs typeface="Calibri" panose="020F0502020204030204" pitchFamily="34" charset="0"/>
            </a:endParaRPr>
          </a:p>
          <a:p>
            <a:pPr algn="l"/>
            <a:r>
              <a:rPr lang="fr-FR" sz="2000" b="1" i="0" u="none" strike="noStrike" kern="600" baseline="0" dirty="0">
                <a:solidFill>
                  <a:srgbClr val="000000"/>
                </a:solidFill>
                <a:highlight>
                  <a:srgbClr val="C6B07E"/>
                </a:highlight>
                <a:latin typeface="+mn-lt"/>
                <a:cs typeface="Calibri" panose="020F0502020204030204" pitchFamily="34" charset="0"/>
              </a:rPr>
              <a:t>Application pratique</a:t>
            </a:r>
          </a:p>
          <a:p>
            <a:pPr algn="l"/>
            <a:r>
              <a:rPr lang="fr-FR" sz="2000" b="0" i="0" u="none" strike="noStrike" kern="600" baseline="0" dirty="0">
                <a:solidFill>
                  <a:srgbClr val="FF9A00"/>
                </a:solidFill>
                <a:latin typeface="+mn-lt"/>
                <a:cs typeface="Calibri" panose="020F0502020204030204" pitchFamily="34" charset="0"/>
              </a:rPr>
              <a:t> </a:t>
            </a:r>
            <a:r>
              <a:rPr lang="fr-FR" sz="2000" b="0" i="0" u="none" strike="noStrike" kern="600" baseline="0" dirty="0">
                <a:solidFill>
                  <a:srgbClr val="000000"/>
                </a:solidFill>
                <a:latin typeface="+mn-lt"/>
                <a:cs typeface="Calibri" panose="020F0502020204030204" pitchFamily="34" charset="0"/>
              </a:rPr>
              <a:t>Protocole de supervision inter-automates </a:t>
            </a:r>
            <a:r>
              <a:rPr lang="fr-FR" sz="2000" b="1" i="0" u="none" strike="noStrike" kern="600" baseline="0" dirty="0" err="1">
                <a:solidFill>
                  <a:srgbClr val="000000"/>
                </a:solidFill>
                <a:latin typeface="+mn-lt"/>
                <a:cs typeface="Calibri" panose="020F0502020204030204" pitchFamily="34" charset="0"/>
              </a:rPr>
              <a:t>ProfiBUS</a:t>
            </a:r>
            <a:endParaRPr lang="fr-FR" sz="2000" b="1" kern="600" dirty="0">
              <a:latin typeface="+mn-lt"/>
              <a:cs typeface="Calibri" panose="020F0502020204030204" pitchFamily="34" charset="0"/>
            </a:endParaRPr>
          </a:p>
        </p:txBody>
      </p:sp>
      <p:pic>
        <p:nvPicPr>
          <p:cNvPr id="5" name="Image 4">
            <a:extLst>
              <a:ext uri="{FF2B5EF4-FFF2-40B4-BE49-F238E27FC236}">
                <a16:creationId xmlns:a16="http://schemas.microsoft.com/office/drawing/2014/main" id="{12953308-9B3C-8B8B-888A-CA0038BDC2B0}"/>
              </a:ext>
            </a:extLst>
          </p:cNvPr>
          <p:cNvPicPr>
            <a:picLocks noChangeAspect="1"/>
          </p:cNvPicPr>
          <p:nvPr/>
        </p:nvPicPr>
        <p:blipFill>
          <a:blip r:embed="rId2"/>
          <a:stretch>
            <a:fillRect/>
          </a:stretch>
        </p:blipFill>
        <p:spPr>
          <a:xfrm>
            <a:off x="5940152" y="2924944"/>
            <a:ext cx="2894319" cy="1848629"/>
          </a:xfrm>
          <a:prstGeom prst="rect">
            <a:avLst/>
          </a:prstGeom>
        </p:spPr>
      </p:pic>
    </p:spTree>
    <p:extLst>
      <p:ext uri="{BB962C8B-B14F-4D97-AF65-F5344CB8AC3E}">
        <p14:creationId xmlns:p14="http://schemas.microsoft.com/office/powerpoint/2010/main" val="20263930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8DC478F-5512-4F5F-BB04-1B0350D9209F}"/>
              </a:ext>
            </a:extLst>
          </p:cNvPr>
          <p:cNvSpPr>
            <a:spLocks noGrp="1"/>
          </p:cNvSpPr>
          <p:nvPr>
            <p:ph type="title"/>
          </p:nvPr>
        </p:nvSpPr>
        <p:spPr>
          <a:xfrm>
            <a:off x="1236117" y="28950"/>
            <a:ext cx="7499350" cy="519730"/>
          </a:xfrm>
        </p:spPr>
        <p:txBody>
          <a:bodyPr>
            <a:normAutofit fontScale="90000"/>
          </a:bodyPr>
          <a:lstStyle/>
          <a:p>
            <a:r>
              <a:rPr lang="fr-FR" dirty="0">
                <a:effectLst/>
              </a:rPr>
              <a:t>Topologie en ETOILE:</a:t>
            </a:r>
          </a:p>
        </p:txBody>
      </p:sp>
      <p:sp>
        <p:nvSpPr>
          <p:cNvPr id="4" name="ZoneTexte 3">
            <a:extLst>
              <a:ext uri="{FF2B5EF4-FFF2-40B4-BE49-F238E27FC236}">
                <a16:creationId xmlns:a16="http://schemas.microsoft.com/office/drawing/2014/main" id="{F259CBB0-CC96-4A3E-80EF-844D912369BA}"/>
              </a:ext>
            </a:extLst>
          </p:cNvPr>
          <p:cNvSpPr txBox="1"/>
          <p:nvPr/>
        </p:nvSpPr>
        <p:spPr>
          <a:xfrm>
            <a:off x="1187624" y="636187"/>
            <a:ext cx="7669360" cy="5940088"/>
          </a:xfrm>
          <a:prstGeom prst="rect">
            <a:avLst/>
          </a:prstGeom>
          <a:noFill/>
        </p:spPr>
        <p:txBody>
          <a:bodyPr wrap="square">
            <a:spAutoFit/>
          </a:bodyPr>
          <a:lstStyle/>
          <a:p>
            <a:pPr algn="l"/>
            <a:r>
              <a:rPr lang="fr-FR" sz="2000" b="0" i="0" u="none" strike="noStrike" baseline="0" dirty="0">
                <a:solidFill>
                  <a:srgbClr val="000000"/>
                </a:solidFill>
                <a:latin typeface="+mn-lt"/>
              </a:rPr>
              <a:t>Toutes les liaisons sont issues d’un point </a:t>
            </a:r>
          </a:p>
          <a:p>
            <a:pPr algn="l"/>
            <a:r>
              <a:rPr lang="fr-FR" sz="2000" b="0" i="0" u="none" strike="noStrike" baseline="0" dirty="0">
                <a:solidFill>
                  <a:srgbClr val="000000"/>
                </a:solidFill>
                <a:latin typeface="+mn-lt"/>
              </a:rPr>
              <a:t>central Communication de type point à point.</a:t>
            </a:r>
          </a:p>
          <a:p>
            <a:pPr algn="l"/>
            <a:r>
              <a:rPr lang="fr-FR" sz="2000" b="0" i="0" u="none" strike="noStrike" baseline="0" dirty="0">
                <a:solidFill>
                  <a:srgbClr val="FF9A00"/>
                </a:solidFill>
                <a:latin typeface="+mn-lt"/>
              </a:rPr>
              <a:t> </a:t>
            </a:r>
            <a:r>
              <a:rPr lang="fr-FR" sz="2000" b="0" i="0" u="none" strike="noStrike" baseline="0" dirty="0">
                <a:solidFill>
                  <a:srgbClr val="000000"/>
                </a:solidFill>
                <a:latin typeface="+mn-lt"/>
              </a:rPr>
              <a:t>Chaque équipement réseau est relié à </a:t>
            </a:r>
          </a:p>
          <a:p>
            <a:pPr algn="l"/>
            <a:r>
              <a:rPr lang="fr-FR" sz="2000" b="0" i="0" u="none" strike="noStrike" baseline="0" dirty="0">
                <a:solidFill>
                  <a:srgbClr val="000000"/>
                </a:solidFill>
                <a:latin typeface="+mn-lt"/>
              </a:rPr>
              <a:t>un support physique:</a:t>
            </a:r>
            <a:r>
              <a:rPr lang="fr-FR" sz="2000" b="0" i="0" u="none" strike="noStrike" baseline="0" dirty="0">
                <a:solidFill>
                  <a:srgbClr val="FFC100"/>
                </a:solidFill>
                <a:latin typeface="+mn-lt"/>
              </a:rPr>
              <a:t> </a:t>
            </a:r>
            <a:r>
              <a:rPr lang="fr-FR" sz="2000" b="0" i="0" u="none" strike="noStrike" baseline="0" dirty="0">
                <a:solidFill>
                  <a:srgbClr val="000000"/>
                </a:solidFill>
                <a:latin typeface="+mn-lt"/>
              </a:rPr>
              <a:t>Hub, Switch (commutateur), …</a:t>
            </a:r>
          </a:p>
          <a:p>
            <a:pPr algn="l"/>
            <a:endParaRPr lang="fr-FR" sz="2000" b="0" i="0" u="none" strike="noStrike" baseline="0" dirty="0">
              <a:solidFill>
                <a:srgbClr val="000000"/>
              </a:solidFill>
              <a:latin typeface="+mn-lt"/>
            </a:endParaRPr>
          </a:p>
          <a:p>
            <a:pPr algn="just"/>
            <a:r>
              <a:rPr lang="fr-FR" sz="2000" dirty="0">
                <a:solidFill>
                  <a:srgbClr val="000000"/>
                </a:solidFill>
                <a:latin typeface="+mn-lt"/>
              </a:rPr>
              <a:t>Un câble à </a:t>
            </a:r>
            <a:r>
              <a:rPr lang="fr-FR" sz="2000" b="1" dirty="0">
                <a:solidFill>
                  <a:srgbClr val="000000"/>
                </a:solidFill>
                <a:latin typeface="+mn-lt"/>
              </a:rPr>
              <a:t>paires torsadées </a:t>
            </a:r>
            <a:r>
              <a:rPr lang="fr-FR" sz="2000" b="1" dirty="0">
                <a:solidFill>
                  <a:srgbClr val="000000"/>
                </a:solidFill>
                <a:highlight>
                  <a:srgbClr val="A6E8A8"/>
                </a:highlight>
                <a:latin typeface="+mn-lt"/>
              </a:rPr>
              <a:t>Droit</a:t>
            </a:r>
            <a:r>
              <a:rPr lang="fr-FR" sz="2000" b="1" dirty="0">
                <a:solidFill>
                  <a:srgbClr val="000000"/>
                </a:solidFill>
                <a:latin typeface="+mn-lt"/>
              </a:rPr>
              <a:t> </a:t>
            </a:r>
            <a:r>
              <a:rPr lang="fr-FR" sz="2000" dirty="0">
                <a:solidFill>
                  <a:srgbClr val="000000"/>
                </a:solidFill>
                <a:latin typeface="+mn-lt"/>
              </a:rPr>
              <a:t>est utilisé pour la connexion </a:t>
            </a:r>
            <a:r>
              <a:rPr lang="fr-FR" sz="2000" b="1" dirty="0">
                <a:solidFill>
                  <a:srgbClr val="000000"/>
                </a:solidFill>
                <a:highlight>
                  <a:srgbClr val="A6E8A8"/>
                </a:highlight>
                <a:latin typeface="+mn-lt"/>
              </a:rPr>
              <a:t>Ordinateur &lt;-&gt; Switch</a:t>
            </a:r>
          </a:p>
          <a:p>
            <a:pPr algn="just"/>
            <a:r>
              <a:rPr lang="fr-FR" sz="2000" dirty="0">
                <a:solidFill>
                  <a:srgbClr val="000000"/>
                </a:solidFill>
                <a:latin typeface="+mn-lt"/>
              </a:rPr>
              <a:t>Un câble à </a:t>
            </a:r>
            <a:r>
              <a:rPr lang="fr-FR" sz="2000" b="1" dirty="0">
                <a:solidFill>
                  <a:srgbClr val="000000"/>
                </a:solidFill>
                <a:latin typeface="+mn-lt"/>
              </a:rPr>
              <a:t>paires torsadées </a:t>
            </a:r>
            <a:r>
              <a:rPr lang="fr-FR" sz="2000" b="1" dirty="0">
                <a:solidFill>
                  <a:srgbClr val="000000"/>
                </a:solidFill>
                <a:highlight>
                  <a:srgbClr val="1CD6D2"/>
                </a:highlight>
                <a:latin typeface="+mn-lt"/>
              </a:rPr>
              <a:t>Croisé</a:t>
            </a:r>
            <a:r>
              <a:rPr lang="fr-FR" sz="2000" b="1" dirty="0">
                <a:solidFill>
                  <a:srgbClr val="000000"/>
                </a:solidFill>
                <a:latin typeface="+mn-lt"/>
              </a:rPr>
              <a:t> </a:t>
            </a:r>
            <a:r>
              <a:rPr lang="fr-FR" sz="2000" dirty="0">
                <a:solidFill>
                  <a:srgbClr val="000000"/>
                </a:solidFill>
                <a:latin typeface="+mn-lt"/>
              </a:rPr>
              <a:t>est utilisé pour la connexion </a:t>
            </a:r>
          </a:p>
          <a:p>
            <a:pPr algn="just"/>
            <a:r>
              <a:rPr lang="fr-FR" sz="2000" b="1" dirty="0">
                <a:solidFill>
                  <a:srgbClr val="000000"/>
                </a:solidFill>
                <a:highlight>
                  <a:srgbClr val="1CD6D2"/>
                </a:highlight>
                <a:latin typeface="+mn-lt"/>
              </a:rPr>
              <a:t>Switch &lt;-&gt; Switch </a:t>
            </a:r>
            <a:r>
              <a:rPr lang="fr-FR" sz="2000" b="1" dirty="0">
                <a:solidFill>
                  <a:srgbClr val="000000"/>
                </a:solidFill>
                <a:latin typeface="+mn-lt"/>
              </a:rPr>
              <a:t>ou </a:t>
            </a:r>
            <a:r>
              <a:rPr lang="fr-FR" sz="2000" b="1" dirty="0">
                <a:solidFill>
                  <a:srgbClr val="000000"/>
                </a:solidFill>
                <a:highlight>
                  <a:srgbClr val="1CD6D2"/>
                </a:highlight>
                <a:latin typeface="+mn-lt"/>
              </a:rPr>
              <a:t>ordinateur &lt;-&gt; ordinateur </a:t>
            </a:r>
            <a:endParaRPr lang="fr-FR" sz="2000" b="1" i="1" dirty="0">
              <a:solidFill>
                <a:srgbClr val="000000"/>
              </a:solidFill>
              <a:highlight>
                <a:srgbClr val="1CD6D2"/>
              </a:highlight>
              <a:latin typeface="+mn-lt"/>
            </a:endParaRPr>
          </a:p>
          <a:p>
            <a:pPr algn="l"/>
            <a:r>
              <a:rPr lang="fr-FR" sz="2000" b="1" i="0" u="none" strike="noStrike" baseline="0" dirty="0">
                <a:solidFill>
                  <a:srgbClr val="000000"/>
                </a:solidFill>
                <a:highlight>
                  <a:srgbClr val="C6B07E"/>
                </a:highlight>
                <a:latin typeface="+mn-lt"/>
              </a:rPr>
              <a:t>Avantages</a:t>
            </a:r>
          </a:p>
          <a:p>
            <a:pPr algn="l"/>
            <a:r>
              <a:rPr lang="fr-FR" sz="2000" b="0" i="0" u="none" strike="noStrike" baseline="0" dirty="0">
                <a:solidFill>
                  <a:srgbClr val="000000"/>
                </a:solidFill>
                <a:latin typeface="+mn-lt"/>
              </a:rPr>
              <a:t>Conception facile,</a:t>
            </a:r>
            <a:r>
              <a:rPr lang="fr-FR" sz="2000" dirty="0">
                <a:solidFill>
                  <a:srgbClr val="000000"/>
                </a:solidFill>
                <a:latin typeface="+mn-lt"/>
              </a:rPr>
              <a:t> Moins vulnérable car on peut retirer une des connexions du concentrateur sans pour autant paralyser le reste du réseau.</a:t>
            </a:r>
            <a:endParaRPr lang="fr-FR" sz="2000" b="0" i="0" u="none" strike="noStrike" baseline="0" dirty="0">
              <a:solidFill>
                <a:srgbClr val="000000"/>
              </a:solidFill>
              <a:latin typeface="+mn-lt"/>
            </a:endParaRPr>
          </a:p>
          <a:p>
            <a:pPr algn="l"/>
            <a:r>
              <a:rPr lang="fr-FR" sz="2000" b="0" i="0" u="none" strike="noStrike" baseline="0" dirty="0">
                <a:solidFill>
                  <a:srgbClr val="000000"/>
                </a:solidFill>
                <a:latin typeface="+mn-lt"/>
              </a:rPr>
              <a:t>Liaisons indépendantes les unes des autres,</a:t>
            </a:r>
            <a:r>
              <a:rPr lang="fr-FR" sz="2000" b="0" i="0" u="none" strike="noStrike" baseline="0" dirty="0">
                <a:solidFill>
                  <a:srgbClr val="FF9A00"/>
                </a:solidFill>
                <a:latin typeface="+mn-lt"/>
              </a:rPr>
              <a:t> </a:t>
            </a:r>
            <a:r>
              <a:rPr lang="fr-FR" sz="2000" dirty="0">
                <a:solidFill>
                  <a:srgbClr val="000000"/>
                </a:solidFill>
                <a:latin typeface="+mn-lt"/>
              </a:rPr>
              <a:t>s</a:t>
            </a:r>
            <a:r>
              <a:rPr lang="fr-FR" sz="2000" b="0" i="0" u="none" strike="noStrike" baseline="0" dirty="0">
                <a:solidFill>
                  <a:srgbClr val="000000"/>
                </a:solidFill>
                <a:latin typeface="+mn-lt"/>
              </a:rPr>
              <a:t>urveillance aisée du trafic.</a:t>
            </a:r>
          </a:p>
          <a:p>
            <a:pPr algn="l"/>
            <a:r>
              <a:rPr lang="fr-FR" sz="2000" b="1" i="0" u="none" strike="noStrike" baseline="0" dirty="0">
                <a:solidFill>
                  <a:srgbClr val="000000"/>
                </a:solidFill>
                <a:highlight>
                  <a:srgbClr val="C6B07E"/>
                </a:highlight>
                <a:latin typeface="+mn-lt"/>
              </a:rPr>
              <a:t>Inconvénients: </a:t>
            </a:r>
            <a:r>
              <a:rPr lang="fr-FR" sz="2000" b="0" i="0" u="none" strike="noStrike" baseline="0" dirty="0">
                <a:solidFill>
                  <a:srgbClr val="FF9A00"/>
                </a:solidFill>
                <a:latin typeface="+mn-lt"/>
              </a:rPr>
              <a:t> </a:t>
            </a:r>
          </a:p>
          <a:p>
            <a:pPr algn="l"/>
            <a:r>
              <a:rPr lang="fr-FR" sz="2000" b="0" i="0" u="none" strike="noStrike" baseline="0" dirty="0">
                <a:solidFill>
                  <a:srgbClr val="000000"/>
                </a:solidFill>
                <a:latin typeface="+mn-lt"/>
              </a:rPr>
              <a:t>Nécessité d’utiliser des câbles de bonne qualité.</a:t>
            </a:r>
          </a:p>
          <a:p>
            <a:pPr algn="l"/>
            <a:r>
              <a:rPr lang="fr-FR" sz="2000" b="0" i="0" u="none" strike="noStrike" baseline="0" dirty="0">
                <a:solidFill>
                  <a:srgbClr val="FF9A00"/>
                </a:solidFill>
                <a:latin typeface="+mn-lt"/>
              </a:rPr>
              <a:t> </a:t>
            </a:r>
            <a:r>
              <a:rPr lang="fr-FR" sz="2000" b="0" i="0" u="none" strike="noStrike" baseline="0" dirty="0">
                <a:solidFill>
                  <a:srgbClr val="000000"/>
                </a:solidFill>
                <a:latin typeface="+mn-lt"/>
              </a:rPr>
              <a:t>Distance entre les matériels limitée.</a:t>
            </a:r>
          </a:p>
          <a:p>
            <a:pPr algn="l"/>
            <a:r>
              <a:rPr lang="fr-FR" sz="2000" b="0" i="0" u="none" strike="noStrike" baseline="0" dirty="0">
                <a:solidFill>
                  <a:srgbClr val="FF9A00"/>
                </a:solidFill>
                <a:latin typeface="+mn-lt"/>
              </a:rPr>
              <a:t> </a:t>
            </a:r>
            <a:r>
              <a:rPr lang="fr-FR" sz="2000" b="0" i="0" u="none" strike="noStrike" baseline="0" dirty="0">
                <a:solidFill>
                  <a:srgbClr val="000000"/>
                </a:solidFill>
                <a:latin typeface="+mn-lt"/>
              </a:rPr>
              <a:t>Dépendance au nœud central.</a:t>
            </a:r>
          </a:p>
          <a:p>
            <a:pPr algn="l"/>
            <a:r>
              <a:rPr lang="fr-FR" sz="2000" b="1" i="0" u="none" strike="noStrike" baseline="0" dirty="0">
                <a:solidFill>
                  <a:srgbClr val="000000"/>
                </a:solidFill>
                <a:highlight>
                  <a:srgbClr val="C6B07E"/>
                </a:highlight>
                <a:latin typeface="+mn-lt"/>
              </a:rPr>
              <a:t>Application pratique:</a:t>
            </a:r>
            <a:r>
              <a:rPr lang="fr-FR" sz="2000" b="0" i="0" u="none" strike="noStrike" baseline="0" dirty="0">
                <a:solidFill>
                  <a:srgbClr val="FF9A00"/>
                </a:solidFill>
                <a:latin typeface="+mn-lt"/>
              </a:rPr>
              <a:t> </a:t>
            </a:r>
            <a:r>
              <a:rPr lang="fr-FR" sz="2000" b="0" i="0" u="none" strike="noStrike" baseline="0" dirty="0">
                <a:solidFill>
                  <a:srgbClr val="000000"/>
                </a:solidFill>
                <a:latin typeface="+mn-lt"/>
              </a:rPr>
              <a:t>Réseau Ethernet actuel (full duplex).</a:t>
            </a:r>
            <a:endParaRPr lang="fr-FR" sz="2000" dirty="0">
              <a:latin typeface="+mn-lt"/>
            </a:endParaRPr>
          </a:p>
        </p:txBody>
      </p:sp>
      <p:pic>
        <p:nvPicPr>
          <p:cNvPr id="6" name="Image 5">
            <a:extLst>
              <a:ext uri="{FF2B5EF4-FFF2-40B4-BE49-F238E27FC236}">
                <a16:creationId xmlns:a16="http://schemas.microsoft.com/office/drawing/2014/main" id="{5F3D27F4-137C-4403-82F8-BB9AE2972426}"/>
              </a:ext>
            </a:extLst>
          </p:cNvPr>
          <p:cNvPicPr>
            <a:picLocks noChangeAspect="1"/>
          </p:cNvPicPr>
          <p:nvPr/>
        </p:nvPicPr>
        <p:blipFill>
          <a:blip r:embed="rId2"/>
          <a:stretch>
            <a:fillRect/>
          </a:stretch>
        </p:blipFill>
        <p:spPr>
          <a:xfrm>
            <a:off x="6588224" y="553870"/>
            <a:ext cx="2483767" cy="1653994"/>
          </a:xfrm>
          <a:prstGeom prst="rect">
            <a:avLst/>
          </a:prstGeom>
        </p:spPr>
      </p:pic>
    </p:spTree>
    <p:extLst>
      <p:ext uri="{BB962C8B-B14F-4D97-AF65-F5344CB8AC3E}">
        <p14:creationId xmlns:p14="http://schemas.microsoft.com/office/powerpoint/2010/main" val="15835465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FD26541-06C2-56C1-3C03-71DBD996BFB6}"/>
              </a:ext>
            </a:extLst>
          </p:cNvPr>
          <p:cNvSpPr>
            <a:spLocks noGrp="1"/>
          </p:cNvSpPr>
          <p:nvPr>
            <p:ph type="title"/>
          </p:nvPr>
        </p:nvSpPr>
        <p:spPr/>
        <p:txBody>
          <a:bodyPr/>
          <a:lstStyle/>
          <a:p>
            <a:r>
              <a:rPr lang="fr-FR" dirty="0"/>
              <a:t>Topologie en ANNEAU:</a:t>
            </a:r>
          </a:p>
        </p:txBody>
      </p:sp>
      <p:sp>
        <p:nvSpPr>
          <p:cNvPr id="4" name="ZoneTexte 3">
            <a:extLst>
              <a:ext uri="{FF2B5EF4-FFF2-40B4-BE49-F238E27FC236}">
                <a16:creationId xmlns:a16="http://schemas.microsoft.com/office/drawing/2014/main" id="{99344BF0-C67B-EFF0-0057-1126E208E875}"/>
              </a:ext>
            </a:extLst>
          </p:cNvPr>
          <p:cNvSpPr txBox="1"/>
          <p:nvPr/>
        </p:nvSpPr>
        <p:spPr>
          <a:xfrm>
            <a:off x="1259632" y="1357645"/>
            <a:ext cx="7499350" cy="2862322"/>
          </a:xfrm>
          <a:prstGeom prst="rect">
            <a:avLst/>
          </a:prstGeom>
          <a:noFill/>
        </p:spPr>
        <p:txBody>
          <a:bodyPr wrap="square">
            <a:spAutoFit/>
          </a:bodyPr>
          <a:lstStyle/>
          <a:p>
            <a:r>
              <a:rPr lang="fr-FR" sz="1800" b="0" i="0" dirty="0">
                <a:solidFill>
                  <a:srgbClr val="000000"/>
                </a:solidFill>
                <a:effectLst/>
                <a:latin typeface="Verdana" panose="020B0604030504040204" pitchFamily="34" charset="0"/>
              </a:rPr>
              <a:t>L'anneau à jeton (en anglais </a:t>
            </a:r>
            <a:r>
              <a:rPr lang="fr-FR" sz="1800" b="0" i="1" dirty="0" err="1">
                <a:solidFill>
                  <a:srgbClr val="000000"/>
                </a:solidFill>
                <a:effectLst/>
                <a:latin typeface="Verdana" panose="020B0604030504040204" pitchFamily="34" charset="0"/>
              </a:rPr>
              <a:t>token</a:t>
            </a:r>
            <a:r>
              <a:rPr lang="fr-FR" sz="1800" b="0" i="1" dirty="0">
                <a:solidFill>
                  <a:srgbClr val="000000"/>
                </a:solidFill>
                <a:effectLst/>
                <a:latin typeface="Verdana" panose="020B0604030504040204" pitchFamily="34" charset="0"/>
              </a:rPr>
              <a:t> ring</a:t>
            </a:r>
            <a:r>
              <a:rPr lang="fr-FR" sz="1800" b="0" i="0" dirty="0">
                <a:solidFill>
                  <a:srgbClr val="000000"/>
                </a:solidFill>
                <a:effectLst/>
                <a:latin typeface="Verdana" panose="020B0604030504040204" pitchFamily="34" charset="0"/>
              </a:rPr>
              <a:t>) est une technologie d'accès au réseau basé sur le principe de la communication au tour à tour, c'est-à-dire que chaque ordinateur du réseau a la possibilité de parler à son tour. C'est un jeton (un paquet de données), circulant en boucle d'un ordinateur à un autre, qui détermine quel ordinateur a le droit d'émettre des informations.</a:t>
            </a:r>
            <a:br>
              <a:rPr lang="fr-FR" sz="1800" dirty="0"/>
            </a:br>
            <a:r>
              <a:rPr lang="fr-FR" sz="1800" b="0" i="0" dirty="0">
                <a:solidFill>
                  <a:srgbClr val="000000"/>
                </a:solidFill>
                <a:effectLst/>
                <a:latin typeface="Verdana" panose="020B0604030504040204" pitchFamily="34" charset="0"/>
              </a:rPr>
              <a:t>Lorsqu'un ordinateur est en possession du jeton il peut émettre pendant un temps déterminé, après lequel il remet le jeton à l'ordinateur suivant.</a:t>
            </a:r>
            <a:endParaRPr lang="fr-FR" sz="1800" dirty="0"/>
          </a:p>
        </p:txBody>
      </p:sp>
      <p:sp>
        <p:nvSpPr>
          <p:cNvPr id="6" name="ZoneTexte 5">
            <a:extLst>
              <a:ext uri="{FF2B5EF4-FFF2-40B4-BE49-F238E27FC236}">
                <a16:creationId xmlns:a16="http://schemas.microsoft.com/office/drawing/2014/main" id="{7CC230C3-5830-8A75-E291-E2FCB9541CD1}"/>
              </a:ext>
            </a:extLst>
          </p:cNvPr>
          <p:cNvSpPr txBox="1"/>
          <p:nvPr/>
        </p:nvSpPr>
        <p:spPr>
          <a:xfrm>
            <a:off x="1253656" y="4725144"/>
            <a:ext cx="4950296" cy="2031325"/>
          </a:xfrm>
          <a:prstGeom prst="rect">
            <a:avLst/>
          </a:prstGeom>
          <a:noFill/>
        </p:spPr>
        <p:txBody>
          <a:bodyPr wrap="square">
            <a:spAutoFit/>
          </a:bodyPr>
          <a:lstStyle/>
          <a:p>
            <a:r>
              <a:rPr lang="fr-FR" sz="1800" b="0" i="0" dirty="0">
                <a:solidFill>
                  <a:srgbClr val="000000"/>
                </a:solidFill>
                <a:effectLst/>
                <a:latin typeface="Verdana" panose="020B0604030504040204" pitchFamily="34" charset="0"/>
              </a:rPr>
              <a:t>En réalité les ordinateurs d'un réseau de type "anneau à jeton" ne sont pas disposés en boucle, mais sont reliés à un répartiteur (appelé MAU, </a:t>
            </a:r>
            <a:r>
              <a:rPr lang="fr-FR" sz="1800" b="0" i="1" dirty="0" err="1">
                <a:solidFill>
                  <a:srgbClr val="000000"/>
                </a:solidFill>
                <a:effectLst/>
                <a:latin typeface="Verdana" panose="020B0604030504040204" pitchFamily="34" charset="0"/>
              </a:rPr>
              <a:t>Multistation</a:t>
            </a:r>
            <a:r>
              <a:rPr lang="fr-FR" sz="1800" b="0" i="1" dirty="0">
                <a:solidFill>
                  <a:srgbClr val="000000"/>
                </a:solidFill>
                <a:effectLst/>
                <a:latin typeface="Verdana" panose="020B0604030504040204" pitchFamily="34" charset="0"/>
              </a:rPr>
              <a:t> Access Unit</a:t>
            </a:r>
            <a:r>
              <a:rPr lang="fr-FR" sz="1800" b="0" i="0" dirty="0">
                <a:solidFill>
                  <a:srgbClr val="000000"/>
                </a:solidFill>
                <a:effectLst/>
                <a:latin typeface="Verdana" panose="020B0604030504040204" pitchFamily="34" charset="0"/>
              </a:rPr>
              <a:t>) qui va donner successivement "la parole" à chacun d'</a:t>
            </a:r>
            <a:r>
              <a:rPr lang="fr-FR" sz="1800" b="0" i="0" dirty="0" err="1">
                <a:solidFill>
                  <a:srgbClr val="000000"/>
                </a:solidFill>
                <a:effectLst/>
                <a:latin typeface="Verdana" panose="020B0604030504040204" pitchFamily="34" charset="0"/>
              </a:rPr>
              <a:t>entre-eux</a:t>
            </a:r>
            <a:r>
              <a:rPr lang="fr-FR" sz="1800" b="0" i="0" dirty="0">
                <a:solidFill>
                  <a:srgbClr val="000000"/>
                </a:solidFill>
                <a:effectLst/>
                <a:latin typeface="Verdana" panose="020B0604030504040204" pitchFamily="34" charset="0"/>
              </a:rPr>
              <a:t>.</a:t>
            </a:r>
            <a:endParaRPr lang="fr-FR" sz="1800" dirty="0"/>
          </a:p>
        </p:txBody>
      </p:sp>
      <p:pic>
        <p:nvPicPr>
          <p:cNvPr id="1028" name="Picture 4">
            <a:extLst>
              <a:ext uri="{FF2B5EF4-FFF2-40B4-BE49-F238E27FC236}">
                <a16:creationId xmlns:a16="http://schemas.microsoft.com/office/drawing/2014/main" id="{1571D89F-9B58-9E6A-56A3-8AD15D1A6E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48264" y="5661248"/>
            <a:ext cx="1895475" cy="1009650"/>
          </a:xfrm>
          <a:prstGeom prst="rect">
            <a:avLst/>
          </a:prstGeom>
          <a:solidFill>
            <a:srgbClr val="FFFFFF"/>
          </a:solidFill>
        </p:spPr>
      </p:pic>
      <p:pic>
        <p:nvPicPr>
          <p:cNvPr id="1030" name="Picture 6">
            <a:extLst>
              <a:ext uri="{FF2B5EF4-FFF2-40B4-BE49-F238E27FC236}">
                <a16:creationId xmlns:a16="http://schemas.microsoft.com/office/drawing/2014/main" id="{A853C81F-95DA-92F5-787A-DD1CEDB0B2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8264" y="3933056"/>
            <a:ext cx="1895475" cy="1438275"/>
          </a:xfrm>
          <a:prstGeom prst="rect">
            <a:avLst/>
          </a:prstGeom>
          <a:solidFill>
            <a:srgbClr val="FFFFFF"/>
          </a:solidFill>
        </p:spPr>
      </p:pic>
    </p:spTree>
    <p:extLst>
      <p:ext uri="{BB962C8B-B14F-4D97-AF65-F5344CB8AC3E}">
        <p14:creationId xmlns:p14="http://schemas.microsoft.com/office/powerpoint/2010/main" val="22187076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187450" y="76200"/>
            <a:ext cx="7499350" cy="864096"/>
          </a:xfrm>
          <a:solidFill>
            <a:schemeClr val="bg2">
              <a:lumMod val="75000"/>
            </a:schemeClr>
          </a:solidFill>
        </p:spPr>
        <p:txBody>
          <a:bodyPr/>
          <a:lstStyle/>
          <a:p>
            <a:r>
              <a:rPr lang="fr-FR" dirty="0"/>
              <a:t>Topologie en ANNEAU:</a:t>
            </a:r>
          </a:p>
        </p:txBody>
      </p:sp>
      <p:sp>
        <p:nvSpPr>
          <p:cNvPr id="3" name="Espace réservé du numéro de diapositive 2">
            <a:extLst>
              <a:ext uri="{FF2B5EF4-FFF2-40B4-BE49-F238E27FC236}">
                <a16:creationId xmlns:a16="http://schemas.microsoft.com/office/drawing/2014/main" id="{86995689-AF46-446E-9CBC-AE676DA73A9A}"/>
              </a:ext>
            </a:extLst>
          </p:cNvPr>
          <p:cNvSpPr>
            <a:spLocks noGrp="1"/>
          </p:cNvSpPr>
          <p:nvPr>
            <p:ph type="sldNum" sz="quarter" idx="4294967295"/>
          </p:nvPr>
        </p:nvSpPr>
        <p:spPr>
          <a:xfrm>
            <a:off x="8686800" y="6305550"/>
            <a:ext cx="457200" cy="476250"/>
          </a:xfrm>
        </p:spPr>
        <p:txBody>
          <a:bodyPr/>
          <a:lstStyle/>
          <a:p>
            <a:pPr>
              <a:defRPr/>
            </a:pPr>
            <a:fld id="{59EB3592-E4B7-4B42-9B17-519130A2B0CE}" type="slidenum">
              <a:rPr lang="fr-FR" smtClean="0"/>
              <a:pPr>
                <a:defRPr/>
              </a:pPr>
              <a:t>15</a:t>
            </a:fld>
            <a:endParaRPr lang="fr-FR"/>
          </a:p>
        </p:txBody>
      </p:sp>
      <p:sp>
        <p:nvSpPr>
          <p:cNvPr id="17411" name="Rectangle 4"/>
          <p:cNvSpPr>
            <a:spLocks noChangeArrowheads="1"/>
          </p:cNvSpPr>
          <p:nvPr/>
        </p:nvSpPr>
        <p:spPr bwMode="auto">
          <a:xfrm>
            <a:off x="1058733" y="974349"/>
            <a:ext cx="7616825" cy="5940088"/>
          </a:xfrm>
          <a:prstGeom prst="rect">
            <a:avLst/>
          </a:prstGeom>
          <a:solidFill>
            <a:schemeClr val="bg2"/>
          </a:solidFill>
          <a:ln w="9525">
            <a:noFill/>
            <a:miter lim="800000"/>
            <a:headEnd/>
            <a:tailEnd/>
          </a:ln>
        </p:spPr>
        <p:txBody>
          <a:bodyPr>
            <a:spAutoFit/>
          </a:bodyPr>
          <a:lstStyle/>
          <a:p>
            <a:pPr algn="just"/>
            <a:r>
              <a:rPr lang="fr-FR" sz="2000" b="1" i="0" u="none" strike="noStrike" baseline="0" dirty="0">
                <a:latin typeface="+mn-lt"/>
              </a:rPr>
              <a:t>Liaison point à point avec son successeur</a:t>
            </a:r>
            <a:endParaRPr lang="fr-FR" sz="2000" b="1" dirty="0">
              <a:latin typeface="+mn-lt"/>
            </a:endParaRPr>
          </a:p>
          <a:p>
            <a:pPr algn="just"/>
            <a:r>
              <a:rPr lang="fr-FR" sz="2000" dirty="0">
                <a:solidFill>
                  <a:srgbClr val="000000"/>
                </a:solidFill>
                <a:latin typeface="+mn-lt"/>
              </a:rPr>
              <a:t>Les ordinateurs communiquent chacun à leur tour.</a:t>
            </a:r>
          </a:p>
          <a:p>
            <a:pPr algn="just"/>
            <a:r>
              <a:rPr lang="fr-FR" sz="2000" dirty="0">
                <a:solidFill>
                  <a:srgbClr val="000000"/>
                </a:solidFill>
                <a:highlight>
                  <a:srgbClr val="C6B07E"/>
                </a:highlight>
                <a:latin typeface="+mn-lt"/>
              </a:rPr>
              <a:t>Chacun d'entre eux va "avoir la parole" successivement.</a:t>
            </a:r>
            <a:r>
              <a:rPr lang="fr-FR" sz="2000" dirty="0">
                <a:solidFill>
                  <a:srgbClr val="000000"/>
                </a:solidFill>
                <a:highlight>
                  <a:srgbClr val="00FFFF"/>
                </a:highlight>
                <a:latin typeface="+mn-lt"/>
              </a:rPr>
              <a:t> </a:t>
            </a:r>
          </a:p>
          <a:p>
            <a:pPr algn="just"/>
            <a:r>
              <a:rPr lang="fr-FR" sz="2000" dirty="0">
                <a:solidFill>
                  <a:srgbClr val="000000"/>
                </a:solidFill>
                <a:latin typeface="+mn-lt"/>
              </a:rPr>
              <a:t>Ils sont reliés à un </a:t>
            </a:r>
            <a:r>
              <a:rPr lang="fr-FR" sz="2000" b="1" dirty="0">
                <a:solidFill>
                  <a:srgbClr val="000000"/>
                </a:solidFill>
                <a:latin typeface="+mn-lt"/>
              </a:rPr>
              <a:t>répartiteur</a:t>
            </a:r>
            <a:r>
              <a:rPr lang="fr-FR" sz="2000" dirty="0">
                <a:solidFill>
                  <a:srgbClr val="000000"/>
                </a:solidFill>
                <a:latin typeface="+mn-lt"/>
              </a:rPr>
              <a:t> (appelé MAU, Multi station Access Unit) qui va donner successivement "la parole" à chacun d'entre eux.</a:t>
            </a:r>
          </a:p>
          <a:p>
            <a:pPr algn="l"/>
            <a:r>
              <a:rPr lang="fr-FR" sz="2000" b="1" i="0" u="none" strike="noStrike" baseline="0" dirty="0">
                <a:solidFill>
                  <a:srgbClr val="000000"/>
                </a:solidFill>
                <a:highlight>
                  <a:srgbClr val="C6B07E"/>
                </a:highlight>
                <a:latin typeface="+mn-lt"/>
              </a:rPr>
              <a:t>Avantages</a:t>
            </a:r>
          </a:p>
          <a:p>
            <a:pPr algn="l"/>
            <a:r>
              <a:rPr lang="fr-FR" sz="2000" b="0" i="0" u="none" strike="noStrike" baseline="0" dirty="0">
                <a:solidFill>
                  <a:srgbClr val="FF9A00"/>
                </a:solidFill>
                <a:latin typeface="+mn-lt"/>
              </a:rPr>
              <a:t> </a:t>
            </a:r>
            <a:r>
              <a:rPr lang="fr-FR" sz="2000" b="0" i="0" u="none" strike="noStrike" baseline="0" dirty="0">
                <a:solidFill>
                  <a:srgbClr val="000000"/>
                </a:solidFill>
                <a:latin typeface="+mn-lt"/>
              </a:rPr>
              <a:t>Deux chemins possibles en cas de coupure (sécurité)</a:t>
            </a:r>
          </a:p>
          <a:p>
            <a:pPr algn="l"/>
            <a:r>
              <a:rPr lang="fr-FR" sz="2000" b="0" i="0" u="none" strike="noStrike" baseline="0" dirty="0">
                <a:solidFill>
                  <a:srgbClr val="FF9A00"/>
                </a:solidFill>
                <a:latin typeface="+mn-lt"/>
              </a:rPr>
              <a:t> </a:t>
            </a:r>
            <a:r>
              <a:rPr lang="fr-FR" sz="2000" b="0" i="0" u="none" strike="noStrike" baseline="0" dirty="0">
                <a:solidFill>
                  <a:srgbClr val="000000"/>
                </a:solidFill>
                <a:latin typeface="+mn-lt"/>
              </a:rPr>
              <a:t>Débit élevé pour les grandes distances (régénération)</a:t>
            </a:r>
          </a:p>
          <a:p>
            <a:pPr algn="l"/>
            <a:r>
              <a:rPr lang="fr-FR" sz="2000" b="1" i="0" u="none" strike="noStrike" baseline="0" dirty="0">
                <a:solidFill>
                  <a:srgbClr val="000000"/>
                </a:solidFill>
                <a:highlight>
                  <a:srgbClr val="C6B07E"/>
                </a:highlight>
                <a:latin typeface="+mn-lt"/>
              </a:rPr>
              <a:t>Inconvénients</a:t>
            </a:r>
          </a:p>
          <a:p>
            <a:pPr algn="l"/>
            <a:r>
              <a:rPr lang="fr-FR" sz="2000" b="0" i="0" u="none" strike="noStrike" baseline="0" dirty="0">
                <a:solidFill>
                  <a:srgbClr val="FF9A00"/>
                </a:solidFill>
                <a:latin typeface="+mn-lt"/>
              </a:rPr>
              <a:t> </a:t>
            </a:r>
            <a:r>
              <a:rPr lang="fr-FR" sz="2000" b="0" i="0" u="none" strike="noStrike" baseline="0" dirty="0">
                <a:solidFill>
                  <a:srgbClr val="000000"/>
                </a:solidFill>
                <a:latin typeface="+mn-lt"/>
              </a:rPr>
              <a:t>Segments multiples</a:t>
            </a:r>
          </a:p>
          <a:p>
            <a:pPr algn="l"/>
            <a:r>
              <a:rPr lang="fr-FR" sz="2000" b="0" i="0" u="none" strike="noStrike" baseline="0" dirty="0">
                <a:solidFill>
                  <a:srgbClr val="FF9A00"/>
                </a:solidFill>
                <a:latin typeface="+mn-lt"/>
              </a:rPr>
              <a:t> </a:t>
            </a:r>
            <a:r>
              <a:rPr lang="fr-FR" sz="2000" b="0" i="0" u="none" strike="noStrike" baseline="0" dirty="0">
                <a:solidFill>
                  <a:srgbClr val="000000"/>
                </a:solidFill>
                <a:latin typeface="+mn-lt"/>
              </a:rPr>
              <a:t>Sensibilité à la rupture</a:t>
            </a:r>
          </a:p>
          <a:p>
            <a:pPr algn="l"/>
            <a:r>
              <a:rPr lang="fr-FR" sz="2000" b="0" i="0" u="none" strike="noStrike" baseline="0" dirty="0">
                <a:solidFill>
                  <a:srgbClr val="FFC100"/>
                </a:solidFill>
                <a:latin typeface="+mn-lt"/>
              </a:rPr>
              <a:t> </a:t>
            </a:r>
            <a:r>
              <a:rPr lang="fr-FR" sz="2000" b="0" i="0" u="none" strike="noStrike" baseline="0" dirty="0">
                <a:solidFill>
                  <a:srgbClr val="000000"/>
                </a:solidFill>
                <a:latin typeface="+mn-lt"/>
              </a:rPr>
              <a:t>Nécessité de double anneau pour renforcer la sécurité.</a:t>
            </a:r>
          </a:p>
          <a:p>
            <a:pPr algn="l"/>
            <a:r>
              <a:rPr lang="fr-FR" sz="2000" b="1" i="0" u="none" strike="noStrike" baseline="0" dirty="0">
                <a:solidFill>
                  <a:srgbClr val="000000"/>
                </a:solidFill>
                <a:highlight>
                  <a:srgbClr val="C6B07E"/>
                </a:highlight>
                <a:latin typeface="+mn-lt"/>
              </a:rPr>
              <a:t>Application pratique</a:t>
            </a:r>
          </a:p>
          <a:p>
            <a:pPr algn="l"/>
            <a:r>
              <a:rPr lang="fr-FR" sz="2000" b="0" i="0" u="none" strike="noStrike" baseline="0" dirty="0">
                <a:solidFill>
                  <a:srgbClr val="FF9A00"/>
                </a:solidFill>
                <a:latin typeface="+mn-lt"/>
              </a:rPr>
              <a:t> </a:t>
            </a:r>
            <a:r>
              <a:rPr lang="fr-FR" sz="2000" b="0" i="0" u="none" strike="noStrike" baseline="0" dirty="0" err="1">
                <a:solidFill>
                  <a:srgbClr val="000000"/>
                </a:solidFill>
                <a:latin typeface="+mn-lt"/>
              </a:rPr>
              <a:t>Token</a:t>
            </a:r>
            <a:r>
              <a:rPr lang="fr-FR" sz="2000" b="0" i="0" u="none" strike="noStrike" baseline="0" dirty="0">
                <a:solidFill>
                  <a:srgbClr val="000000"/>
                </a:solidFill>
                <a:latin typeface="+mn-lt"/>
              </a:rPr>
              <a:t> Ring (Norme 802.5 anneau à jeton)</a:t>
            </a:r>
          </a:p>
          <a:p>
            <a:pPr algn="l"/>
            <a:endParaRPr lang="fr-FR" sz="2000" dirty="0">
              <a:solidFill>
                <a:srgbClr val="000000"/>
              </a:solidFill>
              <a:latin typeface="+mn-lt"/>
            </a:endParaRPr>
          </a:p>
          <a:p>
            <a:pPr algn="l"/>
            <a:r>
              <a:rPr lang="fr-FR" sz="2000" b="1" dirty="0">
                <a:highlight>
                  <a:srgbClr val="C6B07E"/>
                </a:highlight>
              </a:rPr>
              <a:t>UTILISATION</a:t>
            </a:r>
            <a:r>
              <a:rPr lang="fr-FR" sz="2000" dirty="0"/>
              <a:t> </a:t>
            </a:r>
          </a:p>
          <a:p>
            <a:pPr marL="342900" indent="-342900" algn="l">
              <a:buFontTx/>
              <a:buChar char="-"/>
            </a:pPr>
            <a:r>
              <a:rPr lang="fr-FR" sz="2000" dirty="0"/>
              <a:t>Réseaux Locaux Industriels</a:t>
            </a:r>
          </a:p>
          <a:p>
            <a:pPr algn="l"/>
            <a:r>
              <a:rPr lang="fr-FR" sz="2000" dirty="0"/>
              <a:t> CAN - TELWAY - TOKEN </a:t>
            </a:r>
            <a:r>
              <a:rPr lang="fr-FR" sz="1600" dirty="0"/>
              <a:t>RING (IBM) </a:t>
            </a:r>
            <a:endParaRPr lang="fr-FR" sz="2000" dirty="0">
              <a:solidFill>
                <a:srgbClr val="000000"/>
              </a:solidFill>
              <a:latin typeface="+mn-lt"/>
            </a:endParaRPr>
          </a:p>
          <a:p>
            <a:pPr algn="just"/>
            <a:endParaRPr lang="fr-FR" sz="2000" dirty="0">
              <a:solidFill>
                <a:srgbClr val="000000"/>
              </a:solidFill>
              <a:latin typeface="Verdana" pitchFamily="34" charset="0"/>
            </a:endParaRPr>
          </a:p>
        </p:txBody>
      </p:sp>
      <p:pic>
        <p:nvPicPr>
          <p:cNvPr id="6" name="Image 5">
            <a:extLst>
              <a:ext uri="{FF2B5EF4-FFF2-40B4-BE49-F238E27FC236}">
                <a16:creationId xmlns:a16="http://schemas.microsoft.com/office/drawing/2014/main" id="{6EC06070-8531-484C-AB4B-1AE96E1293A2}"/>
              </a:ext>
            </a:extLst>
          </p:cNvPr>
          <p:cNvPicPr>
            <a:picLocks noChangeAspect="1"/>
          </p:cNvPicPr>
          <p:nvPr/>
        </p:nvPicPr>
        <p:blipFill>
          <a:blip r:embed="rId2"/>
          <a:stretch>
            <a:fillRect/>
          </a:stretch>
        </p:blipFill>
        <p:spPr>
          <a:xfrm>
            <a:off x="5508104" y="4686300"/>
            <a:ext cx="3270498" cy="20955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F7C7062-87ED-4FA6-9DAB-C364539412CD}"/>
              </a:ext>
            </a:extLst>
          </p:cNvPr>
          <p:cNvSpPr>
            <a:spLocks noGrp="1"/>
          </p:cNvSpPr>
          <p:nvPr>
            <p:ph type="title"/>
          </p:nvPr>
        </p:nvSpPr>
        <p:spPr/>
        <p:txBody>
          <a:bodyPr>
            <a:normAutofit/>
          </a:bodyPr>
          <a:lstStyle/>
          <a:p>
            <a:pPr algn="l"/>
            <a:r>
              <a:rPr lang="fr-FR" sz="3600" b="1" i="0" u="none" strike="noStrike" baseline="0" dirty="0">
                <a:latin typeface="+mn-lt"/>
              </a:rPr>
              <a:t>Topologie</a:t>
            </a:r>
          </a:p>
        </p:txBody>
      </p:sp>
      <p:sp>
        <p:nvSpPr>
          <p:cNvPr id="4" name="ZoneTexte 3">
            <a:extLst>
              <a:ext uri="{FF2B5EF4-FFF2-40B4-BE49-F238E27FC236}">
                <a16:creationId xmlns:a16="http://schemas.microsoft.com/office/drawing/2014/main" id="{FC3E6251-E977-47BB-A788-0A6C3EB47EB4}"/>
              </a:ext>
            </a:extLst>
          </p:cNvPr>
          <p:cNvSpPr txBox="1"/>
          <p:nvPr/>
        </p:nvSpPr>
        <p:spPr>
          <a:xfrm>
            <a:off x="1115616" y="1484784"/>
            <a:ext cx="8028384" cy="2862322"/>
          </a:xfrm>
          <a:prstGeom prst="rect">
            <a:avLst/>
          </a:prstGeom>
          <a:noFill/>
        </p:spPr>
        <p:txBody>
          <a:bodyPr wrap="square">
            <a:spAutoFit/>
          </a:bodyPr>
          <a:lstStyle/>
          <a:p>
            <a:pPr marL="108000" indent="-108000" algn="l">
              <a:buClr>
                <a:schemeClr val="accent2"/>
              </a:buClr>
              <a:buFont typeface="Arial" panose="020B0604020202020204" pitchFamily="34" charset="0"/>
              <a:buChar char="•"/>
            </a:pPr>
            <a:r>
              <a:rPr lang="fr-FR" sz="2000" b="1" i="0" u="none" strike="noStrike" baseline="0" dirty="0">
                <a:latin typeface="Arial" panose="020B0604020202020204" pitchFamily="34" charset="0"/>
              </a:rPr>
              <a:t>Topologie en Etoile étendue</a:t>
            </a:r>
            <a:endParaRPr lang="fr-FR" sz="2000" b="1" i="0" u="none" strike="noStrike" baseline="0" dirty="0">
              <a:solidFill>
                <a:srgbClr val="000000"/>
              </a:solidFill>
              <a:latin typeface="+mn-lt"/>
            </a:endParaRPr>
          </a:p>
          <a:p>
            <a:pPr algn="l"/>
            <a:r>
              <a:rPr lang="fr-FR" sz="2000" b="0" i="0" u="none" strike="noStrike" baseline="0" dirty="0">
                <a:solidFill>
                  <a:srgbClr val="000000"/>
                </a:solidFill>
                <a:latin typeface="+mn-lt"/>
              </a:rPr>
              <a:t>Repose sur la topologie en étoile</a:t>
            </a:r>
          </a:p>
          <a:p>
            <a:pPr marL="342900" indent="-342900" algn="l" defTabSz="360000">
              <a:buFont typeface="Wingdings" panose="05000000000000000000" pitchFamily="2" charset="2"/>
              <a:buChar char="Ø"/>
            </a:pPr>
            <a:r>
              <a:rPr lang="fr-FR" sz="2000" b="0" i="0" u="none" strike="noStrike" baseline="0" dirty="0">
                <a:solidFill>
                  <a:srgbClr val="FF9A00"/>
                </a:solidFill>
                <a:latin typeface="+mn-lt"/>
              </a:rPr>
              <a:t> </a:t>
            </a:r>
            <a:r>
              <a:rPr lang="fr-FR" sz="2000" b="0" i="0" u="none" strike="noStrike" baseline="0" dirty="0">
                <a:solidFill>
                  <a:srgbClr val="000000"/>
                </a:solidFill>
                <a:latin typeface="+mn-lt"/>
              </a:rPr>
              <a:t>Relie les étoiles individuelles entre elles en reliant les nœuds centraux </a:t>
            </a:r>
          </a:p>
          <a:p>
            <a:pPr marL="342900" indent="-342900" algn="l" defTabSz="360000">
              <a:buClr>
                <a:schemeClr val="accent2"/>
              </a:buClr>
              <a:buFont typeface="Wingdings" panose="05000000000000000000" pitchFamily="2" charset="2"/>
              <a:buChar char="Ø"/>
            </a:pPr>
            <a:r>
              <a:rPr lang="fr-FR" sz="2000" b="0" i="0" u="none" strike="noStrike" baseline="0" dirty="0">
                <a:solidFill>
                  <a:srgbClr val="000000"/>
                </a:solidFill>
                <a:latin typeface="+mn-lt"/>
              </a:rPr>
              <a:t>	Etend la portée et l’importance du réseau</a:t>
            </a:r>
          </a:p>
          <a:p>
            <a:pPr marL="342900" indent="-342900" algn="l" defTabSz="360000">
              <a:buFont typeface="Wingdings" panose="05000000000000000000" pitchFamily="2" charset="2"/>
              <a:buChar char="Ø"/>
            </a:pPr>
            <a:endParaRPr lang="fr-FR" sz="2000" b="0" i="0" u="none" strike="noStrike" baseline="0" dirty="0">
              <a:solidFill>
                <a:srgbClr val="000000"/>
              </a:solidFill>
              <a:latin typeface="+mn-lt"/>
            </a:endParaRPr>
          </a:p>
          <a:p>
            <a:pPr marL="108000" indent="-108000" algn="l">
              <a:buClr>
                <a:schemeClr val="accent2"/>
              </a:buClr>
              <a:buFont typeface="Arial" panose="020B0604020202020204" pitchFamily="34" charset="0"/>
              <a:buChar char="•"/>
            </a:pPr>
            <a:r>
              <a:rPr lang="fr-FR" sz="2000" b="1" i="0" u="none" strike="noStrike" baseline="0" dirty="0">
                <a:solidFill>
                  <a:srgbClr val="000000"/>
                </a:solidFill>
                <a:latin typeface="+mn-lt"/>
              </a:rPr>
              <a:t>Topologie Hiérarchique (ou en Arbre)</a:t>
            </a:r>
          </a:p>
          <a:p>
            <a:pPr algn="l"/>
            <a:r>
              <a:rPr lang="fr-FR" sz="2000" b="0" i="0" u="none" strike="noStrike" baseline="0" dirty="0">
                <a:solidFill>
                  <a:srgbClr val="000000"/>
                </a:solidFill>
                <a:latin typeface="+mn-lt"/>
              </a:rPr>
              <a:t>Fonctionne sur le même principe qu’une topologie en étoile étendue</a:t>
            </a:r>
            <a:r>
              <a:rPr lang="fr-FR" sz="2000" b="0" i="0" u="none" strike="noStrike" baseline="0" dirty="0">
                <a:solidFill>
                  <a:srgbClr val="FF9A00"/>
                </a:solidFill>
                <a:latin typeface="+mn-lt"/>
              </a:rPr>
              <a:t> </a:t>
            </a:r>
            <a:r>
              <a:rPr lang="fr-FR" sz="2000" b="0" i="0" u="none" strike="noStrike" baseline="0" dirty="0">
                <a:solidFill>
                  <a:srgbClr val="000000"/>
                </a:solidFill>
                <a:latin typeface="+mn-lt"/>
              </a:rPr>
              <a:t>Au lieu de relier les nœuds centraux ensemble, le système est relié à un ordinateur qui contrôle le trafic dans la topologie.</a:t>
            </a:r>
            <a:endParaRPr lang="fr-FR" sz="2000" dirty="0">
              <a:latin typeface="+mn-lt"/>
            </a:endParaRPr>
          </a:p>
        </p:txBody>
      </p:sp>
      <p:pic>
        <p:nvPicPr>
          <p:cNvPr id="6" name="Image 5">
            <a:extLst>
              <a:ext uri="{FF2B5EF4-FFF2-40B4-BE49-F238E27FC236}">
                <a16:creationId xmlns:a16="http://schemas.microsoft.com/office/drawing/2014/main" id="{85C3E67C-0941-4190-BB16-04797503F103}"/>
              </a:ext>
            </a:extLst>
          </p:cNvPr>
          <p:cNvPicPr>
            <a:picLocks noChangeAspect="1"/>
          </p:cNvPicPr>
          <p:nvPr/>
        </p:nvPicPr>
        <p:blipFill>
          <a:blip r:embed="rId2"/>
          <a:stretch>
            <a:fillRect/>
          </a:stretch>
        </p:blipFill>
        <p:spPr>
          <a:xfrm>
            <a:off x="5148063" y="4314481"/>
            <a:ext cx="3802491" cy="2512806"/>
          </a:xfrm>
          <a:prstGeom prst="rect">
            <a:avLst/>
          </a:prstGeom>
        </p:spPr>
      </p:pic>
    </p:spTree>
    <p:extLst>
      <p:ext uri="{BB962C8B-B14F-4D97-AF65-F5344CB8AC3E}">
        <p14:creationId xmlns:p14="http://schemas.microsoft.com/office/powerpoint/2010/main" val="36420912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BD17D3F-D93C-41CD-89A9-67BFDD1C04FE}"/>
              </a:ext>
            </a:extLst>
          </p:cNvPr>
          <p:cNvSpPr>
            <a:spLocks noGrp="1"/>
          </p:cNvSpPr>
          <p:nvPr>
            <p:ph type="title"/>
          </p:nvPr>
        </p:nvSpPr>
        <p:spPr>
          <a:xfrm>
            <a:off x="1259632" y="229480"/>
            <a:ext cx="7499350" cy="720080"/>
          </a:xfrm>
        </p:spPr>
        <p:txBody>
          <a:bodyPr anchor="t">
            <a:normAutofit fontScale="90000"/>
          </a:bodyPr>
          <a:lstStyle/>
          <a:p>
            <a:r>
              <a:rPr lang="fr-FR" sz="4400" i="0" u="none" strike="noStrike" baseline="0" dirty="0">
                <a:latin typeface="Arial" panose="020B0604020202020204" pitchFamily="34" charset="0"/>
              </a:rPr>
              <a:t>Topologie Maillée (</a:t>
            </a:r>
            <a:r>
              <a:rPr lang="fr-FR" sz="4400" i="0" u="none" strike="noStrike" baseline="0" dirty="0" err="1">
                <a:latin typeface="Arial" panose="020B0604020202020204" pitchFamily="34" charset="0"/>
              </a:rPr>
              <a:t>Mesh</a:t>
            </a:r>
            <a:r>
              <a:rPr lang="fr-FR" sz="4400" i="0" u="none" strike="noStrike" baseline="0" dirty="0">
                <a:latin typeface="Arial" panose="020B0604020202020204" pitchFamily="34" charset="0"/>
              </a:rPr>
              <a:t>)</a:t>
            </a:r>
            <a:br>
              <a:rPr lang="fr-FR" sz="4400" b="0" i="0" u="none" strike="noStrike" baseline="0" dirty="0">
                <a:latin typeface="Arial" panose="020B0604020202020204" pitchFamily="34" charset="0"/>
              </a:rPr>
            </a:br>
            <a:endParaRPr lang="fr-FR" dirty="0"/>
          </a:p>
        </p:txBody>
      </p:sp>
      <p:sp>
        <p:nvSpPr>
          <p:cNvPr id="4" name="ZoneTexte 3">
            <a:extLst>
              <a:ext uri="{FF2B5EF4-FFF2-40B4-BE49-F238E27FC236}">
                <a16:creationId xmlns:a16="http://schemas.microsoft.com/office/drawing/2014/main" id="{B455109D-5479-4CD7-BC4F-006FCB2581F2}"/>
              </a:ext>
            </a:extLst>
          </p:cNvPr>
          <p:cNvSpPr txBox="1"/>
          <p:nvPr/>
        </p:nvSpPr>
        <p:spPr>
          <a:xfrm>
            <a:off x="1043608" y="980728"/>
            <a:ext cx="8100392" cy="4401205"/>
          </a:xfrm>
          <a:prstGeom prst="rect">
            <a:avLst/>
          </a:prstGeom>
          <a:noFill/>
        </p:spPr>
        <p:txBody>
          <a:bodyPr wrap="square">
            <a:spAutoFit/>
          </a:bodyPr>
          <a:lstStyle/>
          <a:p>
            <a:pPr algn="l"/>
            <a:r>
              <a:rPr lang="fr-FR" sz="2000" b="0" i="0" u="none" strike="noStrike" baseline="0" dirty="0">
                <a:solidFill>
                  <a:srgbClr val="000000"/>
                </a:solidFill>
                <a:latin typeface="+mn-lt"/>
              </a:rPr>
              <a:t>Les équipements réseaux sont reliées entre eux pour former une toile</a:t>
            </a:r>
            <a:r>
              <a:rPr lang="fr-FR" sz="2000" dirty="0">
                <a:solidFill>
                  <a:srgbClr val="000000"/>
                </a:solidFill>
                <a:latin typeface="+mn-lt"/>
              </a:rPr>
              <a:t> </a:t>
            </a:r>
            <a:r>
              <a:rPr lang="fr-FR" sz="2000" b="0" i="0" u="none" strike="noStrike" baseline="0" dirty="0">
                <a:solidFill>
                  <a:srgbClr val="000000"/>
                </a:solidFill>
                <a:latin typeface="+mn-lt"/>
              </a:rPr>
              <a:t>Deux stations clientes peuvent être mise en relation par différents chemins </a:t>
            </a:r>
          </a:p>
          <a:p>
            <a:pPr algn="l"/>
            <a:r>
              <a:rPr lang="fr-FR" sz="2000" b="0" i="0" u="none" strike="noStrike" baseline="0" dirty="0">
                <a:solidFill>
                  <a:srgbClr val="FF9A00"/>
                </a:solidFill>
                <a:latin typeface="+mn-lt"/>
              </a:rPr>
              <a:t> </a:t>
            </a:r>
            <a:endParaRPr lang="fr-FR" sz="2000" b="0" i="0" u="none" strike="noStrike" baseline="0" dirty="0">
              <a:solidFill>
                <a:srgbClr val="000000"/>
              </a:solidFill>
              <a:latin typeface="+mn-lt"/>
            </a:endParaRPr>
          </a:p>
          <a:p>
            <a:pPr algn="l"/>
            <a:r>
              <a:rPr lang="fr-FR" sz="2000" b="1" i="0" u="none" strike="noStrike" baseline="0" dirty="0">
                <a:solidFill>
                  <a:srgbClr val="000000"/>
                </a:solidFill>
                <a:highlight>
                  <a:srgbClr val="C6B07E"/>
                </a:highlight>
                <a:latin typeface="+mn-lt"/>
              </a:rPr>
              <a:t>Avantages</a:t>
            </a:r>
          </a:p>
          <a:p>
            <a:pPr algn="l"/>
            <a:r>
              <a:rPr lang="fr-FR" sz="2000" b="0" i="0" u="none" strike="noStrike" baseline="0" dirty="0">
                <a:solidFill>
                  <a:srgbClr val="FF9A00"/>
                </a:solidFill>
                <a:latin typeface="+mn-lt"/>
              </a:rPr>
              <a:t> </a:t>
            </a:r>
            <a:r>
              <a:rPr lang="fr-FR" sz="2000" b="0" i="0" u="none" strike="noStrike" baseline="0" dirty="0">
                <a:solidFill>
                  <a:srgbClr val="000000"/>
                </a:solidFill>
                <a:latin typeface="+mn-lt"/>
              </a:rPr>
              <a:t>Très résistant à la défaillance des nœuds.</a:t>
            </a:r>
          </a:p>
          <a:p>
            <a:pPr algn="l"/>
            <a:r>
              <a:rPr lang="fr-FR" sz="2000" b="0" i="0" u="none" strike="noStrike" baseline="0" dirty="0">
                <a:solidFill>
                  <a:srgbClr val="FF9A00"/>
                </a:solidFill>
                <a:latin typeface="+mn-lt"/>
              </a:rPr>
              <a:t> </a:t>
            </a:r>
            <a:r>
              <a:rPr lang="fr-FR" sz="2000" b="0" i="0" u="none" strike="noStrike" baseline="0" dirty="0">
                <a:solidFill>
                  <a:srgbClr val="000000"/>
                </a:solidFill>
                <a:latin typeface="+mn-lt"/>
              </a:rPr>
              <a:t>Optimisation des ressources par répartition de la charge (</a:t>
            </a:r>
            <a:r>
              <a:rPr lang="fr-FR" sz="2000" b="0" i="0" u="none" strike="noStrike" baseline="0" dirty="0" err="1">
                <a:solidFill>
                  <a:srgbClr val="000000"/>
                </a:solidFill>
                <a:latin typeface="+mn-lt"/>
              </a:rPr>
              <a:t>load</a:t>
            </a:r>
            <a:r>
              <a:rPr lang="fr-FR" sz="2000" b="0" i="0" u="none" strike="noStrike" baseline="0" dirty="0">
                <a:solidFill>
                  <a:srgbClr val="000000"/>
                </a:solidFill>
                <a:latin typeface="+mn-lt"/>
              </a:rPr>
              <a:t> sharing).</a:t>
            </a:r>
          </a:p>
          <a:p>
            <a:pPr algn="l"/>
            <a:endParaRPr lang="fr-FR" sz="2000" b="0" i="0" u="none" strike="noStrike" baseline="0" dirty="0">
              <a:solidFill>
                <a:srgbClr val="000000"/>
              </a:solidFill>
              <a:latin typeface="+mn-lt"/>
            </a:endParaRPr>
          </a:p>
          <a:p>
            <a:pPr algn="l"/>
            <a:r>
              <a:rPr lang="fr-FR" sz="2000" b="1" i="0" u="none" strike="noStrike" baseline="0" dirty="0">
                <a:solidFill>
                  <a:srgbClr val="000000"/>
                </a:solidFill>
                <a:highlight>
                  <a:srgbClr val="C6B07E"/>
                </a:highlight>
                <a:latin typeface="+mn-lt"/>
              </a:rPr>
              <a:t>Inconvénients</a:t>
            </a:r>
          </a:p>
          <a:p>
            <a:pPr algn="l"/>
            <a:r>
              <a:rPr lang="fr-FR" sz="2000" b="0" i="0" u="none" strike="noStrike" baseline="0" dirty="0">
                <a:solidFill>
                  <a:srgbClr val="FF9A00"/>
                </a:solidFill>
                <a:latin typeface="+mn-lt"/>
              </a:rPr>
              <a:t> </a:t>
            </a:r>
            <a:r>
              <a:rPr lang="fr-FR" sz="2000" b="0" i="0" u="none" strike="noStrike" baseline="0" dirty="0">
                <a:solidFill>
                  <a:srgbClr val="000000"/>
                </a:solidFill>
                <a:latin typeface="+mn-lt"/>
              </a:rPr>
              <a:t>Plus complexe à administrer </a:t>
            </a:r>
          </a:p>
          <a:p>
            <a:pPr algn="l"/>
            <a:r>
              <a:rPr lang="fr-FR" sz="2000" b="0" i="0" u="none" strike="noStrike" baseline="0" dirty="0">
                <a:solidFill>
                  <a:srgbClr val="FF9A00"/>
                </a:solidFill>
                <a:latin typeface="+mn-lt"/>
              </a:rPr>
              <a:t> </a:t>
            </a:r>
            <a:r>
              <a:rPr lang="fr-FR" sz="2000" b="0" i="0" u="none" strike="noStrike" baseline="0" dirty="0">
                <a:solidFill>
                  <a:srgbClr val="000000"/>
                </a:solidFill>
                <a:latin typeface="+mn-lt"/>
              </a:rPr>
              <a:t>Nécessite beaucoup de câbles</a:t>
            </a:r>
            <a:endParaRPr lang="fr-FR" sz="2000" b="1" i="0" u="none" strike="noStrike" baseline="0" dirty="0">
              <a:solidFill>
                <a:srgbClr val="000000"/>
              </a:solidFill>
              <a:highlight>
                <a:srgbClr val="C6B07E"/>
              </a:highlight>
              <a:latin typeface="+mn-lt"/>
            </a:endParaRPr>
          </a:p>
          <a:p>
            <a:pPr algn="l"/>
            <a:r>
              <a:rPr lang="fr-FR" sz="2000" b="0" i="0" u="none" strike="noStrike" baseline="0" dirty="0">
                <a:solidFill>
                  <a:srgbClr val="FF9A00"/>
                </a:solidFill>
                <a:latin typeface="+mn-lt"/>
              </a:rPr>
              <a:t> </a:t>
            </a:r>
            <a:r>
              <a:rPr lang="fr-FR" sz="2000" b="0" i="0" u="none" strike="noStrike" baseline="0" dirty="0">
                <a:solidFill>
                  <a:srgbClr val="000000"/>
                </a:solidFill>
                <a:latin typeface="+mn-lt"/>
              </a:rPr>
              <a:t>Topologie hybride</a:t>
            </a:r>
          </a:p>
          <a:p>
            <a:pPr algn="l"/>
            <a:endParaRPr lang="fr-FR" sz="2000" b="0" i="0" u="none" strike="noStrike" baseline="0" dirty="0">
              <a:solidFill>
                <a:srgbClr val="000000"/>
              </a:solidFill>
              <a:latin typeface="+mn-lt"/>
            </a:endParaRPr>
          </a:p>
          <a:p>
            <a:pPr algn="l"/>
            <a:r>
              <a:rPr lang="fr-FR" sz="2000" b="1" i="0" u="none" strike="noStrike" baseline="0" dirty="0">
                <a:solidFill>
                  <a:srgbClr val="000000"/>
                </a:solidFill>
                <a:highlight>
                  <a:srgbClr val="C6B07E"/>
                </a:highlight>
                <a:latin typeface="+mn-lt"/>
              </a:rPr>
              <a:t>Application pratique</a:t>
            </a:r>
          </a:p>
          <a:p>
            <a:pPr algn="l"/>
            <a:r>
              <a:rPr lang="fr-FR" sz="2000" b="0" i="0" u="none" strike="noStrike" baseline="0" dirty="0">
                <a:solidFill>
                  <a:srgbClr val="FF9A00"/>
                </a:solidFill>
                <a:latin typeface="+mn-lt"/>
              </a:rPr>
              <a:t> </a:t>
            </a:r>
            <a:r>
              <a:rPr lang="fr-FR" sz="2000" b="0" i="0" u="none" strike="noStrike" baseline="0" dirty="0">
                <a:solidFill>
                  <a:srgbClr val="000000"/>
                </a:solidFill>
                <a:latin typeface="+mn-lt"/>
              </a:rPr>
              <a:t>Réseaux télécoms</a:t>
            </a:r>
            <a:endParaRPr lang="fr-FR" sz="2000" dirty="0">
              <a:latin typeface="+mn-lt"/>
            </a:endParaRPr>
          </a:p>
        </p:txBody>
      </p:sp>
      <p:pic>
        <p:nvPicPr>
          <p:cNvPr id="6" name="Image 5">
            <a:extLst>
              <a:ext uri="{FF2B5EF4-FFF2-40B4-BE49-F238E27FC236}">
                <a16:creationId xmlns:a16="http://schemas.microsoft.com/office/drawing/2014/main" id="{C67C06F2-1B2E-424D-AA76-4217CAB42C5E}"/>
              </a:ext>
            </a:extLst>
          </p:cNvPr>
          <p:cNvPicPr>
            <a:picLocks noChangeAspect="1"/>
          </p:cNvPicPr>
          <p:nvPr/>
        </p:nvPicPr>
        <p:blipFill>
          <a:blip r:embed="rId2"/>
          <a:stretch>
            <a:fillRect/>
          </a:stretch>
        </p:blipFill>
        <p:spPr>
          <a:xfrm>
            <a:off x="5214012" y="3537431"/>
            <a:ext cx="3544970" cy="3293354"/>
          </a:xfrm>
          <a:prstGeom prst="rect">
            <a:avLst/>
          </a:prstGeom>
        </p:spPr>
      </p:pic>
    </p:spTree>
    <p:extLst>
      <p:ext uri="{BB962C8B-B14F-4D97-AF65-F5344CB8AC3E}">
        <p14:creationId xmlns:p14="http://schemas.microsoft.com/office/powerpoint/2010/main" val="39022449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4F58B3-FD66-4712-8579-E2F78EBE9F28}"/>
              </a:ext>
            </a:extLst>
          </p:cNvPr>
          <p:cNvSpPr>
            <a:spLocks noGrp="1"/>
          </p:cNvSpPr>
          <p:nvPr>
            <p:ph type="title"/>
          </p:nvPr>
        </p:nvSpPr>
        <p:spPr>
          <a:xfrm>
            <a:off x="1259632" y="260648"/>
            <a:ext cx="7499350" cy="720080"/>
          </a:xfrm>
          <a:solidFill>
            <a:schemeClr val="bg2">
              <a:lumMod val="75000"/>
            </a:schemeClr>
          </a:solidFill>
        </p:spPr>
        <p:txBody>
          <a:bodyPr>
            <a:normAutofit fontScale="90000"/>
          </a:bodyPr>
          <a:lstStyle/>
          <a:p>
            <a:r>
              <a:rPr lang="fr-FR" dirty="0"/>
              <a:t> les principales Topologies </a:t>
            </a:r>
          </a:p>
        </p:txBody>
      </p:sp>
      <p:sp>
        <p:nvSpPr>
          <p:cNvPr id="7" name="Espace réservé du numéro de diapositive 6">
            <a:extLst>
              <a:ext uri="{FF2B5EF4-FFF2-40B4-BE49-F238E27FC236}">
                <a16:creationId xmlns:a16="http://schemas.microsoft.com/office/drawing/2014/main" id="{F940D574-BD97-4D76-9AAC-C173ADAB98CE}"/>
              </a:ext>
            </a:extLst>
          </p:cNvPr>
          <p:cNvSpPr>
            <a:spLocks noGrp="1"/>
          </p:cNvSpPr>
          <p:nvPr>
            <p:ph type="sldNum" sz="quarter" idx="4294967295"/>
          </p:nvPr>
        </p:nvSpPr>
        <p:spPr>
          <a:xfrm>
            <a:off x="8686800" y="6305550"/>
            <a:ext cx="457200" cy="476250"/>
          </a:xfrm>
        </p:spPr>
        <p:txBody>
          <a:bodyPr/>
          <a:lstStyle/>
          <a:p>
            <a:pPr>
              <a:defRPr/>
            </a:pPr>
            <a:fld id="{59EB3592-E4B7-4B42-9B17-519130A2B0CE}" type="slidenum">
              <a:rPr lang="fr-FR" smtClean="0"/>
              <a:pPr>
                <a:defRPr/>
              </a:pPr>
              <a:t>18</a:t>
            </a:fld>
            <a:endParaRPr lang="fr-FR"/>
          </a:p>
        </p:txBody>
      </p:sp>
      <p:pic>
        <p:nvPicPr>
          <p:cNvPr id="9" name="Image 8">
            <a:extLst>
              <a:ext uri="{FF2B5EF4-FFF2-40B4-BE49-F238E27FC236}">
                <a16:creationId xmlns:a16="http://schemas.microsoft.com/office/drawing/2014/main" id="{5E03CC9B-94BB-435A-A4D7-EAF151A389E6}"/>
              </a:ext>
            </a:extLst>
          </p:cNvPr>
          <p:cNvPicPr>
            <a:picLocks noChangeAspect="1"/>
          </p:cNvPicPr>
          <p:nvPr/>
        </p:nvPicPr>
        <p:blipFill>
          <a:blip r:embed="rId2"/>
          <a:stretch>
            <a:fillRect/>
          </a:stretch>
        </p:blipFill>
        <p:spPr>
          <a:xfrm>
            <a:off x="1171970" y="1043716"/>
            <a:ext cx="7833733" cy="5417545"/>
          </a:xfrm>
          <a:prstGeom prst="rect">
            <a:avLst/>
          </a:prstGeom>
          <a:ln>
            <a:solidFill>
              <a:srgbClr val="A9E9CF"/>
            </a:solidFill>
          </a:ln>
        </p:spPr>
      </p:pic>
    </p:spTree>
    <p:extLst>
      <p:ext uri="{BB962C8B-B14F-4D97-AF65-F5344CB8AC3E}">
        <p14:creationId xmlns:p14="http://schemas.microsoft.com/office/powerpoint/2010/main" val="38340159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92D6B-3047-4450-9713-82EF6C4A6FA4}"/>
              </a:ext>
            </a:extLst>
          </p:cNvPr>
          <p:cNvSpPr>
            <a:spLocks noGrp="1"/>
          </p:cNvSpPr>
          <p:nvPr>
            <p:ph type="title"/>
          </p:nvPr>
        </p:nvSpPr>
        <p:spPr>
          <a:xfrm>
            <a:off x="1104331" y="138146"/>
            <a:ext cx="7980799" cy="842581"/>
          </a:xfrm>
          <a:solidFill>
            <a:schemeClr val="bg2">
              <a:lumMod val="75000"/>
            </a:schemeClr>
          </a:solidFill>
        </p:spPr>
        <p:txBody>
          <a:bodyPr>
            <a:normAutofit fontScale="90000"/>
          </a:bodyPr>
          <a:lstStyle/>
          <a:p>
            <a:r>
              <a:rPr lang="fr-FR" dirty="0"/>
              <a:t>Classification des réseaux de données</a:t>
            </a:r>
          </a:p>
        </p:txBody>
      </p:sp>
      <p:sp>
        <p:nvSpPr>
          <p:cNvPr id="11" name="Espace réservé du numéro de diapositive 10">
            <a:extLst>
              <a:ext uri="{FF2B5EF4-FFF2-40B4-BE49-F238E27FC236}">
                <a16:creationId xmlns:a16="http://schemas.microsoft.com/office/drawing/2014/main" id="{62F456C6-5CFF-4F5B-96F4-F78CD1FCB818}"/>
              </a:ext>
            </a:extLst>
          </p:cNvPr>
          <p:cNvSpPr>
            <a:spLocks noGrp="1"/>
          </p:cNvSpPr>
          <p:nvPr>
            <p:ph type="sldNum" sz="quarter" idx="4294967295"/>
          </p:nvPr>
        </p:nvSpPr>
        <p:spPr>
          <a:xfrm>
            <a:off x="8686800" y="6305550"/>
            <a:ext cx="457200" cy="476250"/>
          </a:xfrm>
        </p:spPr>
        <p:txBody>
          <a:bodyPr/>
          <a:lstStyle/>
          <a:p>
            <a:pPr>
              <a:defRPr/>
            </a:pPr>
            <a:fld id="{59EB3592-E4B7-4B42-9B17-519130A2B0CE}" type="slidenum">
              <a:rPr lang="fr-FR" smtClean="0"/>
              <a:pPr>
                <a:defRPr/>
              </a:pPr>
              <a:t>19</a:t>
            </a:fld>
            <a:endParaRPr lang="fr-FR"/>
          </a:p>
        </p:txBody>
      </p:sp>
      <p:sp>
        <p:nvSpPr>
          <p:cNvPr id="4" name="ZoneTexte 3">
            <a:extLst>
              <a:ext uri="{FF2B5EF4-FFF2-40B4-BE49-F238E27FC236}">
                <a16:creationId xmlns:a16="http://schemas.microsoft.com/office/drawing/2014/main" id="{17402A51-CB1E-4E46-945A-8820326F4AAD}"/>
              </a:ext>
            </a:extLst>
          </p:cNvPr>
          <p:cNvSpPr txBox="1"/>
          <p:nvPr/>
        </p:nvSpPr>
        <p:spPr>
          <a:xfrm>
            <a:off x="2123728" y="995536"/>
            <a:ext cx="6408712" cy="830997"/>
          </a:xfrm>
          <a:prstGeom prst="rect">
            <a:avLst/>
          </a:prstGeom>
          <a:noFill/>
        </p:spPr>
        <p:txBody>
          <a:bodyPr wrap="square" rtlCol="0">
            <a:spAutoFit/>
          </a:bodyPr>
          <a:lstStyle/>
          <a:p>
            <a:pPr>
              <a:spcBef>
                <a:spcPts val="600"/>
              </a:spcBef>
            </a:pPr>
            <a:r>
              <a:rPr lang="fr-FR" dirty="0">
                <a:effectLst/>
                <a:latin typeface="Calibri" panose="020F0502020204030204" pitchFamily="34" charset="0"/>
                <a:ea typeface="Calibri" panose="020F0502020204030204" pitchFamily="34" charset="0"/>
                <a:cs typeface="Calibri" panose="020F0502020204030204" pitchFamily="34" charset="0"/>
              </a:rPr>
              <a:t>On peut faire une première classification des réseaux de données à l'aide de leur taille.</a:t>
            </a:r>
          </a:p>
        </p:txBody>
      </p:sp>
      <p:pic>
        <p:nvPicPr>
          <p:cNvPr id="7" name="Image 6">
            <a:extLst>
              <a:ext uri="{FF2B5EF4-FFF2-40B4-BE49-F238E27FC236}">
                <a16:creationId xmlns:a16="http://schemas.microsoft.com/office/drawing/2014/main" id="{ABB4A0DA-948F-41A9-AB5A-B5D9161F8D03}"/>
              </a:ext>
            </a:extLst>
          </p:cNvPr>
          <p:cNvPicPr>
            <a:picLocks noChangeAspect="1"/>
          </p:cNvPicPr>
          <p:nvPr/>
        </p:nvPicPr>
        <p:blipFill>
          <a:blip r:embed="rId2"/>
          <a:stretch>
            <a:fillRect/>
          </a:stretch>
        </p:blipFill>
        <p:spPr>
          <a:xfrm>
            <a:off x="1127705" y="2001912"/>
            <a:ext cx="7894342" cy="2666037"/>
          </a:xfrm>
          <a:prstGeom prst="rect">
            <a:avLst/>
          </a:prstGeom>
        </p:spPr>
      </p:pic>
      <p:sp>
        <p:nvSpPr>
          <p:cNvPr id="10" name="ZoneTexte 9">
            <a:extLst>
              <a:ext uri="{FF2B5EF4-FFF2-40B4-BE49-F238E27FC236}">
                <a16:creationId xmlns:a16="http://schemas.microsoft.com/office/drawing/2014/main" id="{F9571709-5B3A-4752-8FBB-3B760B61AB27}"/>
              </a:ext>
            </a:extLst>
          </p:cNvPr>
          <p:cNvSpPr txBox="1"/>
          <p:nvPr/>
        </p:nvSpPr>
        <p:spPr>
          <a:xfrm>
            <a:off x="2771800" y="4831088"/>
            <a:ext cx="4956463" cy="1569660"/>
          </a:xfrm>
          <a:prstGeom prst="rect">
            <a:avLst/>
          </a:prstGeom>
          <a:solidFill>
            <a:schemeClr val="bg2"/>
          </a:solidFill>
        </p:spPr>
        <p:txBody>
          <a:bodyPr wrap="square">
            <a:spAutoFit/>
          </a:bodyPr>
          <a:lstStyle/>
          <a:p>
            <a:pPr>
              <a:buFontTx/>
              <a:buChar char="•"/>
            </a:pPr>
            <a:r>
              <a:rPr lang="fr-FR" b="1" dirty="0">
                <a:effectLst/>
                <a:highlight>
                  <a:srgbClr val="FFFF00"/>
                </a:highlight>
                <a:latin typeface="Times New Roman" panose="02020603050405020304" pitchFamily="18" charset="0"/>
                <a:ea typeface="Calibri" panose="020F0502020204030204" pitchFamily="34" charset="0"/>
                <a:cs typeface="Times New Roman" panose="02020603050405020304" pitchFamily="18" charset="0"/>
              </a:rPr>
              <a:t>PAN (</a:t>
            </a:r>
            <a:r>
              <a:rPr lang="fr-FR" b="1" dirty="0" err="1">
                <a:effectLst/>
                <a:highlight>
                  <a:srgbClr val="FFFF00"/>
                </a:highlight>
                <a:latin typeface="Times New Roman" panose="02020603050405020304" pitchFamily="18" charset="0"/>
                <a:ea typeface="Calibri" panose="020F0502020204030204" pitchFamily="34" charset="0"/>
                <a:cs typeface="Times New Roman" panose="02020603050405020304" pitchFamily="18" charset="0"/>
              </a:rPr>
              <a:t>Personnal</a:t>
            </a:r>
            <a:r>
              <a:rPr lang="fr-FR" b="1" dirty="0">
                <a:effectLst/>
                <a:highlight>
                  <a:srgbClr val="FFFF00"/>
                </a:highlight>
                <a:latin typeface="Times New Roman" panose="02020603050405020304" pitchFamily="18" charset="0"/>
                <a:ea typeface="Calibri" panose="020F0502020204030204" pitchFamily="34" charset="0"/>
                <a:cs typeface="Times New Roman" panose="02020603050405020304" pitchFamily="18" charset="0"/>
              </a:rPr>
              <a:t> Area Network)</a:t>
            </a:r>
            <a:endParaRPr lang="fr-FR" dirty="0">
              <a:solidFill>
                <a:srgbClr val="000000"/>
              </a:solidFill>
              <a:highlight>
                <a:srgbClr val="FFFF00"/>
              </a:highlight>
              <a:latin typeface="Times New Roman" panose="02020603050405020304" pitchFamily="18" charset="0"/>
              <a:cs typeface="Times New Roman" panose="02020603050405020304" pitchFamily="18" charset="0"/>
            </a:endParaRPr>
          </a:p>
          <a:p>
            <a:pPr>
              <a:buFontTx/>
              <a:buChar char="•"/>
            </a:pPr>
            <a:r>
              <a:rPr lang="fr-FR" dirty="0">
                <a:solidFill>
                  <a:srgbClr val="000000"/>
                </a:solidFill>
                <a:highlight>
                  <a:srgbClr val="00FFFF"/>
                </a:highlight>
                <a:latin typeface="Times New Roman" pitchFamily="18" charset="0"/>
              </a:rPr>
              <a:t>LAN (Local Area Network) </a:t>
            </a:r>
          </a:p>
          <a:p>
            <a:pPr>
              <a:buFontTx/>
              <a:buChar char="•"/>
            </a:pPr>
            <a:r>
              <a:rPr lang="fr-FR" dirty="0">
                <a:solidFill>
                  <a:srgbClr val="000000"/>
                </a:solidFill>
                <a:highlight>
                  <a:srgbClr val="00FF00"/>
                </a:highlight>
                <a:latin typeface="Times New Roman" pitchFamily="18" charset="0"/>
              </a:rPr>
              <a:t>MAN (</a:t>
            </a:r>
            <a:r>
              <a:rPr lang="fr-FR" dirty="0" err="1">
                <a:solidFill>
                  <a:srgbClr val="000000"/>
                </a:solidFill>
                <a:highlight>
                  <a:srgbClr val="00FF00"/>
                </a:highlight>
                <a:latin typeface="Times New Roman" pitchFamily="18" charset="0"/>
              </a:rPr>
              <a:t>Metropolitan</a:t>
            </a:r>
            <a:r>
              <a:rPr lang="fr-FR" dirty="0">
                <a:solidFill>
                  <a:srgbClr val="000000"/>
                </a:solidFill>
                <a:highlight>
                  <a:srgbClr val="00FF00"/>
                </a:highlight>
                <a:latin typeface="Times New Roman" pitchFamily="18" charset="0"/>
              </a:rPr>
              <a:t> Area Network) </a:t>
            </a:r>
          </a:p>
          <a:p>
            <a:pPr>
              <a:buFontTx/>
              <a:buChar char="•"/>
            </a:pPr>
            <a:r>
              <a:rPr lang="fr-FR" dirty="0">
                <a:solidFill>
                  <a:srgbClr val="000000"/>
                </a:solidFill>
                <a:highlight>
                  <a:srgbClr val="C0C0C0"/>
                </a:highlight>
                <a:latin typeface="Times New Roman" pitchFamily="18" charset="0"/>
              </a:rPr>
              <a:t>WAN (Wide Area Network)</a:t>
            </a:r>
            <a:endParaRPr lang="fr-FR" sz="2000" dirty="0">
              <a:solidFill>
                <a:srgbClr val="000000"/>
              </a:solidFill>
              <a:highlight>
                <a:srgbClr val="C0C0C0"/>
              </a:highlight>
              <a:latin typeface="Verdana" pitchFamily="34" charset="0"/>
            </a:endParaRPr>
          </a:p>
        </p:txBody>
      </p:sp>
    </p:spTree>
    <p:extLst>
      <p:ext uri="{BB962C8B-B14F-4D97-AF65-F5344CB8AC3E}">
        <p14:creationId xmlns:p14="http://schemas.microsoft.com/office/powerpoint/2010/main" val="10716398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379733-76C1-4A5B-A221-EE843890A0E2}"/>
              </a:ext>
            </a:extLst>
          </p:cNvPr>
          <p:cNvSpPr>
            <a:spLocks noGrp="1"/>
          </p:cNvSpPr>
          <p:nvPr>
            <p:ph type="title"/>
          </p:nvPr>
        </p:nvSpPr>
        <p:spPr>
          <a:xfrm>
            <a:off x="1259632" y="260648"/>
            <a:ext cx="7499350" cy="936104"/>
          </a:xfrm>
          <a:solidFill>
            <a:schemeClr val="bg2">
              <a:lumMod val="75000"/>
            </a:schemeClr>
          </a:solidFill>
        </p:spPr>
        <p:txBody>
          <a:bodyPr/>
          <a:lstStyle/>
          <a:p>
            <a:r>
              <a:rPr lang="fr-FR" dirty="0">
                <a:effectLst/>
              </a:rPr>
              <a:t>Les bus</a:t>
            </a:r>
          </a:p>
        </p:txBody>
      </p:sp>
      <p:sp>
        <p:nvSpPr>
          <p:cNvPr id="6" name="Espace réservé du numéro de diapositive 5">
            <a:extLst>
              <a:ext uri="{FF2B5EF4-FFF2-40B4-BE49-F238E27FC236}">
                <a16:creationId xmlns:a16="http://schemas.microsoft.com/office/drawing/2014/main" id="{B854B7CB-D432-440B-A43F-239B6F391580}"/>
              </a:ext>
            </a:extLst>
          </p:cNvPr>
          <p:cNvSpPr>
            <a:spLocks noGrp="1"/>
          </p:cNvSpPr>
          <p:nvPr>
            <p:ph type="sldNum" sz="quarter" idx="4294967295"/>
          </p:nvPr>
        </p:nvSpPr>
        <p:spPr>
          <a:xfrm>
            <a:off x="8686800" y="6305550"/>
            <a:ext cx="457200" cy="476250"/>
          </a:xfrm>
        </p:spPr>
        <p:txBody>
          <a:bodyPr/>
          <a:lstStyle/>
          <a:p>
            <a:pPr>
              <a:defRPr/>
            </a:pPr>
            <a:fld id="{59EB3592-E4B7-4B42-9B17-519130A2B0CE}" type="slidenum">
              <a:rPr lang="fr-FR" smtClean="0"/>
              <a:pPr>
                <a:defRPr/>
              </a:pPr>
              <a:t>20</a:t>
            </a:fld>
            <a:endParaRPr lang="fr-FR"/>
          </a:p>
        </p:txBody>
      </p:sp>
      <p:sp>
        <p:nvSpPr>
          <p:cNvPr id="5" name="ZoneTexte 4">
            <a:extLst>
              <a:ext uri="{FF2B5EF4-FFF2-40B4-BE49-F238E27FC236}">
                <a16:creationId xmlns:a16="http://schemas.microsoft.com/office/drawing/2014/main" id="{F70A1E54-39AA-4BA8-89EA-88730E395620}"/>
              </a:ext>
            </a:extLst>
          </p:cNvPr>
          <p:cNvSpPr txBox="1"/>
          <p:nvPr/>
        </p:nvSpPr>
        <p:spPr>
          <a:xfrm>
            <a:off x="1187624" y="1556792"/>
            <a:ext cx="7592800" cy="5216813"/>
          </a:xfrm>
          <a:prstGeom prst="rect">
            <a:avLst/>
          </a:prstGeom>
          <a:solidFill>
            <a:schemeClr val="bg2"/>
          </a:solidFill>
        </p:spPr>
        <p:txBody>
          <a:bodyPr wrap="square" rtlCol="0">
            <a:spAutoFit/>
          </a:bodyPr>
          <a:lstStyle/>
          <a:p>
            <a:pPr>
              <a:spcBef>
                <a:spcPts val="600"/>
              </a:spcBef>
            </a:pPr>
            <a:r>
              <a:rPr lang="fr-FR" sz="2800" b="1" dirty="0">
                <a:effectLst/>
                <a:highlight>
                  <a:srgbClr val="C6B07E"/>
                </a:highlight>
                <a:latin typeface="+mn-lt"/>
                <a:ea typeface="Calibri" panose="020F0502020204030204" pitchFamily="34" charset="0"/>
                <a:cs typeface="Calibri" panose="020F0502020204030204" pitchFamily="34" charset="0"/>
              </a:rPr>
              <a:t>Les</a:t>
            </a:r>
            <a:r>
              <a:rPr lang="fr-FR" sz="2800" dirty="0">
                <a:effectLst/>
                <a:highlight>
                  <a:srgbClr val="C6B07E"/>
                </a:highlight>
                <a:latin typeface="+mn-lt"/>
                <a:ea typeface="Calibri" panose="020F0502020204030204" pitchFamily="34" charset="0"/>
                <a:cs typeface="Calibri" panose="020F0502020204030204" pitchFamily="34" charset="0"/>
              </a:rPr>
              <a:t> </a:t>
            </a:r>
            <a:r>
              <a:rPr lang="fr-FR" sz="2800" b="1" dirty="0">
                <a:effectLst/>
                <a:highlight>
                  <a:srgbClr val="C6B07E"/>
                </a:highlight>
                <a:latin typeface="+mn-lt"/>
                <a:ea typeface="Calibri" panose="020F0502020204030204" pitchFamily="34" charset="0"/>
                <a:cs typeface="Calibri" panose="020F0502020204030204" pitchFamily="34" charset="0"/>
              </a:rPr>
              <a:t>bus</a:t>
            </a:r>
            <a:r>
              <a:rPr lang="fr-FR" sz="2800" dirty="0">
                <a:effectLst/>
                <a:latin typeface="+mn-lt"/>
                <a:ea typeface="Calibri" panose="020F0502020204030204" pitchFamily="34" charset="0"/>
                <a:cs typeface="Calibri" panose="020F0502020204030204" pitchFamily="34" charset="0"/>
              </a:rPr>
              <a:t> que l'on trouve dans un ordinateur pour relier ses différents composants (mémoires, périphériques d'entrée-sortie, processeurs, ...) peuvent être considérés comme des réseaux dédiés à des tâches très spécifiques. </a:t>
            </a:r>
          </a:p>
          <a:p>
            <a:pPr>
              <a:spcBef>
                <a:spcPts val="600"/>
              </a:spcBef>
            </a:pPr>
            <a:endParaRPr lang="fr-FR" sz="2800" dirty="0">
              <a:effectLst/>
              <a:latin typeface="+mn-lt"/>
              <a:ea typeface="Calibri" panose="020F0502020204030204" pitchFamily="34" charset="0"/>
              <a:cs typeface="Calibri" panose="020F0502020204030204" pitchFamily="34" charset="0"/>
            </a:endParaRPr>
          </a:p>
          <a:p>
            <a:pPr>
              <a:spcBef>
                <a:spcPts val="600"/>
              </a:spcBef>
            </a:pPr>
            <a:r>
              <a:rPr lang="fr-FR" sz="2800" dirty="0">
                <a:effectLst/>
                <a:latin typeface="+mn-lt"/>
                <a:ea typeface="Calibri" panose="020F0502020204030204" pitchFamily="34" charset="0"/>
                <a:cs typeface="Calibri" panose="020F0502020204030204" pitchFamily="34" charset="0"/>
              </a:rPr>
              <a:t>Certains réseaux industriels sont aussi appelés </a:t>
            </a:r>
            <a:r>
              <a:rPr lang="fr-FR" sz="2800" b="1" dirty="0">
                <a:effectLst/>
                <a:latin typeface="+mn-lt"/>
                <a:ea typeface="Calibri" panose="020F0502020204030204" pitchFamily="34" charset="0"/>
                <a:cs typeface="Calibri" panose="020F0502020204030204" pitchFamily="34" charset="0"/>
              </a:rPr>
              <a:t>bus de terrain </a:t>
            </a:r>
            <a:r>
              <a:rPr lang="fr-FR" sz="2800" dirty="0">
                <a:effectLst/>
                <a:latin typeface="+mn-lt"/>
                <a:ea typeface="Calibri" panose="020F0502020204030204" pitchFamily="34" charset="0"/>
                <a:cs typeface="Calibri" panose="020F0502020204030204" pitchFamily="34" charset="0"/>
              </a:rPr>
              <a:t>ou</a:t>
            </a:r>
            <a:r>
              <a:rPr lang="fr-FR" sz="2800" b="1" dirty="0">
                <a:effectLst/>
                <a:latin typeface="+mn-lt"/>
                <a:ea typeface="Calibri" panose="020F0502020204030204" pitchFamily="34" charset="0"/>
                <a:cs typeface="Calibri" panose="020F0502020204030204" pitchFamily="34" charset="0"/>
              </a:rPr>
              <a:t> réseau de terrain</a:t>
            </a:r>
            <a:r>
              <a:rPr lang="fr-FR" sz="2800" dirty="0">
                <a:effectLst/>
                <a:latin typeface="+mn-lt"/>
                <a:ea typeface="Calibri" panose="020F0502020204030204" pitchFamily="34" charset="0"/>
                <a:cs typeface="Calibri" panose="020F0502020204030204" pitchFamily="34" charset="0"/>
              </a:rPr>
              <a:t>.</a:t>
            </a:r>
          </a:p>
          <a:p>
            <a:pPr>
              <a:spcBef>
                <a:spcPts val="600"/>
              </a:spcBef>
            </a:pPr>
            <a:r>
              <a:rPr lang="fr-FR" sz="2800" b="1" dirty="0">
                <a:highlight>
                  <a:srgbClr val="C6B07E"/>
                </a:highlight>
                <a:latin typeface="Arial" panose="020B0604020202020204" pitchFamily="34" charset="0"/>
                <a:cs typeface="Arial" panose="020B0604020202020204" pitchFamily="34" charset="0"/>
              </a:rPr>
              <a:t>Utilisation</a:t>
            </a:r>
          </a:p>
          <a:p>
            <a:pPr>
              <a:spcBef>
                <a:spcPts val="600"/>
              </a:spcBef>
            </a:pPr>
            <a:r>
              <a:rPr lang="fr-FR" sz="2800" dirty="0">
                <a:latin typeface="Arial" panose="020B0604020202020204" pitchFamily="34" charset="0"/>
                <a:cs typeface="Arial" panose="020B0604020202020204" pitchFamily="34" charset="0"/>
              </a:rPr>
              <a:t>- Réseaux Locaux Industriels JBUS, </a:t>
            </a:r>
            <a:r>
              <a:rPr lang="fr-FR" sz="2800" b="0" i="0" dirty="0">
                <a:solidFill>
                  <a:srgbClr val="202122"/>
                </a:solidFill>
                <a:effectLst/>
                <a:latin typeface="Arial" panose="020B0604020202020204" pitchFamily="34" charset="0"/>
              </a:rPr>
              <a:t>Profibus,</a:t>
            </a:r>
          </a:p>
          <a:p>
            <a:pPr>
              <a:spcBef>
                <a:spcPts val="600"/>
              </a:spcBef>
            </a:pPr>
            <a:r>
              <a:rPr lang="fr-FR" sz="2800" dirty="0">
                <a:latin typeface="Arial" panose="020B0604020202020204" pitchFamily="34" charset="0"/>
                <a:cs typeface="Arial" panose="020B0604020202020204" pitchFamily="34" charset="0"/>
              </a:rPr>
              <a:t> </a:t>
            </a:r>
            <a:r>
              <a:rPr lang="fr-FR" sz="2800" b="0" i="0" dirty="0" err="1">
                <a:solidFill>
                  <a:srgbClr val="202122"/>
                </a:solidFill>
                <a:effectLst/>
                <a:latin typeface="Arial" panose="020B0604020202020204" pitchFamily="34" charset="0"/>
              </a:rPr>
              <a:t>Interbus</a:t>
            </a:r>
            <a:r>
              <a:rPr lang="fr-FR" sz="2800" dirty="0">
                <a:solidFill>
                  <a:srgbClr val="202122"/>
                </a:solidFill>
                <a:latin typeface="Arial" panose="020B0604020202020204" pitchFamily="34" charset="0"/>
              </a:rPr>
              <a:t>…</a:t>
            </a:r>
            <a:endParaRPr lang="fr-FR" sz="2800" dirty="0">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3928462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F09CEA3-4AFE-4DDD-A714-471282251991}"/>
              </a:ext>
            </a:extLst>
          </p:cNvPr>
          <p:cNvSpPr>
            <a:spLocks noGrp="1"/>
          </p:cNvSpPr>
          <p:nvPr>
            <p:ph type="title"/>
          </p:nvPr>
        </p:nvSpPr>
        <p:spPr>
          <a:xfrm>
            <a:off x="1259632" y="260648"/>
            <a:ext cx="7499350" cy="1080120"/>
          </a:xfrm>
          <a:solidFill>
            <a:schemeClr val="bg2">
              <a:lumMod val="75000"/>
            </a:schemeClr>
          </a:solidFill>
        </p:spPr>
        <p:txBody>
          <a:bodyPr>
            <a:normAutofit fontScale="90000"/>
          </a:bodyPr>
          <a:lstStyle/>
          <a:p>
            <a:br>
              <a:rPr lang="fr-FR" dirty="0"/>
            </a:br>
            <a:r>
              <a:rPr lang="fr-FR" dirty="0"/>
              <a:t>PAN (</a:t>
            </a:r>
            <a:r>
              <a:rPr lang="fr-FR" dirty="0" err="1"/>
              <a:t>Personnal</a:t>
            </a:r>
            <a:r>
              <a:rPr lang="fr-FR" dirty="0"/>
              <a:t> Area Network)</a:t>
            </a:r>
            <a:br>
              <a:rPr lang="fr-FR" dirty="0"/>
            </a:br>
            <a:endParaRPr lang="fr-FR" dirty="0"/>
          </a:p>
        </p:txBody>
      </p:sp>
      <p:sp>
        <p:nvSpPr>
          <p:cNvPr id="5" name="Espace réservé du numéro de diapositive 4">
            <a:extLst>
              <a:ext uri="{FF2B5EF4-FFF2-40B4-BE49-F238E27FC236}">
                <a16:creationId xmlns:a16="http://schemas.microsoft.com/office/drawing/2014/main" id="{747EDBAC-39A2-4464-872B-D9807F681E2E}"/>
              </a:ext>
            </a:extLst>
          </p:cNvPr>
          <p:cNvSpPr>
            <a:spLocks noGrp="1"/>
          </p:cNvSpPr>
          <p:nvPr>
            <p:ph type="sldNum" sz="quarter" idx="4294967295"/>
          </p:nvPr>
        </p:nvSpPr>
        <p:spPr>
          <a:xfrm>
            <a:off x="8686800" y="6305550"/>
            <a:ext cx="457200" cy="476250"/>
          </a:xfrm>
        </p:spPr>
        <p:txBody>
          <a:bodyPr/>
          <a:lstStyle/>
          <a:p>
            <a:pPr>
              <a:defRPr/>
            </a:pPr>
            <a:fld id="{59EB3592-E4B7-4B42-9B17-519130A2B0CE}" type="slidenum">
              <a:rPr lang="fr-FR" smtClean="0"/>
              <a:pPr>
                <a:defRPr/>
              </a:pPr>
              <a:t>21</a:t>
            </a:fld>
            <a:endParaRPr lang="fr-FR"/>
          </a:p>
        </p:txBody>
      </p:sp>
      <p:sp>
        <p:nvSpPr>
          <p:cNvPr id="4" name="ZoneTexte 3">
            <a:extLst>
              <a:ext uri="{FF2B5EF4-FFF2-40B4-BE49-F238E27FC236}">
                <a16:creationId xmlns:a16="http://schemas.microsoft.com/office/drawing/2014/main" id="{7E5D97DF-FA41-4241-AB81-9290DF88FAB6}"/>
              </a:ext>
            </a:extLst>
          </p:cNvPr>
          <p:cNvSpPr txBox="1"/>
          <p:nvPr/>
        </p:nvSpPr>
        <p:spPr>
          <a:xfrm>
            <a:off x="1560066" y="2842460"/>
            <a:ext cx="7355334" cy="2477601"/>
          </a:xfrm>
          <a:prstGeom prst="rect">
            <a:avLst/>
          </a:prstGeom>
          <a:solidFill>
            <a:schemeClr val="bg2"/>
          </a:solidFill>
        </p:spPr>
        <p:txBody>
          <a:bodyPr wrap="square" rtlCol="0">
            <a:spAutoFit/>
          </a:bodyPr>
          <a:lstStyle/>
          <a:p>
            <a:pPr>
              <a:spcBef>
                <a:spcPts val="600"/>
              </a:spcBef>
            </a:pPr>
            <a:r>
              <a:rPr lang="fr-FR" sz="2800" dirty="0">
                <a:latin typeface="Calibri" panose="020F0502020204030204" pitchFamily="34" charset="0"/>
                <a:ea typeface="Calibri" panose="020F0502020204030204" pitchFamily="34" charset="0"/>
                <a:cs typeface="Calibri" panose="020F0502020204030204" pitchFamily="34" charset="0"/>
              </a:rPr>
              <a:t>I</a:t>
            </a:r>
            <a:r>
              <a:rPr lang="fr-FR" sz="2800" dirty="0">
                <a:effectLst/>
                <a:latin typeface="Calibri" panose="020F0502020204030204" pitchFamily="34" charset="0"/>
                <a:ea typeface="Calibri" panose="020F0502020204030204" pitchFamily="34" charset="0"/>
                <a:cs typeface="Calibri" panose="020F0502020204030204" pitchFamily="34" charset="0"/>
              </a:rPr>
              <a:t>nterconnecte (souvent par des liaisons sans fil) des équipements personnels comme:</a:t>
            </a:r>
          </a:p>
          <a:p>
            <a:pPr marL="742950" lvl="1" indent="-285750">
              <a:spcBef>
                <a:spcPts val="600"/>
              </a:spcBef>
              <a:buFont typeface="Arial" panose="020B0604020202020204" pitchFamily="34" charset="0"/>
              <a:buChar char="•"/>
            </a:pPr>
            <a:r>
              <a:rPr lang="fr-FR" sz="2800" dirty="0">
                <a:effectLst/>
                <a:latin typeface="Calibri" panose="020F0502020204030204" pitchFamily="34" charset="0"/>
                <a:ea typeface="Calibri" panose="020F0502020204030204" pitchFamily="34" charset="0"/>
                <a:cs typeface="Calibri" panose="020F0502020204030204" pitchFamily="34" charset="0"/>
              </a:rPr>
              <a:t>un ordinateur portable</a:t>
            </a:r>
            <a:r>
              <a:rPr lang="fr-FR" sz="2800" dirty="0">
                <a:latin typeface="Calibri" panose="020F0502020204030204" pitchFamily="34" charset="0"/>
                <a:ea typeface="Calibri" panose="020F0502020204030204" pitchFamily="34" charset="0"/>
                <a:cs typeface="Calibri" panose="020F0502020204030204" pitchFamily="34" charset="0"/>
              </a:rPr>
              <a:t>.</a:t>
            </a:r>
            <a:endParaRPr lang="fr-FR" sz="2800" dirty="0">
              <a:effectLst/>
              <a:latin typeface="Calibri" panose="020F0502020204030204" pitchFamily="34" charset="0"/>
              <a:ea typeface="Calibri" panose="020F0502020204030204" pitchFamily="34" charset="0"/>
              <a:cs typeface="Calibri" panose="020F0502020204030204" pitchFamily="34" charset="0"/>
            </a:endParaRPr>
          </a:p>
          <a:p>
            <a:pPr marL="742950" lvl="1" indent="-285750">
              <a:spcBef>
                <a:spcPts val="600"/>
              </a:spcBef>
              <a:buFont typeface="Arial" panose="020B0604020202020204" pitchFamily="34" charset="0"/>
              <a:buChar char="•"/>
            </a:pPr>
            <a:r>
              <a:rPr lang="fr-FR" sz="2800" dirty="0">
                <a:latin typeface="Calibri" panose="020F0502020204030204" pitchFamily="34" charset="0"/>
                <a:ea typeface="Calibri" panose="020F0502020204030204" pitchFamily="34" charset="0"/>
                <a:cs typeface="Calibri" panose="020F0502020204030204" pitchFamily="34" charset="0"/>
              </a:rPr>
              <a:t>Téléphone mobile.</a:t>
            </a:r>
            <a:endParaRPr lang="fr-FR" sz="2800" dirty="0">
              <a:effectLst/>
              <a:latin typeface="Calibri" panose="020F0502020204030204" pitchFamily="34" charset="0"/>
              <a:ea typeface="Calibri" panose="020F0502020204030204" pitchFamily="34" charset="0"/>
              <a:cs typeface="Calibri" panose="020F0502020204030204" pitchFamily="34" charset="0"/>
            </a:endParaRPr>
          </a:p>
          <a:p>
            <a:pPr marL="742950" lvl="1" indent="-285750">
              <a:spcBef>
                <a:spcPts val="600"/>
              </a:spcBef>
              <a:buFont typeface="Arial" panose="020B0604020202020204" pitchFamily="34" charset="0"/>
              <a:buChar char="•"/>
            </a:pPr>
            <a:r>
              <a:rPr lang="fr-FR" sz="2800" dirty="0">
                <a:effectLst/>
                <a:latin typeface="Calibri" panose="020F0502020204030204" pitchFamily="34" charset="0"/>
                <a:ea typeface="Calibri" panose="020F0502020204030204" pitchFamily="34" charset="0"/>
                <a:cs typeface="Calibri" panose="020F0502020204030204" pitchFamily="34" charset="0"/>
              </a:rPr>
              <a:t>un agenda électronique... </a:t>
            </a:r>
          </a:p>
        </p:txBody>
      </p:sp>
    </p:spTree>
    <p:extLst>
      <p:ext uri="{BB962C8B-B14F-4D97-AF65-F5344CB8AC3E}">
        <p14:creationId xmlns:p14="http://schemas.microsoft.com/office/powerpoint/2010/main" val="17848560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259632" y="260648"/>
            <a:ext cx="7499350" cy="1080120"/>
          </a:xfrm>
          <a:solidFill>
            <a:schemeClr val="bg2">
              <a:lumMod val="75000"/>
            </a:schemeClr>
          </a:solidFill>
        </p:spPr>
        <p:txBody>
          <a:bodyPr>
            <a:normAutofit/>
          </a:bodyPr>
          <a:lstStyle/>
          <a:p>
            <a:r>
              <a:rPr lang="fr-FR" dirty="0"/>
              <a:t>LAN (Local Area Network)</a:t>
            </a:r>
          </a:p>
        </p:txBody>
      </p:sp>
      <p:sp>
        <p:nvSpPr>
          <p:cNvPr id="6" name="Espace réservé du numéro de diapositive 5">
            <a:extLst>
              <a:ext uri="{FF2B5EF4-FFF2-40B4-BE49-F238E27FC236}">
                <a16:creationId xmlns:a16="http://schemas.microsoft.com/office/drawing/2014/main" id="{932016DC-A8A6-4493-BCCA-D1C60136BC54}"/>
              </a:ext>
            </a:extLst>
          </p:cNvPr>
          <p:cNvSpPr>
            <a:spLocks noGrp="1"/>
          </p:cNvSpPr>
          <p:nvPr>
            <p:ph type="sldNum" sz="quarter" idx="4294967295"/>
          </p:nvPr>
        </p:nvSpPr>
        <p:spPr>
          <a:xfrm>
            <a:off x="8686800" y="6305550"/>
            <a:ext cx="457200" cy="476250"/>
          </a:xfrm>
        </p:spPr>
        <p:txBody>
          <a:bodyPr/>
          <a:lstStyle/>
          <a:p>
            <a:pPr>
              <a:defRPr/>
            </a:pPr>
            <a:fld id="{59EB3592-E4B7-4B42-9B17-519130A2B0CE}" type="slidenum">
              <a:rPr lang="fr-FR" smtClean="0"/>
              <a:pPr>
                <a:defRPr/>
              </a:pPr>
              <a:t>22</a:t>
            </a:fld>
            <a:endParaRPr lang="fr-FR"/>
          </a:p>
        </p:txBody>
      </p:sp>
      <p:sp>
        <p:nvSpPr>
          <p:cNvPr id="19459" name="Rectangle 4"/>
          <p:cNvSpPr>
            <a:spLocks noChangeArrowheads="1"/>
          </p:cNvSpPr>
          <p:nvPr/>
        </p:nvSpPr>
        <p:spPr bwMode="auto">
          <a:xfrm>
            <a:off x="1203325" y="1417320"/>
            <a:ext cx="7639050" cy="5324535"/>
          </a:xfrm>
          <a:prstGeom prst="rect">
            <a:avLst/>
          </a:prstGeom>
          <a:solidFill>
            <a:schemeClr val="bg2"/>
          </a:solidFill>
          <a:ln w="9525">
            <a:noFill/>
            <a:miter lim="800000"/>
            <a:headEnd/>
            <a:tailEnd/>
          </a:ln>
        </p:spPr>
        <p:txBody>
          <a:bodyPr>
            <a:spAutoFit/>
          </a:bodyPr>
          <a:lstStyle/>
          <a:p>
            <a:pPr algn="just"/>
            <a:r>
              <a:rPr lang="fr-FR" sz="2000" dirty="0">
                <a:solidFill>
                  <a:srgbClr val="000000"/>
                </a:solidFill>
                <a:latin typeface="Verdana" pitchFamily="34" charset="0"/>
              </a:rPr>
              <a:t>     </a:t>
            </a:r>
            <a:r>
              <a:rPr lang="fr-FR" dirty="0">
                <a:solidFill>
                  <a:srgbClr val="000000"/>
                </a:solidFill>
                <a:latin typeface="Calibri" panose="020F0502020204030204" pitchFamily="34" charset="0"/>
                <a:cs typeface="Calibri" panose="020F0502020204030204" pitchFamily="34" charset="0"/>
              </a:rPr>
              <a:t>Ce terme désigne un </a:t>
            </a:r>
            <a:r>
              <a:rPr lang="fr-FR" b="1" dirty="0">
                <a:solidFill>
                  <a:srgbClr val="000000"/>
                </a:solidFill>
                <a:latin typeface="Calibri" panose="020F0502020204030204" pitchFamily="34" charset="0"/>
                <a:cs typeface="Calibri" panose="020F0502020204030204" pitchFamily="34" charset="0"/>
              </a:rPr>
              <a:t>réseau local</a:t>
            </a:r>
            <a:r>
              <a:rPr lang="fr-FR" dirty="0">
                <a:solidFill>
                  <a:srgbClr val="000000"/>
                </a:solidFill>
                <a:latin typeface="Calibri" panose="020F0502020204030204" pitchFamily="34" charset="0"/>
                <a:cs typeface="Calibri" panose="020F0502020204030204" pitchFamily="34" charset="0"/>
              </a:rPr>
              <a:t>,</a:t>
            </a:r>
            <a:r>
              <a:rPr lang="fr-FR" dirty="0">
                <a:effectLst/>
                <a:latin typeface="Calibri" panose="020F0502020204030204" pitchFamily="34" charset="0"/>
                <a:ea typeface="Calibri" panose="020F0502020204030204" pitchFamily="34" charset="0"/>
                <a:cs typeface="Calibri" panose="020F0502020204030204" pitchFamily="34" charset="0"/>
              </a:rPr>
              <a:t> peut s'étendre de quelques mètres à quelques kilomètres et correspond au réseau d'une entreprise. </a:t>
            </a:r>
          </a:p>
          <a:p>
            <a:pPr algn="just"/>
            <a:r>
              <a:rPr lang="fr-FR" dirty="0">
                <a:effectLst/>
                <a:latin typeface="Calibri" panose="020F0502020204030204" pitchFamily="34" charset="0"/>
                <a:ea typeface="Calibri" panose="020F0502020204030204" pitchFamily="34" charset="0"/>
                <a:cs typeface="Calibri" panose="020F0502020204030204" pitchFamily="34" charset="0"/>
              </a:rPr>
              <a:t>Il peut se développer sur plusieurs bâtiments et permet de satisfaire tous les besoins internes de l’entreprise. </a:t>
            </a:r>
            <a:endParaRPr lang="fr-FR" dirty="0">
              <a:solidFill>
                <a:srgbClr val="000000"/>
              </a:solidFill>
              <a:latin typeface="Verdana" pitchFamily="34" charset="0"/>
            </a:endParaRPr>
          </a:p>
          <a:p>
            <a:pPr algn="just"/>
            <a:endParaRPr lang="fr-FR" sz="2000" dirty="0">
              <a:solidFill>
                <a:srgbClr val="000000"/>
              </a:solidFill>
              <a:latin typeface="Verdana" pitchFamily="34" charset="0"/>
            </a:endParaRPr>
          </a:p>
          <a:p>
            <a:pPr algn="just"/>
            <a:r>
              <a:rPr lang="fr-FR" sz="2000" dirty="0">
                <a:solidFill>
                  <a:srgbClr val="000000"/>
                </a:solidFill>
                <a:latin typeface="Verdana" pitchFamily="34" charset="0"/>
              </a:rPr>
              <a:t>Il se caractérise par :</a:t>
            </a:r>
          </a:p>
          <a:p>
            <a:pPr algn="just"/>
            <a:endParaRPr lang="fr-FR" sz="2000" dirty="0">
              <a:solidFill>
                <a:srgbClr val="000000"/>
              </a:solidFill>
              <a:latin typeface="Verdana" pitchFamily="34" charset="0"/>
            </a:endParaRPr>
          </a:p>
          <a:p>
            <a:pPr algn="just">
              <a:buFontTx/>
              <a:buChar char="•"/>
            </a:pPr>
            <a:r>
              <a:rPr lang="fr-FR" sz="2000" dirty="0">
                <a:solidFill>
                  <a:srgbClr val="000000"/>
                </a:solidFill>
                <a:latin typeface="Verdana" pitchFamily="34" charset="0"/>
              </a:rPr>
              <a:t> Même organisation</a:t>
            </a:r>
          </a:p>
          <a:p>
            <a:pPr algn="just">
              <a:buFontTx/>
              <a:buChar char="•"/>
            </a:pPr>
            <a:r>
              <a:rPr lang="fr-FR" sz="2000" dirty="0">
                <a:solidFill>
                  <a:srgbClr val="000000"/>
                </a:solidFill>
                <a:latin typeface="Verdana" pitchFamily="34" charset="0"/>
              </a:rPr>
              <a:t> Petite aire géographique</a:t>
            </a:r>
          </a:p>
          <a:p>
            <a:pPr algn="just">
              <a:buFontTx/>
              <a:buChar char="•"/>
            </a:pPr>
            <a:r>
              <a:rPr lang="fr-FR" sz="2000" dirty="0">
                <a:solidFill>
                  <a:srgbClr val="000000"/>
                </a:solidFill>
                <a:latin typeface="Verdana" pitchFamily="34" charset="0"/>
              </a:rPr>
              <a:t> Même technologie</a:t>
            </a:r>
          </a:p>
          <a:p>
            <a:pPr algn="just"/>
            <a:endParaRPr lang="fr-FR" sz="2000" dirty="0">
              <a:solidFill>
                <a:srgbClr val="000000"/>
              </a:solidFill>
              <a:latin typeface="Verdana" pitchFamily="34" charset="0"/>
            </a:endParaRPr>
          </a:p>
          <a:p>
            <a:pPr algn="just"/>
            <a:r>
              <a:rPr lang="fr-FR" sz="2000" b="1" dirty="0">
                <a:solidFill>
                  <a:srgbClr val="000000"/>
                </a:solidFill>
                <a:latin typeface="Verdana" pitchFamily="34" charset="0"/>
              </a:rPr>
              <a:t>Exemples </a:t>
            </a:r>
            <a:r>
              <a:rPr lang="fr-FR" sz="2000" dirty="0">
                <a:solidFill>
                  <a:srgbClr val="000000"/>
                </a:solidFill>
                <a:latin typeface="Verdana" pitchFamily="34" charset="0"/>
              </a:rPr>
              <a:t>:</a:t>
            </a:r>
          </a:p>
          <a:p>
            <a:pPr algn="just"/>
            <a:endParaRPr lang="fr-FR" sz="2000" dirty="0">
              <a:solidFill>
                <a:srgbClr val="000000"/>
              </a:solidFill>
              <a:latin typeface="Verdana" pitchFamily="34" charset="0"/>
            </a:endParaRPr>
          </a:p>
          <a:p>
            <a:pPr algn="just">
              <a:buFontTx/>
              <a:buChar char="•"/>
            </a:pPr>
            <a:r>
              <a:rPr lang="fr-FR" sz="2000" dirty="0">
                <a:solidFill>
                  <a:srgbClr val="000000"/>
                </a:solidFill>
                <a:latin typeface="Verdana" pitchFamily="34" charset="0"/>
              </a:rPr>
              <a:t> Réseau local du lycée</a:t>
            </a:r>
          </a:p>
          <a:p>
            <a:pPr algn="just">
              <a:buFontTx/>
              <a:buChar char="•"/>
            </a:pPr>
            <a:r>
              <a:rPr lang="fr-FR" sz="2000" dirty="0">
                <a:solidFill>
                  <a:srgbClr val="000000"/>
                </a:solidFill>
                <a:latin typeface="Verdana" pitchFamily="34" charset="0"/>
              </a:rPr>
              <a:t> Réseau local au sein d’une entreprise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259632" y="260648"/>
            <a:ext cx="7499350" cy="1080120"/>
          </a:xfrm>
          <a:solidFill>
            <a:schemeClr val="bg2">
              <a:lumMod val="75000"/>
            </a:schemeClr>
          </a:solidFill>
        </p:spPr>
        <p:txBody>
          <a:bodyPr/>
          <a:lstStyle/>
          <a:p>
            <a:r>
              <a:rPr lang="fr-FR" dirty="0"/>
              <a:t>LAN (Local Area Network)</a:t>
            </a:r>
          </a:p>
        </p:txBody>
      </p:sp>
      <p:sp>
        <p:nvSpPr>
          <p:cNvPr id="3" name="Espace réservé du numéro de diapositive 2">
            <a:extLst>
              <a:ext uri="{FF2B5EF4-FFF2-40B4-BE49-F238E27FC236}">
                <a16:creationId xmlns:a16="http://schemas.microsoft.com/office/drawing/2014/main" id="{47CD0F85-8DD4-4D6A-9ABF-053259987EDE}"/>
              </a:ext>
            </a:extLst>
          </p:cNvPr>
          <p:cNvSpPr>
            <a:spLocks noGrp="1"/>
          </p:cNvSpPr>
          <p:nvPr>
            <p:ph type="sldNum" sz="quarter" idx="4294967295"/>
          </p:nvPr>
        </p:nvSpPr>
        <p:spPr>
          <a:xfrm>
            <a:off x="8686800" y="6305550"/>
            <a:ext cx="457200" cy="476250"/>
          </a:xfrm>
        </p:spPr>
        <p:txBody>
          <a:bodyPr/>
          <a:lstStyle/>
          <a:p>
            <a:pPr>
              <a:defRPr/>
            </a:pPr>
            <a:fld id="{59EB3592-E4B7-4B42-9B17-519130A2B0CE}" type="slidenum">
              <a:rPr lang="fr-FR" smtClean="0"/>
              <a:pPr>
                <a:defRPr/>
              </a:pPr>
              <a:t>23</a:t>
            </a:fld>
            <a:endParaRPr lang="fr-FR"/>
          </a:p>
        </p:txBody>
      </p:sp>
      <p:sp>
        <p:nvSpPr>
          <p:cNvPr id="20483" name="Rectangle 3"/>
          <p:cNvSpPr>
            <a:spLocks noChangeArrowheads="1"/>
          </p:cNvSpPr>
          <p:nvPr/>
        </p:nvSpPr>
        <p:spPr bwMode="auto">
          <a:xfrm>
            <a:off x="1260981" y="1745667"/>
            <a:ext cx="7458075" cy="4493538"/>
          </a:xfrm>
          <a:prstGeom prst="rect">
            <a:avLst/>
          </a:prstGeom>
          <a:solidFill>
            <a:schemeClr val="bg2"/>
          </a:solidFill>
          <a:ln w="9525">
            <a:noFill/>
            <a:miter lim="800000"/>
            <a:headEnd/>
            <a:tailEnd/>
          </a:ln>
        </p:spPr>
        <p:txBody>
          <a:bodyPr>
            <a:spAutoFit/>
          </a:bodyPr>
          <a:lstStyle/>
          <a:p>
            <a:pPr algn="just"/>
            <a:r>
              <a:rPr lang="fr-FR" sz="2200" dirty="0">
                <a:solidFill>
                  <a:srgbClr val="000000"/>
                </a:solidFill>
                <a:latin typeface="Verdana" pitchFamily="34" charset="0"/>
              </a:rPr>
              <a:t>     </a:t>
            </a:r>
            <a:r>
              <a:rPr lang="fr-FR" sz="2200" b="1" dirty="0">
                <a:solidFill>
                  <a:srgbClr val="000000"/>
                </a:solidFill>
                <a:latin typeface="Verdana" pitchFamily="34" charset="0"/>
              </a:rPr>
              <a:t>Caractéristiques :</a:t>
            </a:r>
          </a:p>
          <a:p>
            <a:pPr algn="just"/>
            <a:endParaRPr lang="fr-FR" sz="2200" u="sng" dirty="0">
              <a:solidFill>
                <a:srgbClr val="000000"/>
              </a:solidFill>
              <a:latin typeface="Verdana" pitchFamily="34" charset="0"/>
            </a:endParaRPr>
          </a:p>
          <a:p>
            <a:pPr algn="just">
              <a:buFontTx/>
              <a:buChar char="•"/>
            </a:pPr>
            <a:r>
              <a:rPr lang="fr-FR" sz="2200" dirty="0">
                <a:solidFill>
                  <a:srgbClr val="000000"/>
                </a:solidFill>
                <a:latin typeface="Verdana" pitchFamily="34" charset="0"/>
              </a:rPr>
              <a:t> </a:t>
            </a:r>
            <a:r>
              <a:rPr lang="fr-FR" sz="2200" b="1" dirty="0">
                <a:solidFill>
                  <a:srgbClr val="000000"/>
                </a:solidFill>
                <a:latin typeface="Verdana" pitchFamily="34" charset="0"/>
              </a:rPr>
              <a:t>Vitesse de transmission </a:t>
            </a:r>
            <a:r>
              <a:rPr lang="fr-FR" sz="2200" dirty="0">
                <a:solidFill>
                  <a:srgbClr val="000000"/>
                </a:solidFill>
                <a:latin typeface="Verdana" pitchFamily="34" charset="0"/>
              </a:rPr>
              <a:t>: 10 </a:t>
            </a:r>
            <a:r>
              <a:rPr lang="fr-FR" sz="2200" dirty="0" err="1">
                <a:solidFill>
                  <a:srgbClr val="000000"/>
                </a:solidFill>
                <a:latin typeface="Verdana" pitchFamily="34" charset="0"/>
              </a:rPr>
              <a:t>mbps</a:t>
            </a:r>
            <a:r>
              <a:rPr lang="fr-FR" sz="2200" dirty="0">
                <a:solidFill>
                  <a:srgbClr val="000000"/>
                </a:solidFill>
                <a:latin typeface="Verdana" pitchFamily="34" charset="0"/>
              </a:rPr>
              <a:t> à 1000 </a:t>
            </a:r>
            <a:r>
              <a:rPr lang="fr-FR" sz="2200" dirty="0" err="1">
                <a:solidFill>
                  <a:srgbClr val="000000"/>
                </a:solidFill>
                <a:latin typeface="Verdana" pitchFamily="34" charset="0"/>
              </a:rPr>
              <a:t>mbps</a:t>
            </a:r>
            <a:endParaRPr lang="fr-FR" sz="2200" dirty="0">
              <a:solidFill>
                <a:srgbClr val="000000"/>
              </a:solidFill>
              <a:latin typeface="Verdana" pitchFamily="34" charset="0"/>
            </a:endParaRPr>
          </a:p>
          <a:p>
            <a:pPr algn="just">
              <a:buFontTx/>
              <a:buChar char="•"/>
            </a:pPr>
            <a:endParaRPr lang="fr-FR" sz="2200" dirty="0">
              <a:solidFill>
                <a:srgbClr val="000000"/>
              </a:solidFill>
              <a:latin typeface="Verdana" pitchFamily="34" charset="0"/>
            </a:endParaRPr>
          </a:p>
          <a:p>
            <a:pPr algn="just">
              <a:buFontTx/>
              <a:buChar char="•"/>
            </a:pPr>
            <a:r>
              <a:rPr lang="fr-FR" sz="2200" dirty="0">
                <a:solidFill>
                  <a:srgbClr val="000000"/>
                </a:solidFill>
                <a:latin typeface="Verdana" pitchFamily="34" charset="0"/>
              </a:rPr>
              <a:t> </a:t>
            </a:r>
            <a:r>
              <a:rPr lang="fr-FR" sz="2200" b="1" dirty="0">
                <a:solidFill>
                  <a:srgbClr val="000000"/>
                </a:solidFill>
                <a:latin typeface="Verdana" pitchFamily="34" charset="0"/>
              </a:rPr>
              <a:t>Nombre de stations </a:t>
            </a:r>
            <a:r>
              <a:rPr lang="fr-FR" sz="2200" dirty="0">
                <a:solidFill>
                  <a:srgbClr val="000000"/>
                </a:solidFill>
                <a:latin typeface="Verdana" pitchFamily="34" charset="0"/>
              </a:rPr>
              <a:t>: 2 à 1000 machines</a:t>
            </a:r>
          </a:p>
          <a:p>
            <a:pPr algn="just">
              <a:buFontTx/>
              <a:buChar char="•"/>
            </a:pPr>
            <a:endParaRPr lang="fr-FR" sz="2200" dirty="0">
              <a:solidFill>
                <a:srgbClr val="000000"/>
              </a:solidFill>
              <a:latin typeface="Verdana" pitchFamily="34" charset="0"/>
            </a:endParaRPr>
          </a:p>
          <a:p>
            <a:pPr algn="just">
              <a:buFontTx/>
              <a:buChar char="•"/>
            </a:pPr>
            <a:r>
              <a:rPr lang="fr-FR" sz="2200" dirty="0">
                <a:solidFill>
                  <a:srgbClr val="000000"/>
                </a:solidFill>
                <a:latin typeface="Verdana" pitchFamily="34" charset="0"/>
              </a:rPr>
              <a:t> </a:t>
            </a:r>
            <a:r>
              <a:rPr lang="fr-FR" sz="2200" b="1" dirty="0">
                <a:solidFill>
                  <a:srgbClr val="000000"/>
                </a:solidFill>
                <a:latin typeface="Verdana" pitchFamily="34" charset="0"/>
              </a:rPr>
              <a:t>Aire géographique </a:t>
            </a:r>
            <a:r>
              <a:rPr lang="fr-FR" sz="2200" dirty="0">
                <a:solidFill>
                  <a:srgbClr val="000000"/>
                </a:solidFill>
                <a:latin typeface="Verdana" pitchFamily="34" charset="0"/>
              </a:rPr>
              <a:t>: 4m</a:t>
            </a:r>
            <a:r>
              <a:rPr lang="fr-FR" sz="2200" baseline="30000" dirty="0">
                <a:solidFill>
                  <a:srgbClr val="000000"/>
                </a:solidFill>
                <a:latin typeface="Verdana" pitchFamily="34" charset="0"/>
              </a:rPr>
              <a:t>2</a:t>
            </a:r>
            <a:r>
              <a:rPr lang="fr-FR" sz="2200" dirty="0">
                <a:solidFill>
                  <a:srgbClr val="000000"/>
                </a:solidFill>
                <a:latin typeface="Verdana" pitchFamily="34" charset="0"/>
              </a:rPr>
              <a:t> à 400m</a:t>
            </a:r>
            <a:r>
              <a:rPr lang="fr-FR" sz="2200" baseline="30000" dirty="0">
                <a:solidFill>
                  <a:srgbClr val="000000"/>
                </a:solidFill>
                <a:latin typeface="Verdana" pitchFamily="34" charset="0"/>
              </a:rPr>
              <a:t>2</a:t>
            </a:r>
            <a:r>
              <a:rPr lang="fr-FR" sz="2200" dirty="0">
                <a:solidFill>
                  <a:srgbClr val="000000"/>
                </a:solidFill>
                <a:latin typeface="Verdana" pitchFamily="34" charset="0"/>
              </a:rPr>
              <a:t> (variable)</a:t>
            </a:r>
          </a:p>
          <a:p>
            <a:pPr algn="just">
              <a:buFontTx/>
              <a:buChar char="•"/>
            </a:pPr>
            <a:endParaRPr lang="fr-FR" sz="2200" dirty="0">
              <a:solidFill>
                <a:srgbClr val="000000"/>
              </a:solidFill>
              <a:latin typeface="Verdana" pitchFamily="34" charset="0"/>
            </a:endParaRPr>
          </a:p>
          <a:p>
            <a:pPr algn="just">
              <a:buFontTx/>
              <a:buChar char="•"/>
            </a:pPr>
            <a:r>
              <a:rPr lang="fr-FR" sz="2200" dirty="0">
                <a:solidFill>
                  <a:srgbClr val="000000"/>
                </a:solidFill>
                <a:latin typeface="Verdana" pitchFamily="34" charset="0"/>
              </a:rPr>
              <a:t> </a:t>
            </a:r>
            <a:r>
              <a:rPr lang="fr-FR" sz="2200" b="1" dirty="0">
                <a:solidFill>
                  <a:srgbClr val="000000"/>
                </a:solidFill>
                <a:latin typeface="Verdana" pitchFamily="34" charset="0"/>
              </a:rPr>
              <a:t>Topologie</a:t>
            </a:r>
            <a:r>
              <a:rPr lang="fr-FR" sz="2200" dirty="0">
                <a:solidFill>
                  <a:srgbClr val="000000"/>
                </a:solidFill>
                <a:latin typeface="Verdana" pitchFamily="34" charset="0"/>
              </a:rPr>
              <a:t> : Bus, Etoile, Anneau</a:t>
            </a:r>
          </a:p>
          <a:p>
            <a:pPr algn="just">
              <a:buFontTx/>
              <a:buChar char="•"/>
            </a:pPr>
            <a:endParaRPr lang="fr-FR" sz="2200" dirty="0">
              <a:solidFill>
                <a:srgbClr val="000000"/>
              </a:solidFill>
              <a:latin typeface="Verdana" pitchFamily="34" charset="0"/>
            </a:endParaRPr>
          </a:p>
          <a:p>
            <a:pPr algn="just">
              <a:buFontTx/>
              <a:buChar char="•"/>
            </a:pPr>
            <a:r>
              <a:rPr lang="fr-FR" sz="2200" dirty="0">
                <a:solidFill>
                  <a:srgbClr val="000000"/>
                </a:solidFill>
                <a:latin typeface="Verdana" pitchFamily="34" charset="0"/>
              </a:rPr>
              <a:t> </a:t>
            </a:r>
            <a:r>
              <a:rPr lang="fr-FR" sz="2200" b="1" dirty="0">
                <a:solidFill>
                  <a:srgbClr val="000000"/>
                </a:solidFill>
                <a:latin typeface="Verdana" pitchFamily="34" charset="0"/>
              </a:rPr>
              <a:t>Technologies</a:t>
            </a:r>
            <a:r>
              <a:rPr lang="fr-FR" sz="2200" dirty="0">
                <a:solidFill>
                  <a:srgbClr val="000000"/>
                </a:solidFill>
                <a:latin typeface="Verdana" pitchFamily="34" charset="0"/>
              </a:rPr>
              <a:t> : câbles à paires torsadées, </a:t>
            </a:r>
            <a:r>
              <a:rPr lang="fr-FR" sz="2200" dirty="0" err="1">
                <a:solidFill>
                  <a:srgbClr val="000000"/>
                </a:solidFill>
                <a:latin typeface="Verdana" pitchFamily="34" charset="0"/>
              </a:rPr>
              <a:t>WiFi</a:t>
            </a:r>
            <a:r>
              <a:rPr lang="fr-FR" sz="2200" dirty="0">
                <a:solidFill>
                  <a:srgbClr val="000000"/>
                </a:solidFill>
                <a:latin typeface="Verdana" pitchFamily="34" charset="0"/>
              </a:rPr>
              <a:t>, ….</a:t>
            </a:r>
            <a:endParaRPr lang="fr-FR" sz="2000" dirty="0">
              <a:solidFill>
                <a:srgbClr val="000000"/>
              </a:solidFill>
              <a:latin typeface="Verdana"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282552" y="88994"/>
            <a:ext cx="7632848" cy="864096"/>
          </a:xfrm>
          <a:solidFill>
            <a:schemeClr val="bg2">
              <a:lumMod val="75000"/>
            </a:schemeClr>
          </a:solidFill>
        </p:spPr>
        <p:txBody>
          <a:bodyPr>
            <a:normAutofit fontScale="90000"/>
          </a:bodyPr>
          <a:lstStyle/>
          <a:p>
            <a:r>
              <a:rPr lang="fr-FR" dirty="0"/>
              <a:t>MAN (Métropolitain Area Network) </a:t>
            </a:r>
          </a:p>
        </p:txBody>
      </p:sp>
      <p:sp>
        <p:nvSpPr>
          <p:cNvPr id="3" name="Espace réservé du numéro de diapositive 2">
            <a:extLst>
              <a:ext uri="{FF2B5EF4-FFF2-40B4-BE49-F238E27FC236}">
                <a16:creationId xmlns:a16="http://schemas.microsoft.com/office/drawing/2014/main" id="{4E574B31-5C9B-4E8F-9771-6E1EC0F200AA}"/>
              </a:ext>
            </a:extLst>
          </p:cNvPr>
          <p:cNvSpPr>
            <a:spLocks noGrp="1"/>
          </p:cNvSpPr>
          <p:nvPr>
            <p:ph type="sldNum" sz="quarter" idx="4294967295"/>
          </p:nvPr>
        </p:nvSpPr>
        <p:spPr>
          <a:xfrm>
            <a:off x="8686800" y="6305550"/>
            <a:ext cx="457200" cy="476250"/>
          </a:xfrm>
        </p:spPr>
        <p:txBody>
          <a:bodyPr/>
          <a:lstStyle/>
          <a:p>
            <a:pPr>
              <a:defRPr/>
            </a:pPr>
            <a:fld id="{59EB3592-E4B7-4B42-9B17-519130A2B0CE}" type="slidenum">
              <a:rPr lang="fr-FR" smtClean="0"/>
              <a:pPr>
                <a:defRPr/>
              </a:pPr>
              <a:t>24</a:t>
            </a:fld>
            <a:endParaRPr lang="fr-FR"/>
          </a:p>
        </p:txBody>
      </p:sp>
      <p:sp>
        <p:nvSpPr>
          <p:cNvPr id="21507" name="Rectangle 3"/>
          <p:cNvSpPr>
            <a:spLocks noChangeArrowheads="1"/>
          </p:cNvSpPr>
          <p:nvPr/>
        </p:nvSpPr>
        <p:spPr bwMode="auto">
          <a:xfrm>
            <a:off x="1311043" y="1136695"/>
            <a:ext cx="7632848" cy="5570756"/>
          </a:xfrm>
          <a:prstGeom prst="rect">
            <a:avLst/>
          </a:prstGeom>
          <a:solidFill>
            <a:schemeClr val="bg2"/>
          </a:solidFill>
          <a:ln w="9525">
            <a:noFill/>
            <a:miter lim="800000"/>
            <a:headEnd/>
            <a:tailEnd/>
          </a:ln>
        </p:spPr>
        <p:txBody>
          <a:bodyPr wrap="square">
            <a:spAutoFit/>
          </a:bodyPr>
          <a:lstStyle/>
          <a:p>
            <a:r>
              <a:rPr lang="fr-FR" sz="2000" dirty="0">
                <a:solidFill>
                  <a:srgbClr val="000000"/>
                </a:solidFill>
                <a:latin typeface="Verdana" pitchFamily="34" charset="0"/>
              </a:rPr>
              <a:t>     </a:t>
            </a:r>
            <a:r>
              <a:rPr lang="fr-FR" dirty="0">
                <a:solidFill>
                  <a:srgbClr val="000000"/>
                </a:solidFill>
                <a:latin typeface="+mn-lt"/>
              </a:rPr>
              <a:t>Les </a:t>
            </a:r>
            <a:r>
              <a:rPr lang="fr-FR" b="1" dirty="0">
                <a:solidFill>
                  <a:srgbClr val="000000"/>
                </a:solidFill>
                <a:latin typeface="+mn-lt"/>
              </a:rPr>
              <a:t>MAN</a:t>
            </a:r>
            <a:r>
              <a:rPr lang="fr-FR" dirty="0">
                <a:solidFill>
                  <a:srgbClr val="000000"/>
                </a:solidFill>
                <a:latin typeface="+mn-lt"/>
              </a:rPr>
              <a:t> (</a:t>
            </a:r>
            <a:r>
              <a:rPr lang="fr-FR" dirty="0" err="1">
                <a:solidFill>
                  <a:srgbClr val="000000"/>
                </a:solidFill>
                <a:latin typeface="+mn-lt"/>
              </a:rPr>
              <a:t>Metropolitain</a:t>
            </a:r>
            <a:r>
              <a:rPr lang="fr-FR" dirty="0">
                <a:solidFill>
                  <a:srgbClr val="000000"/>
                </a:solidFill>
                <a:latin typeface="+mn-lt"/>
              </a:rPr>
              <a:t> Area Network) interconnectent plusieurs LAN géographiquement proches à des débits importants.</a:t>
            </a:r>
          </a:p>
          <a:p>
            <a:endParaRPr lang="fr-FR" b="1" dirty="0">
              <a:solidFill>
                <a:srgbClr val="000000"/>
              </a:solidFill>
              <a:latin typeface="+mn-lt"/>
            </a:endParaRPr>
          </a:p>
          <a:p>
            <a:r>
              <a:rPr lang="fr-FR" b="1" dirty="0">
                <a:solidFill>
                  <a:srgbClr val="000000"/>
                </a:solidFill>
                <a:latin typeface="+mn-lt"/>
              </a:rPr>
              <a:t>Exemples :</a:t>
            </a:r>
          </a:p>
          <a:p>
            <a:endParaRPr lang="fr-FR" b="1" dirty="0">
              <a:solidFill>
                <a:srgbClr val="000000"/>
              </a:solidFill>
              <a:latin typeface="+mn-lt"/>
            </a:endParaRPr>
          </a:p>
          <a:p>
            <a:pPr>
              <a:buFontTx/>
              <a:buChar char="•"/>
            </a:pPr>
            <a:r>
              <a:rPr lang="fr-FR" dirty="0">
                <a:solidFill>
                  <a:srgbClr val="000000"/>
                </a:solidFill>
                <a:latin typeface="+mn-lt"/>
              </a:rPr>
              <a:t> MAN d’une </a:t>
            </a:r>
            <a:r>
              <a:rPr lang="fr-FR" dirty="0">
                <a:solidFill>
                  <a:srgbClr val="000000"/>
                </a:solidFill>
                <a:highlight>
                  <a:srgbClr val="C6B07E"/>
                </a:highlight>
                <a:latin typeface="+mn-lt"/>
              </a:rPr>
              <a:t>région</a:t>
            </a:r>
            <a:r>
              <a:rPr lang="fr-FR" dirty="0">
                <a:solidFill>
                  <a:srgbClr val="000000"/>
                </a:solidFill>
                <a:latin typeface="+mn-lt"/>
              </a:rPr>
              <a:t> .</a:t>
            </a:r>
          </a:p>
          <a:p>
            <a:pPr>
              <a:buFontTx/>
              <a:buChar char="•"/>
            </a:pPr>
            <a:endParaRPr lang="fr-FR" dirty="0">
              <a:solidFill>
                <a:srgbClr val="000000"/>
              </a:solidFill>
              <a:latin typeface="+mn-lt"/>
            </a:endParaRPr>
          </a:p>
          <a:p>
            <a:pPr>
              <a:buFontTx/>
              <a:buChar char="•"/>
            </a:pPr>
            <a:endParaRPr lang="fr-FR" dirty="0">
              <a:solidFill>
                <a:srgbClr val="000000"/>
              </a:solidFill>
              <a:latin typeface="+mn-lt"/>
            </a:endParaRPr>
          </a:p>
          <a:p>
            <a:r>
              <a:rPr lang="fr-FR" b="1" dirty="0">
                <a:solidFill>
                  <a:srgbClr val="000000"/>
                </a:solidFill>
                <a:latin typeface="+mn-lt"/>
              </a:rPr>
              <a:t>Caractéristiques :</a:t>
            </a:r>
          </a:p>
          <a:p>
            <a:endParaRPr lang="fr-FR" b="1" dirty="0">
              <a:solidFill>
                <a:srgbClr val="000000"/>
              </a:solidFill>
              <a:latin typeface="+mn-lt"/>
            </a:endParaRPr>
          </a:p>
          <a:p>
            <a:pPr>
              <a:buFontTx/>
              <a:buChar char="•"/>
            </a:pPr>
            <a:r>
              <a:rPr lang="fr-FR" dirty="0">
                <a:solidFill>
                  <a:srgbClr val="000000"/>
                </a:solidFill>
                <a:latin typeface="+mn-lt"/>
              </a:rPr>
              <a:t> </a:t>
            </a:r>
            <a:r>
              <a:rPr lang="fr-FR" b="1" dirty="0">
                <a:solidFill>
                  <a:srgbClr val="000000"/>
                </a:solidFill>
                <a:latin typeface="+mn-lt"/>
              </a:rPr>
              <a:t>Vitesse de transmission </a:t>
            </a:r>
            <a:r>
              <a:rPr lang="fr-FR" dirty="0">
                <a:solidFill>
                  <a:srgbClr val="000000"/>
                </a:solidFill>
                <a:latin typeface="+mn-lt"/>
              </a:rPr>
              <a:t>: </a:t>
            </a:r>
            <a:r>
              <a:rPr lang="pt-BR" sz="1800" b="0" i="0" u="none" strike="noStrike" baseline="0" dirty="0">
                <a:latin typeface="Arial" panose="020B0604020202020204" pitchFamily="34" charset="0"/>
              </a:rPr>
              <a:t>1Gb/s à 100Gb/s</a:t>
            </a:r>
            <a:endParaRPr lang="fr-FR" dirty="0">
              <a:solidFill>
                <a:srgbClr val="000000"/>
              </a:solidFill>
              <a:latin typeface="+mn-lt"/>
            </a:endParaRPr>
          </a:p>
          <a:p>
            <a:pPr>
              <a:buFontTx/>
              <a:buChar char="•"/>
            </a:pPr>
            <a:r>
              <a:rPr lang="fr-FR" dirty="0">
                <a:solidFill>
                  <a:srgbClr val="000000"/>
                </a:solidFill>
                <a:latin typeface="+mn-lt"/>
              </a:rPr>
              <a:t> </a:t>
            </a:r>
            <a:r>
              <a:rPr lang="fr-FR" b="1" dirty="0">
                <a:solidFill>
                  <a:srgbClr val="000000"/>
                </a:solidFill>
                <a:latin typeface="+mn-lt"/>
              </a:rPr>
              <a:t>Nombre de stations </a:t>
            </a:r>
            <a:r>
              <a:rPr lang="fr-FR" dirty="0">
                <a:solidFill>
                  <a:srgbClr val="000000"/>
                </a:solidFill>
                <a:latin typeface="+mn-lt"/>
              </a:rPr>
              <a:t>: &gt; 1000 machines</a:t>
            </a:r>
          </a:p>
          <a:p>
            <a:pPr>
              <a:buFontTx/>
              <a:buChar char="•"/>
            </a:pPr>
            <a:r>
              <a:rPr lang="fr-FR" dirty="0">
                <a:solidFill>
                  <a:srgbClr val="000000"/>
                </a:solidFill>
                <a:latin typeface="+mn-lt"/>
              </a:rPr>
              <a:t> </a:t>
            </a:r>
            <a:r>
              <a:rPr lang="fr-FR" b="1" dirty="0">
                <a:solidFill>
                  <a:srgbClr val="000000"/>
                </a:solidFill>
                <a:latin typeface="+mn-lt"/>
              </a:rPr>
              <a:t>Aire géographique </a:t>
            </a:r>
            <a:r>
              <a:rPr lang="fr-FR" dirty="0">
                <a:solidFill>
                  <a:srgbClr val="000000"/>
                </a:solidFill>
                <a:latin typeface="+mn-lt"/>
              </a:rPr>
              <a:t>: </a:t>
            </a:r>
            <a:r>
              <a:rPr lang="fr-FR" dirty="0">
                <a:solidFill>
                  <a:srgbClr val="000000"/>
                </a:solidFill>
                <a:highlight>
                  <a:srgbClr val="C6B07E"/>
                </a:highlight>
                <a:latin typeface="+mn-lt"/>
              </a:rPr>
              <a:t>1 à 10 km</a:t>
            </a:r>
            <a:endParaRPr lang="fr-FR" dirty="0">
              <a:solidFill>
                <a:srgbClr val="000000"/>
              </a:solidFill>
              <a:latin typeface="+mn-lt"/>
            </a:endParaRPr>
          </a:p>
          <a:p>
            <a:endParaRPr lang="fr-FR" sz="2000" dirty="0">
              <a:solidFill>
                <a:srgbClr val="000000"/>
              </a:solidFill>
              <a:latin typeface="Verdana"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259632" y="260648"/>
            <a:ext cx="7499350" cy="936104"/>
          </a:xfrm>
          <a:solidFill>
            <a:schemeClr val="bg2">
              <a:lumMod val="75000"/>
            </a:schemeClr>
          </a:solidFill>
        </p:spPr>
        <p:txBody>
          <a:bodyPr/>
          <a:lstStyle/>
          <a:p>
            <a:r>
              <a:rPr lang="fr-FR" dirty="0"/>
              <a:t>WAN (Wide Area Network)</a:t>
            </a:r>
          </a:p>
        </p:txBody>
      </p:sp>
      <p:sp>
        <p:nvSpPr>
          <p:cNvPr id="3" name="Espace réservé du numéro de diapositive 2">
            <a:extLst>
              <a:ext uri="{FF2B5EF4-FFF2-40B4-BE49-F238E27FC236}">
                <a16:creationId xmlns:a16="http://schemas.microsoft.com/office/drawing/2014/main" id="{08FE7C23-BFC1-4D03-83D3-7B27249B393D}"/>
              </a:ext>
            </a:extLst>
          </p:cNvPr>
          <p:cNvSpPr>
            <a:spLocks noGrp="1"/>
          </p:cNvSpPr>
          <p:nvPr>
            <p:ph type="sldNum" sz="quarter" idx="4294967295"/>
          </p:nvPr>
        </p:nvSpPr>
        <p:spPr>
          <a:xfrm>
            <a:off x="8686800" y="6305550"/>
            <a:ext cx="457200" cy="476250"/>
          </a:xfrm>
        </p:spPr>
        <p:txBody>
          <a:bodyPr/>
          <a:lstStyle/>
          <a:p>
            <a:pPr>
              <a:defRPr/>
            </a:pPr>
            <a:fld id="{59EB3592-E4B7-4B42-9B17-519130A2B0CE}" type="slidenum">
              <a:rPr lang="fr-FR" smtClean="0"/>
              <a:pPr>
                <a:defRPr/>
              </a:pPr>
              <a:t>25</a:t>
            </a:fld>
            <a:endParaRPr lang="fr-FR"/>
          </a:p>
        </p:txBody>
      </p:sp>
      <p:sp>
        <p:nvSpPr>
          <p:cNvPr id="22531" name="Rectangle 3"/>
          <p:cNvSpPr>
            <a:spLocks noChangeArrowheads="1"/>
          </p:cNvSpPr>
          <p:nvPr/>
        </p:nvSpPr>
        <p:spPr bwMode="auto">
          <a:xfrm>
            <a:off x="1331640" y="1268760"/>
            <a:ext cx="7499350" cy="5386090"/>
          </a:xfrm>
          <a:prstGeom prst="rect">
            <a:avLst/>
          </a:prstGeom>
          <a:solidFill>
            <a:schemeClr val="bg2"/>
          </a:solidFill>
          <a:ln w="9525">
            <a:noFill/>
            <a:miter lim="800000"/>
            <a:headEnd/>
            <a:tailEnd/>
          </a:ln>
        </p:spPr>
        <p:txBody>
          <a:bodyPr wrap="square">
            <a:spAutoFit/>
          </a:bodyPr>
          <a:lstStyle/>
          <a:p>
            <a:pPr algn="l"/>
            <a:r>
              <a:rPr lang="fr-FR" sz="2000" dirty="0">
                <a:solidFill>
                  <a:srgbClr val="000000"/>
                </a:solidFill>
                <a:latin typeface="Verdana" pitchFamily="34" charset="0"/>
              </a:rPr>
              <a:t> </a:t>
            </a:r>
            <a:r>
              <a:rPr lang="fr-FR" sz="1800" dirty="0">
                <a:solidFill>
                  <a:srgbClr val="000000"/>
                </a:solidFill>
                <a:latin typeface="Verdana" pitchFamily="34" charset="0"/>
              </a:rPr>
              <a:t>Les WAN (Wide Area Network)</a:t>
            </a:r>
          </a:p>
          <a:p>
            <a:pPr algn="just" defTabSz="360000"/>
            <a:r>
              <a:rPr lang="fr-FR" sz="1800" b="0" i="0" u="none" strike="noStrike" baseline="0" dirty="0">
                <a:latin typeface="Arial" panose="020B0604020202020204" pitchFamily="34" charset="0"/>
              </a:rPr>
              <a:t>	Réseau étendu couvrant une grande zone géographique, à l'échelle d'un pays, d'un continent, voire de la planète entière à très haut débits.</a:t>
            </a:r>
          </a:p>
          <a:p>
            <a:pPr algn="just"/>
            <a:endParaRPr lang="fr-FR" sz="1800" b="1" dirty="0">
              <a:solidFill>
                <a:srgbClr val="000000"/>
              </a:solidFill>
              <a:latin typeface="Verdana" pitchFamily="34" charset="0"/>
            </a:endParaRPr>
          </a:p>
          <a:p>
            <a:pPr algn="just"/>
            <a:r>
              <a:rPr lang="fr-FR" sz="1800" b="1" dirty="0">
                <a:solidFill>
                  <a:srgbClr val="000000"/>
                </a:solidFill>
                <a:latin typeface="Verdana" pitchFamily="34" charset="0"/>
              </a:rPr>
              <a:t>Caractéristiques :</a:t>
            </a:r>
          </a:p>
          <a:p>
            <a:pPr algn="just">
              <a:buFontTx/>
              <a:buChar char="•"/>
            </a:pPr>
            <a:r>
              <a:rPr lang="fr-FR" sz="1800" dirty="0">
                <a:solidFill>
                  <a:srgbClr val="000000"/>
                </a:solidFill>
                <a:latin typeface="Verdana" pitchFamily="34" charset="0"/>
              </a:rPr>
              <a:t> </a:t>
            </a:r>
            <a:r>
              <a:rPr lang="fr-FR" sz="1800" b="1" dirty="0">
                <a:solidFill>
                  <a:srgbClr val="000000"/>
                </a:solidFill>
                <a:latin typeface="Verdana" pitchFamily="34" charset="0"/>
              </a:rPr>
              <a:t>Vitesse de transmission entre stations :</a:t>
            </a:r>
          </a:p>
          <a:p>
            <a:pPr algn="just"/>
            <a:r>
              <a:rPr lang="fr-FR" sz="1800" dirty="0">
                <a:solidFill>
                  <a:srgbClr val="000000"/>
                </a:solidFill>
                <a:latin typeface="Verdana" pitchFamily="34" charset="0"/>
              </a:rPr>
              <a:t>	</a:t>
            </a:r>
            <a:r>
              <a:rPr lang="pt-BR" sz="1800" b="0" i="0" u="none" strike="noStrike" baseline="0" dirty="0">
                <a:latin typeface="Arial" panose="020B0604020202020204" pitchFamily="34" charset="0"/>
              </a:rPr>
              <a:t> 10Gb/s à 1000Gb/s</a:t>
            </a:r>
            <a:endParaRPr lang="fr-FR" sz="1800" dirty="0">
              <a:solidFill>
                <a:srgbClr val="000000"/>
              </a:solidFill>
              <a:latin typeface="Verdana" pitchFamily="34" charset="0"/>
            </a:endParaRPr>
          </a:p>
          <a:p>
            <a:pPr algn="just">
              <a:buFontTx/>
              <a:buChar char="•"/>
            </a:pPr>
            <a:r>
              <a:rPr lang="fr-FR" sz="1800" dirty="0">
                <a:solidFill>
                  <a:srgbClr val="000000"/>
                </a:solidFill>
                <a:latin typeface="Verdana" pitchFamily="34" charset="0"/>
              </a:rPr>
              <a:t> </a:t>
            </a:r>
            <a:r>
              <a:rPr lang="fr-FR" sz="1800" b="1" dirty="0">
                <a:solidFill>
                  <a:srgbClr val="000000"/>
                </a:solidFill>
                <a:latin typeface="Verdana" pitchFamily="34" charset="0"/>
              </a:rPr>
              <a:t>Nombre de stations : </a:t>
            </a:r>
            <a:r>
              <a:rPr lang="fr-FR" sz="1800" dirty="0">
                <a:solidFill>
                  <a:srgbClr val="000000"/>
                </a:solidFill>
                <a:latin typeface="Verdana" pitchFamily="34" charset="0"/>
              </a:rPr>
              <a:t>&gt;100 </a:t>
            </a:r>
            <a:r>
              <a:rPr lang="fr-FR" sz="1800" b="0" i="0" u="none" strike="noStrike" baseline="0" dirty="0">
                <a:latin typeface="Arial" panose="020B0604020202020204" pitchFamily="34" charset="0"/>
              </a:rPr>
              <a:t>milliers </a:t>
            </a:r>
            <a:r>
              <a:rPr lang="fr-FR" sz="1800" dirty="0">
                <a:solidFill>
                  <a:srgbClr val="000000"/>
                </a:solidFill>
                <a:latin typeface="Verdana" pitchFamily="34" charset="0"/>
              </a:rPr>
              <a:t>machines à </a:t>
            </a:r>
            <a:r>
              <a:rPr lang="fr-FR" sz="1800" b="0" i="0" u="none" strike="noStrike" baseline="0" dirty="0">
                <a:latin typeface="Arial" panose="020B0604020202020204" pitchFamily="34" charset="0"/>
              </a:rPr>
              <a:t>plusieurs milliards</a:t>
            </a:r>
            <a:endParaRPr lang="fr-FR" sz="1800" dirty="0">
              <a:solidFill>
                <a:srgbClr val="000000"/>
              </a:solidFill>
              <a:latin typeface="Verdana" pitchFamily="34" charset="0"/>
            </a:endParaRPr>
          </a:p>
          <a:p>
            <a:pPr algn="just">
              <a:buFontTx/>
              <a:buChar char="•"/>
            </a:pPr>
            <a:endParaRPr lang="fr-FR" sz="1800" dirty="0">
              <a:solidFill>
                <a:srgbClr val="000000"/>
              </a:solidFill>
              <a:latin typeface="Verdana" pitchFamily="34" charset="0"/>
            </a:endParaRPr>
          </a:p>
          <a:p>
            <a:pPr algn="just">
              <a:buFontTx/>
              <a:buChar char="•"/>
            </a:pPr>
            <a:r>
              <a:rPr lang="fr-FR" sz="1800" dirty="0">
                <a:solidFill>
                  <a:srgbClr val="000000"/>
                </a:solidFill>
                <a:latin typeface="Verdana" pitchFamily="34" charset="0"/>
              </a:rPr>
              <a:t> </a:t>
            </a:r>
            <a:r>
              <a:rPr lang="fr-FR" sz="1800" b="1" dirty="0">
                <a:solidFill>
                  <a:srgbClr val="000000"/>
                </a:solidFill>
                <a:latin typeface="Verdana" pitchFamily="34" charset="0"/>
              </a:rPr>
              <a:t>Aire géographique : </a:t>
            </a:r>
            <a:r>
              <a:rPr lang="fr-FR" sz="1800" dirty="0">
                <a:solidFill>
                  <a:srgbClr val="000000"/>
                </a:solidFill>
                <a:latin typeface="Verdana" pitchFamily="34" charset="0"/>
              </a:rPr>
              <a:t>Toute la surface de la Terre</a:t>
            </a:r>
          </a:p>
          <a:p>
            <a:pPr algn="just">
              <a:buFontTx/>
              <a:buChar char="•"/>
            </a:pPr>
            <a:endParaRPr lang="fr-FR" sz="1800" dirty="0">
              <a:solidFill>
                <a:srgbClr val="000000"/>
              </a:solidFill>
              <a:latin typeface="Verdana" pitchFamily="34" charset="0"/>
            </a:endParaRPr>
          </a:p>
          <a:p>
            <a:pPr algn="just">
              <a:buFontTx/>
              <a:buChar char="•"/>
            </a:pPr>
            <a:r>
              <a:rPr lang="fr-FR" sz="1800" dirty="0">
                <a:solidFill>
                  <a:srgbClr val="000000"/>
                </a:solidFill>
                <a:latin typeface="Verdana" pitchFamily="34" charset="0"/>
              </a:rPr>
              <a:t> </a:t>
            </a:r>
            <a:r>
              <a:rPr lang="fr-FR" sz="1800" b="1" dirty="0">
                <a:solidFill>
                  <a:srgbClr val="000000"/>
                </a:solidFill>
                <a:latin typeface="Verdana" pitchFamily="34" charset="0"/>
              </a:rPr>
              <a:t>Topologie :</a:t>
            </a:r>
            <a:r>
              <a:rPr lang="fr-FR" sz="1800" dirty="0">
                <a:solidFill>
                  <a:srgbClr val="000000"/>
                </a:solidFill>
                <a:latin typeface="Verdana" pitchFamily="34" charset="0"/>
              </a:rPr>
              <a:t> Bus, Etoile en général</a:t>
            </a:r>
          </a:p>
          <a:p>
            <a:pPr algn="just">
              <a:buFontTx/>
              <a:buChar char="•"/>
            </a:pPr>
            <a:endParaRPr lang="fr-FR" sz="1800" dirty="0">
              <a:solidFill>
                <a:srgbClr val="000000"/>
              </a:solidFill>
              <a:latin typeface="Verdana" pitchFamily="34" charset="0"/>
            </a:endParaRPr>
          </a:p>
          <a:p>
            <a:pPr algn="just">
              <a:buFontTx/>
              <a:buChar char="•"/>
            </a:pPr>
            <a:r>
              <a:rPr lang="fr-FR" sz="1800" dirty="0">
                <a:solidFill>
                  <a:srgbClr val="000000"/>
                </a:solidFill>
                <a:latin typeface="Verdana" pitchFamily="34" charset="0"/>
              </a:rPr>
              <a:t> </a:t>
            </a:r>
            <a:r>
              <a:rPr lang="fr-FR" sz="1800" b="1" dirty="0">
                <a:solidFill>
                  <a:srgbClr val="000000"/>
                </a:solidFill>
                <a:latin typeface="Verdana" pitchFamily="34" charset="0"/>
              </a:rPr>
              <a:t>Technologie :</a:t>
            </a:r>
            <a:r>
              <a:rPr lang="fr-FR" sz="1800" dirty="0">
                <a:solidFill>
                  <a:srgbClr val="000000"/>
                </a:solidFill>
                <a:latin typeface="Verdana" pitchFamily="34" charset="0"/>
              </a:rPr>
              <a:t> </a:t>
            </a:r>
            <a:r>
              <a:rPr lang="fr-FR" sz="1800" dirty="0">
                <a:solidFill>
                  <a:srgbClr val="000000"/>
                </a:solidFill>
                <a:highlight>
                  <a:srgbClr val="C6B07E"/>
                </a:highlight>
                <a:latin typeface="Verdana" pitchFamily="34" charset="0"/>
              </a:rPr>
              <a:t>Câble téléphonique, fibre optique </a:t>
            </a:r>
          </a:p>
          <a:p>
            <a:pPr algn="l"/>
            <a:endParaRPr lang="fr-FR" sz="1800" b="0" i="0" u="none" strike="noStrike" baseline="0" dirty="0">
              <a:solidFill>
                <a:srgbClr val="000000"/>
              </a:solidFill>
              <a:latin typeface="Arial" panose="020B0604020202020204" pitchFamily="34" charset="0"/>
            </a:endParaRPr>
          </a:p>
          <a:p>
            <a:pPr algn="l"/>
            <a:r>
              <a:rPr lang="fr-FR" sz="1800" b="0" i="0" u="none" strike="noStrike" baseline="0" dirty="0">
                <a:solidFill>
                  <a:srgbClr val="FFC100"/>
                </a:solidFill>
                <a:latin typeface="Wingdings" panose="05000000000000000000" pitchFamily="2" charset="2"/>
              </a:rPr>
              <a:t> </a:t>
            </a:r>
            <a:r>
              <a:rPr lang="fr-FR" sz="1800" b="1" i="0" u="none" strike="noStrike" baseline="0" dirty="0">
                <a:solidFill>
                  <a:srgbClr val="000000"/>
                </a:solidFill>
                <a:latin typeface="Arial" panose="020B0604020202020204" pitchFamily="34" charset="0"/>
              </a:rPr>
              <a:t>Exemple</a:t>
            </a:r>
            <a:r>
              <a:rPr lang="fr-FR" sz="1800" b="0" i="0" u="none" strike="noStrike" baseline="0" dirty="0">
                <a:solidFill>
                  <a:srgbClr val="000000"/>
                </a:solidFill>
                <a:latin typeface="Arial" panose="020B0604020202020204" pitchFamily="34" charset="0"/>
              </a:rPr>
              <a:t> : Internet</a:t>
            </a:r>
            <a:endParaRPr lang="fr-FR" sz="1800" dirty="0">
              <a:solidFill>
                <a:srgbClr val="000000"/>
              </a:solidFill>
              <a:latin typeface="Verdana" pitchFamily="34" charset="0"/>
            </a:endParaRPr>
          </a:p>
          <a:p>
            <a:pPr defTabSz="360000"/>
            <a:r>
              <a:rPr lang="fr-FR" sz="1800" dirty="0">
                <a:solidFill>
                  <a:srgbClr val="000000"/>
                </a:solidFill>
                <a:latin typeface="Verdana" pitchFamily="34" charset="0"/>
              </a:rPr>
              <a:t>	</a:t>
            </a:r>
          </a:p>
          <a:p>
            <a:r>
              <a:rPr lang="fr-FR" sz="1800" b="1" dirty="0">
                <a:solidFill>
                  <a:srgbClr val="000000"/>
                </a:solidFill>
                <a:latin typeface="Verdana" pitchFamily="34" charset="0"/>
              </a:rPr>
              <a:t>  </a:t>
            </a:r>
            <a:endParaRPr lang="fr-FR" sz="2000" dirty="0">
              <a:solidFill>
                <a:srgbClr val="000000"/>
              </a:solidFill>
              <a:latin typeface="Verdana"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7376008-4081-4E73-A96F-23E595BD3F65}"/>
              </a:ext>
            </a:extLst>
          </p:cNvPr>
          <p:cNvSpPr>
            <a:spLocks noGrp="1"/>
          </p:cNvSpPr>
          <p:nvPr>
            <p:ph type="title"/>
          </p:nvPr>
        </p:nvSpPr>
        <p:spPr>
          <a:xfrm>
            <a:off x="1327869" y="44624"/>
            <a:ext cx="7499350" cy="495636"/>
          </a:xfrm>
        </p:spPr>
        <p:txBody>
          <a:bodyPr>
            <a:normAutofit fontScale="90000"/>
          </a:bodyPr>
          <a:lstStyle/>
          <a:p>
            <a:r>
              <a:rPr lang="fr-FR" sz="3200" dirty="0"/>
              <a:t>Architecture Poste à Poste (peer-to-peer)</a:t>
            </a:r>
          </a:p>
        </p:txBody>
      </p:sp>
      <p:sp>
        <p:nvSpPr>
          <p:cNvPr id="4" name="ZoneTexte 3">
            <a:extLst>
              <a:ext uri="{FF2B5EF4-FFF2-40B4-BE49-F238E27FC236}">
                <a16:creationId xmlns:a16="http://schemas.microsoft.com/office/drawing/2014/main" id="{50DAEE41-F4BE-451B-995E-AF8E160EDEEF}"/>
              </a:ext>
            </a:extLst>
          </p:cNvPr>
          <p:cNvSpPr txBox="1"/>
          <p:nvPr/>
        </p:nvSpPr>
        <p:spPr>
          <a:xfrm>
            <a:off x="1129026" y="3168320"/>
            <a:ext cx="7704856" cy="3693319"/>
          </a:xfrm>
          <a:prstGeom prst="rect">
            <a:avLst/>
          </a:prstGeom>
          <a:noFill/>
        </p:spPr>
        <p:txBody>
          <a:bodyPr wrap="square">
            <a:spAutoFit/>
          </a:bodyPr>
          <a:lstStyle/>
          <a:p>
            <a:pPr algn="l"/>
            <a:r>
              <a:rPr lang="fr-FR" sz="1800" b="1" dirty="0">
                <a:highlight>
                  <a:srgbClr val="C6B07E"/>
                </a:highlight>
                <a:latin typeface="+mn-lt"/>
              </a:rPr>
              <a:t>Avantage :</a:t>
            </a:r>
          </a:p>
          <a:p>
            <a:pPr algn="l">
              <a:buFont typeface="Arial" panose="020B0604020202020204" pitchFamily="34" charset="0"/>
              <a:buChar char="•"/>
            </a:pPr>
            <a:r>
              <a:rPr lang="fr-FR" sz="1800" b="0" i="0" dirty="0">
                <a:solidFill>
                  <a:srgbClr val="382C24"/>
                </a:solidFill>
                <a:effectLst/>
                <a:latin typeface="+mj-lt"/>
              </a:rPr>
              <a:t>Il est facile de mettre en réseau des postes qui étaient au départ isolé.</a:t>
            </a:r>
          </a:p>
          <a:p>
            <a:pPr algn="l">
              <a:buFont typeface="Arial" panose="020B0604020202020204" pitchFamily="34" charset="0"/>
              <a:buChar char="•"/>
            </a:pPr>
            <a:r>
              <a:rPr lang="fr-FR" sz="1800" b="0" i="0" dirty="0">
                <a:solidFill>
                  <a:srgbClr val="382C24"/>
                </a:solidFill>
                <a:effectLst/>
                <a:latin typeface="+mj-lt"/>
              </a:rPr>
              <a:t>Chaque utilisateur peut décider de partager l'une de ses ressources avec les autres postes.</a:t>
            </a:r>
          </a:p>
          <a:p>
            <a:pPr algn="l">
              <a:buFont typeface="Arial" panose="020B0604020202020204" pitchFamily="34" charset="0"/>
              <a:buChar char="•"/>
            </a:pPr>
            <a:r>
              <a:rPr lang="fr-FR" sz="1800" b="0" i="0" dirty="0">
                <a:solidFill>
                  <a:srgbClr val="382C24"/>
                </a:solidFill>
                <a:effectLst/>
                <a:latin typeface="+mj-lt"/>
              </a:rPr>
              <a:t>Dans un groupe de travail, l'imprimante peut être utilisée par tous.</a:t>
            </a:r>
          </a:p>
          <a:p>
            <a:pPr algn="l"/>
            <a:r>
              <a:rPr lang="fr-FR" sz="1800" b="0" i="0" dirty="0">
                <a:solidFill>
                  <a:srgbClr val="382C24"/>
                </a:solidFill>
                <a:effectLst/>
                <a:latin typeface="+mj-lt"/>
              </a:rPr>
              <a:t>Cette méthode est pratique et peu coûteuse pour créer un réseau domestique </a:t>
            </a:r>
          </a:p>
          <a:p>
            <a:pPr algn="l"/>
            <a:r>
              <a:rPr lang="fr-FR" sz="1800" b="1" i="0" dirty="0">
                <a:effectLst/>
                <a:highlight>
                  <a:srgbClr val="C6B07E"/>
                </a:highlight>
                <a:latin typeface="+mj-lt"/>
              </a:rPr>
              <a:t>Inconvénients</a:t>
            </a:r>
            <a:r>
              <a:rPr lang="fr-FR" sz="1800" b="0" i="0" dirty="0">
                <a:effectLst/>
                <a:highlight>
                  <a:srgbClr val="C6B07E"/>
                </a:highlight>
                <a:latin typeface="+mj-lt"/>
              </a:rPr>
              <a:t> </a:t>
            </a:r>
            <a:r>
              <a:rPr lang="fr-FR" sz="1800" b="1" dirty="0">
                <a:highlight>
                  <a:srgbClr val="C6B07E"/>
                </a:highlight>
                <a:latin typeface="+mj-lt"/>
              </a:rPr>
              <a:t>du réseau peer-to-peer</a:t>
            </a:r>
          </a:p>
          <a:p>
            <a:pPr algn="l">
              <a:buFont typeface="Arial" panose="020B0604020202020204" pitchFamily="34" charset="0"/>
              <a:buChar char="•"/>
            </a:pPr>
            <a:r>
              <a:rPr lang="fr-FR" sz="1800" b="0" i="0" dirty="0">
                <a:solidFill>
                  <a:srgbClr val="382C24"/>
                </a:solidFill>
                <a:effectLst/>
                <a:latin typeface="+mj-lt"/>
              </a:rPr>
              <a:t>Chaque utilisateur a la responsabilité du fonctionnement du réseau.</a:t>
            </a:r>
          </a:p>
          <a:p>
            <a:pPr algn="l">
              <a:buFont typeface="Arial" panose="020B0604020202020204" pitchFamily="34" charset="0"/>
              <a:buChar char="•"/>
            </a:pPr>
            <a:r>
              <a:rPr lang="fr-FR" sz="1800" b="0" i="0" dirty="0">
                <a:solidFill>
                  <a:srgbClr val="382C24"/>
                </a:solidFill>
                <a:effectLst/>
                <a:latin typeface="+mj-lt"/>
              </a:rPr>
              <a:t>Les outils de sécurité sont très limités.</a:t>
            </a:r>
          </a:p>
          <a:p>
            <a:pPr algn="l">
              <a:buFont typeface="Arial" panose="020B0604020202020204" pitchFamily="34" charset="0"/>
              <a:buChar char="•"/>
            </a:pPr>
            <a:r>
              <a:rPr lang="fr-FR" sz="1800" b="0" i="0" dirty="0">
                <a:solidFill>
                  <a:srgbClr val="382C24"/>
                </a:solidFill>
                <a:effectLst/>
                <a:latin typeface="+mj-lt"/>
              </a:rPr>
              <a:t>Si un poste est éteint ou s'il se "plante", ses ressources ne sont plus accessibles</a:t>
            </a:r>
          </a:p>
          <a:p>
            <a:pPr algn="l">
              <a:buFont typeface="Arial" panose="020B0604020202020204" pitchFamily="34" charset="0"/>
              <a:buChar char="•"/>
            </a:pPr>
            <a:r>
              <a:rPr lang="fr-FR" sz="1800" b="0" i="0" dirty="0">
                <a:solidFill>
                  <a:srgbClr val="382C24"/>
                </a:solidFill>
                <a:effectLst/>
                <a:latin typeface="+mj-lt"/>
              </a:rPr>
              <a:t>Le système devient ingérable lorsque le nombre de postes augmente.</a:t>
            </a:r>
          </a:p>
          <a:p>
            <a:pPr algn="l">
              <a:buFont typeface="Arial" panose="020B0604020202020204" pitchFamily="34" charset="0"/>
              <a:buChar char="•"/>
            </a:pPr>
            <a:r>
              <a:rPr lang="fr-FR" sz="1800" b="0" i="0" dirty="0">
                <a:solidFill>
                  <a:srgbClr val="382C24"/>
                </a:solidFill>
                <a:effectLst/>
                <a:latin typeface="+mj-lt"/>
              </a:rPr>
              <a:t>Lorsqu'une ressource est utilisée sur une machine, l'utilisateur de cette machine peut voir ses performances diminuer.</a:t>
            </a:r>
          </a:p>
        </p:txBody>
      </p:sp>
      <p:sp>
        <p:nvSpPr>
          <p:cNvPr id="6" name="ZoneTexte 5">
            <a:extLst>
              <a:ext uri="{FF2B5EF4-FFF2-40B4-BE49-F238E27FC236}">
                <a16:creationId xmlns:a16="http://schemas.microsoft.com/office/drawing/2014/main" id="{FE9DADE4-3F86-B714-E1C2-1FF32270E759}"/>
              </a:ext>
            </a:extLst>
          </p:cNvPr>
          <p:cNvSpPr txBox="1"/>
          <p:nvPr/>
        </p:nvSpPr>
        <p:spPr>
          <a:xfrm>
            <a:off x="1222478" y="613138"/>
            <a:ext cx="4680520" cy="2031325"/>
          </a:xfrm>
          <a:prstGeom prst="rect">
            <a:avLst/>
          </a:prstGeom>
          <a:noFill/>
        </p:spPr>
        <p:txBody>
          <a:bodyPr wrap="square">
            <a:spAutoFit/>
          </a:bodyPr>
          <a:lstStyle/>
          <a:p>
            <a:pPr algn="l">
              <a:buFont typeface="Arial" panose="020B0604020202020204" pitchFamily="34" charset="0"/>
              <a:buChar char="•"/>
            </a:pPr>
            <a:r>
              <a:rPr lang="fr-FR" sz="1800" b="0" i="0" dirty="0">
                <a:solidFill>
                  <a:srgbClr val="382C24"/>
                </a:solidFill>
                <a:effectLst/>
                <a:latin typeface="+mn-lt"/>
              </a:rPr>
              <a:t>Les postes de travail sont simplement reliés entre eux par le réseau. Aucune machine ne joue un rôle particulier. Chaque poste peut partager ses ressources avec les autres postes.</a:t>
            </a:r>
          </a:p>
          <a:p>
            <a:pPr algn="l">
              <a:buFont typeface="Arial" panose="020B0604020202020204" pitchFamily="34" charset="0"/>
              <a:buChar char="•"/>
            </a:pPr>
            <a:r>
              <a:rPr lang="fr-FR" sz="1800" b="0" i="0" dirty="0">
                <a:solidFill>
                  <a:srgbClr val="382C24"/>
                </a:solidFill>
                <a:effectLst/>
                <a:latin typeface="+mn-lt"/>
              </a:rPr>
              <a:t>C'est à l'utilisateur de chaque poste de définir l'accès à ses ressources. Il n'y a pas obligatoirement d'administrateur attitré.</a:t>
            </a:r>
          </a:p>
        </p:txBody>
      </p:sp>
      <p:pic>
        <p:nvPicPr>
          <p:cNvPr id="7" name="Image 6">
            <a:extLst>
              <a:ext uri="{FF2B5EF4-FFF2-40B4-BE49-F238E27FC236}">
                <a16:creationId xmlns:a16="http://schemas.microsoft.com/office/drawing/2014/main" id="{988EFC05-2E41-66E0-C2C2-5F5986CDB401}"/>
              </a:ext>
            </a:extLst>
          </p:cNvPr>
          <p:cNvPicPr>
            <a:picLocks noChangeAspect="1"/>
          </p:cNvPicPr>
          <p:nvPr/>
        </p:nvPicPr>
        <p:blipFill>
          <a:blip r:embed="rId2"/>
          <a:stretch>
            <a:fillRect/>
          </a:stretch>
        </p:blipFill>
        <p:spPr>
          <a:xfrm>
            <a:off x="5724128" y="828981"/>
            <a:ext cx="3350982" cy="1848250"/>
          </a:xfrm>
          <a:prstGeom prst="rect">
            <a:avLst/>
          </a:prstGeom>
        </p:spPr>
      </p:pic>
      <p:sp>
        <p:nvSpPr>
          <p:cNvPr id="10" name="ZoneTexte 9">
            <a:extLst>
              <a:ext uri="{FF2B5EF4-FFF2-40B4-BE49-F238E27FC236}">
                <a16:creationId xmlns:a16="http://schemas.microsoft.com/office/drawing/2014/main" id="{8E23BE56-E56F-59E3-422E-896A9D8AFE48}"/>
              </a:ext>
            </a:extLst>
          </p:cNvPr>
          <p:cNvSpPr txBox="1"/>
          <p:nvPr/>
        </p:nvSpPr>
        <p:spPr>
          <a:xfrm>
            <a:off x="1177756" y="2598815"/>
            <a:ext cx="7607396" cy="646331"/>
          </a:xfrm>
          <a:prstGeom prst="rect">
            <a:avLst/>
          </a:prstGeom>
          <a:noFill/>
        </p:spPr>
        <p:txBody>
          <a:bodyPr wrap="square">
            <a:spAutoFit/>
          </a:bodyPr>
          <a:lstStyle/>
          <a:p>
            <a:pPr algn="l">
              <a:buFont typeface="Arial" panose="020B0604020202020204" pitchFamily="34" charset="0"/>
              <a:buChar char="•"/>
            </a:pPr>
            <a:r>
              <a:rPr lang="fr-FR" sz="1800" b="1" i="0" dirty="0">
                <a:solidFill>
                  <a:srgbClr val="382C24"/>
                </a:solidFill>
                <a:effectLst/>
                <a:latin typeface="+mn-lt"/>
              </a:rPr>
              <a:t>Dans l'exemple</a:t>
            </a:r>
            <a:r>
              <a:rPr lang="fr-FR" sz="1800" b="0" i="0" dirty="0">
                <a:solidFill>
                  <a:srgbClr val="382C24"/>
                </a:solidFill>
                <a:effectLst/>
                <a:latin typeface="+mn-lt"/>
              </a:rPr>
              <a:t>, chaque poste peut partager tout ou partie de sa mémoire de masse, le poste P-2 peut partager son imprimante.</a:t>
            </a:r>
          </a:p>
        </p:txBody>
      </p:sp>
    </p:spTree>
    <p:extLst>
      <p:ext uri="{BB962C8B-B14F-4D97-AF65-F5344CB8AC3E}">
        <p14:creationId xmlns:p14="http://schemas.microsoft.com/office/powerpoint/2010/main" val="16357018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1DA33AC-FAA3-C1E2-FA04-C5940D1B9B91}"/>
              </a:ext>
            </a:extLst>
          </p:cNvPr>
          <p:cNvSpPr>
            <a:spLocks noGrp="1"/>
          </p:cNvSpPr>
          <p:nvPr>
            <p:ph type="title"/>
          </p:nvPr>
        </p:nvSpPr>
        <p:spPr>
          <a:xfrm>
            <a:off x="1259632" y="104746"/>
            <a:ext cx="7499350" cy="947990"/>
          </a:xfrm>
        </p:spPr>
        <p:txBody>
          <a:bodyPr/>
          <a:lstStyle/>
          <a:p>
            <a:r>
              <a:rPr lang="fr-FR" dirty="0"/>
              <a:t>Architecture </a:t>
            </a:r>
            <a:r>
              <a:rPr lang="fr-FR" dirty="0" err="1"/>
              <a:t>Client/Serveur</a:t>
            </a:r>
            <a:r>
              <a:rPr lang="fr-FR" dirty="0"/>
              <a:t>:</a:t>
            </a:r>
          </a:p>
        </p:txBody>
      </p:sp>
      <p:pic>
        <p:nvPicPr>
          <p:cNvPr id="4" name="Image 3">
            <a:extLst>
              <a:ext uri="{FF2B5EF4-FFF2-40B4-BE49-F238E27FC236}">
                <a16:creationId xmlns:a16="http://schemas.microsoft.com/office/drawing/2014/main" id="{CCCCC536-0676-3DFD-8844-E6E7AE0B03AD}"/>
              </a:ext>
            </a:extLst>
          </p:cNvPr>
          <p:cNvPicPr>
            <a:picLocks noChangeAspect="1"/>
          </p:cNvPicPr>
          <p:nvPr/>
        </p:nvPicPr>
        <p:blipFill>
          <a:blip r:embed="rId2"/>
          <a:stretch>
            <a:fillRect/>
          </a:stretch>
        </p:blipFill>
        <p:spPr>
          <a:xfrm>
            <a:off x="4829597" y="1340768"/>
            <a:ext cx="4198734" cy="3024336"/>
          </a:xfrm>
          <a:prstGeom prst="rect">
            <a:avLst/>
          </a:prstGeom>
        </p:spPr>
      </p:pic>
      <p:sp>
        <p:nvSpPr>
          <p:cNvPr id="6" name="ZoneTexte 5">
            <a:extLst>
              <a:ext uri="{FF2B5EF4-FFF2-40B4-BE49-F238E27FC236}">
                <a16:creationId xmlns:a16="http://schemas.microsoft.com/office/drawing/2014/main" id="{5CE3AB07-D6E9-6627-21D4-E78F9A499F34}"/>
              </a:ext>
            </a:extLst>
          </p:cNvPr>
          <p:cNvSpPr txBox="1"/>
          <p:nvPr/>
        </p:nvSpPr>
        <p:spPr>
          <a:xfrm>
            <a:off x="1159824" y="4869160"/>
            <a:ext cx="7632848" cy="1631216"/>
          </a:xfrm>
          <a:prstGeom prst="rect">
            <a:avLst/>
          </a:prstGeom>
          <a:noFill/>
        </p:spPr>
        <p:txBody>
          <a:bodyPr wrap="square">
            <a:spAutoFit/>
          </a:bodyPr>
          <a:lstStyle/>
          <a:p>
            <a:pPr algn="l">
              <a:buFont typeface="Arial" panose="020B0604020202020204" pitchFamily="34" charset="0"/>
              <a:buChar char="•"/>
            </a:pPr>
            <a:r>
              <a:rPr lang="fr-FR" sz="2000" b="0" i="0" dirty="0">
                <a:solidFill>
                  <a:srgbClr val="382C24"/>
                </a:solidFill>
                <a:effectLst/>
                <a:latin typeface="+mn-lt"/>
              </a:rPr>
              <a:t>Les ressources réseau sont centralisées.</a:t>
            </a:r>
          </a:p>
          <a:p>
            <a:pPr algn="l">
              <a:buFont typeface="Arial" panose="020B0604020202020204" pitchFamily="34" charset="0"/>
              <a:buChar char="•"/>
            </a:pPr>
            <a:r>
              <a:rPr lang="fr-FR" sz="2000" b="0" i="0" dirty="0">
                <a:solidFill>
                  <a:srgbClr val="382C24"/>
                </a:solidFill>
                <a:effectLst/>
                <a:latin typeface="+mn-lt"/>
              </a:rPr>
              <a:t>Un ou plusieurs serveurs sont dédiés au partage de ces ressources et en assurent la sécurité</a:t>
            </a:r>
          </a:p>
          <a:p>
            <a:pPr algn="l">
              <a:buFont typeface="Arial" panose="020B0604020202020204" pitchFamily="34" charset="0"/>
              <a:buChar char="•"/>
            </a:pPr>
            <a:r>
              <a:rPr lang="fr-FR" sz="2000" b="0" i="0" dirty="0">
                <a:solidFill>
                  <a:srgbClr val="382C24"/>
                </a:solidFill>
                <a:effectLst/>
                <a:latin typeface="+mn-lt"/>
              </a:rPr>
              <a:t>Les postes clients ne sont en principe que des clients, ils ne partagent pas de ressources, ils utilisent celles qui sont offertes par les serveurs.</a:t>
            </a:r>
          </a:p>
        </p:txBody>
      </p:sp>
      <p:sp>
        <p:nvSpPr>
          <p:cNvPr id="8" name="ZoneTexte 7">
            <a:extLst>
              <a:ext uri="{FF2B5EF4-FFF2-40B4-BE49-F238E27FC236}">
                <a16:creationId xmlns:a16="http://schemas.microsoft.com/office/drawing/2014/main" id="{75DF09B1-1B66-4D0E-DF72-3E2BC52E4209}"/>
              </a:ext>
            </a:extLst>
          </p:cNvPr>
          <p:cNvSpPr txBox="1"/>
          <p:nvPr/>
        </p:nvSpPr>
        <p:spPr>
          <a:xfrm>
            <a:off x="1043608" y="1288792"/>
            <a:ext cx="3888432" cy="2862322"/>
          </a:xfrm>
          <a:prstGeom prst="rect">
            <a:avLst/>
          </a:prstGeom>
          <a:noFill/>
        </p:spPr>
        <p:txBody>
          <a:bodyPr wrap="square">
            <a:spAutoFit/>
          </a:bodyPr>
          <a:lstStyle/>
          <a:p>
            <a:r>
              <a:rPr lang="fr-FR" sz="2000" dirty="0">
                <a:latin typeface="Calibri" panose="020F0502020204030204" pitchFamily="34" charset="0"/>
              </a:rPr>
              <a:t>Chaque machine du réseau (client) contacte une autre machine (serveur) qui lui fournit les informations, les fichiers, les services dont elle a besoin. </a:t>
            </a:r>
          </a:p>
          <a:p>
            <a:r>
              <a:rPr lang="fr-FR" sz="2000" b="1" i="0" dirty="0">
                <a:solidFill>
                  <a:srgbClr val="333333"/>
                </a:solidFill>
                <a:effectLst/>
                <a:latin typeface="CiscoSansTTLight"/>
              </a:rPr>
              <a:t>Par exemple</a:t>
            </a:r>
            <a:r>
              <a:rPr lang="fr-FR" sz="2000" b="0" i="0" dirty="0">
                <a:solidFill>
                  <a:srgbClr val="333333"/>
                </a:solidFill>
                <a:effectLst/>
                <a:latin typeface="CiscoSansTTLight"/>
              </a:rPr>
              <a:t>, un serveur nécessite un logiciel de serveur web pour pouvoir offrir des services web au réseau.</a:t>
            </a:r>
            <a:endParaRPr lang="fr-FR" sz="2000" dirty="0">
              <a:latin typeface="Calibri" panose="020F0502020204030204" pitchFamily="34" charset="0"/>
            </a:endParaRPr>
          </a:p>
        </p:txBody>
      </p:sp>
    </p:spTree>
    <p:extLst>
      <p:ext uri="{BB962C8B-B14F-4D97-AF65-F5344CB8AC3E}">
        <p14:creationId xmlns:p14="http://schemas.microsoft.com/office/powerpoint/2010/main" val="16066637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8C7E562-A63E-F4D9-98D9-970197A993F5}"/>
              </a:ext>
            </a:extLst>
          </p:cNvPr>
          <p:cNvSpPr>
            <a:spLocks noGrp="1"/>
          </p:cNvSpPr>
          <p:nvPr>
            <p:ph type="title"/>
          </p:nvPr>
        </p:nvSpPr>
        <p:spPr>
          <a:xfrm>
            <a:off x="1259632" y="44624"/>
            <a:ext cx="7499350" cy="720080"/>
          </a:xfrm>
        </p:spPr>
        <p:txBody>
          <a:bodyPr>
            <a:noAutofit/>
          </a:bodyPr>
          <a:lstStyle/>
          <a:p>
            <a:r>
              <a:rPr lang="fr-FR" sz="2800" i="0" dirty="0">
                <a:effectLst/>
              </a:rPr>
              <a:t>Avantages</a:t>
            </a:r>
            <a:r>
              <a:rPr lang="fr-FR" sz="2800" dirty="0">
                <a:solidFill>
                  <a:srgbClr val="382C24"/>
                </a:solidFill>
                <a:effectLst/>
              </a:rPr>
              <a:t> </a:t>
            </a:r>
            <a:r>
              <a:rPr lang="fr-FR" sz="2800" dirty="0"/>
              <a:t>"Client / Serveur"</a:t>
            </a:r>
          </a:p>
        </p:txBody>
      </p:sp>
      <p:sp>
        <p:nvSpPr>
          <p:cNvPr id="4" name="ZoneTexte 3">
            <a:extLst>
              <a:ext uri="{FF2B5EF4-FFF2-40B4-BE49-F238E27FC236}">
                <a16:creationId xmlns:a16="http://schemas.microsoft.com/office/drawing/2014/main" id="{CFD32363-B311-C777-DD1C-DADAE1343269}"/>
              </a:ext>
            </a:extLst>
          </p:cNvPr>
          <p:cNvSpPr txBox="1"/>
          <p:nvPr/>
        </p:nvSpPr>
        <p:spPr>
          <a:xfrm>
            <a:off x="1079846" y="836712"/>
            <a:ext cx="7858921" cy="5632311"/>
          </a:xfrm>
          <a:prstGeom prst="rect">
            <a:avLst/>
          </a:prstGeom>
          <a:noFill/>
        </p:spPr>
        <p:txBody>
          <a:bodyPr wrap="square">
            <a:spAutoFit/>
          </a:bodyPr>
          <a:lstStyle/>
          <a:p>
            <a:pPr>
              <a:buFont typeface="Arial" panose="020B0604020202020204" pitchFamily="34" charset="0"/>
              <a:buChar char="•"/>
            </a:pPr>
            <a:r>
              <a:rPr lang="fr-FR" sz="1800" b="0" i="0" spc="30" dirty="0">
                <a:solidFill>
                  <a:srgbClr val="382C24"/>
                </a:solidFill>
                <a:effectLst/>
                <a:latin typeface="+mn-lt"/>
              </a:rPr>
              <a:t>Les serveurs sont conçus pour le partage de ressources et ne servent pas de station de travail. Il suffit de les dimensionner en fonction de la taille du réseau et du nombre de clients susceptibles de s'y connecter.</a:t>
            </a:r>
          </a:p>
          <a:p>
            <a:pPr>
              <a:buFont typeface="Arial" panose="020B0604020202020204" pitchFamily="34" charset="0"/>
              <a:buChar char="•"/>
            </a:pPr>
            <a:endParaRPr lang="fr-FR" sz="1800" b="0" i="0" spc="30" dirty="0">
              <a:solidFill>
                <a:srgbClr val="382C24"/>
              </a:solidFill>
              <a:effectLst/>
              <a:latin typeface="+mn-lt"/>
            </a:endParaRPr>
          </a:p>
          <a:p>
            <a:pPr>
              <a:buFont typeface="Arial" panose="020B0604020202020204" pitchFamily="34" charset="0"/>
              <a:buChar char="•"/>
            </a:pPr>
            <a:r>
              <a:rPr lang="fr-FR" sz="1800" b="0" i="0" spc="30" dirty="0">
                <a:solidFill>
                  <a:srgbClr val="382C24"/>
                </a:solidFill>
                <a:effectLst/>
                <a:latin typeface="+mn-lt"/>
              </a:rPr>
              <a:t>Les systèmes d'exploitation de serveurs proposent des fonctions avancées de sécurité que l'on ne trouve pas sur les réseaux "</a:t>
            </a:r>
            <a:r>
              <a:rPr lang="fr-FR" sz="1800" b="1" i="0" spc="30" dirty="0" err="1">
                <a:solidFill>
                  <a:srgbClr val="382C24"/>
                </a:solidFill>
                <a:effectLst/>
                <a:latin typeface="+mn-lt"/>
              </a:rPr>
              <a:t>peer</a:t>
            </a:r>
            <a:r>
              <a:rPr lang="fr-FR" sz="1800" b="1" i="0" spc="30" dirty="0">
                <a:solidFill>
                  <a:srgbClr val="382C24"/>
                </a:solidFill>
                <a:effectLst/>
                <a:latin typeface="+mn-lt"/>
              </a:rPr>
              <a:t> to </a:t>
            </a:r>
            <a:r>
              <a:rPr lang="fr-FR" sz="1800" b="1" i="0" spc="30" dirty="0" err="1">
                <a:solidFill>
                  <a:srgbClr val="382C24"/>
                </a:solidFill>
                <a:effectLst/>
                <a:latin typeface="+mn-lt"/>
              </a:rPr>
              <a:t>peer</a:t>
            </a:r>
            <a:r>
              <a:rPr lang="fr-FR" sz="1800" b="0" i="0" spc="30" dirty="0">
                <a:solidFill>
                  <a:srgbClr val="382C24"/>
                </a:solidFill>
                <a:effectLst/>
                <a:latin typeface="+mn-lt"/>
              </a:rPr>
              <a:t>".</a:t>
            </a:r>
          </a:p>
          <a:p>
            <a:pPr>
              <a:buFont typeface="Arial" panose="020B0604020202020204" pitchFamily="34" charset="0"/>
              <a:buChar char="•"/>
            </a:pPr>
            <a:endParaRPr lang="fr-FR" sz="1800" b="0" i="0" spc="30" dirty="0">
              <a:solidFill>
                <a:srgbClr val="382C24"/>
              </a:solidFill>
              <a:effectLst/>
              <a:latin typeface="+mn-lt"/>
            </a:endParaRPr>
          </a:p>
          <a:p>
            <a:pPr>
              <a:buFont typeface="Arial" panose="020B0604020202020204" pitchFamily="34" charset="0"/>
              <a:buChar char="•"/>
            </a:pPr>
            <a:r>
              <a:rPr lang="fr-FR" sz="1800" b="0" i="0" spc="30" dirty="0">
                <a:solidFill>
                  <a:srgbClr val="382C24"/>
                </a:solidFill>
                <a:effectLst/>
                <a:latin typeface="+mn-lt"/>
              </a:rPr>
              <a:t>Ils proposent également des fonctions avancées à l'usage des utilisateurs comme par exemple les profils itinérants qui permettent à un utilisateur (sous certaines conditions) de retrouver son environnement de travail habituel, même s'il change de poste de travail.</a:t>
            </a:r>
          </a:p>
          <a:p>
            <a:pPr>
              <a:buFont typeface="Arial" panose="020B0604020202020204" pitchFamily="34" charset="0"/>
              <a:buChar char="•"/>
            </a:pPr>
            <a:endParaRPr lang="fr-FR" sz="1800" b="0" i="0" spc="30" dirty="0">
              <a:solidFill>
                <a:srgbClr val="382C24"/>
              </a:solidFill>
              <a:effectLst/>
              <a:latin typeface="+mn-lt"/>
            </a:endParaRPr>
          </a:p>
          <a:p>
            <a:pPr>
              <a:buFont typeface="Arial" panose="020B0604020202020204" pitchFamily="34" charset="0"/>
              <a:buChar char="•"/>
            </a:pPr>
            <a:r>
              <a:rPr lang="fr-FR" sz="1800" b="0" i="0" spc="30" dirty="0">
                <a:solidFill>
                  <a:srgbClr val="382C24"/>
                </a:solidFill>
                <a:effectLst/>
                <a:latin typeface="+mn-lt"/>
              </a:rPr>
              <a:t>Les serveurs étant toujours en service, les ressources sont toujours disponibles pour les utilisateurs.</a:t>
            </a:r>
          </a:p>
          <a:p>
            <a:pPr>
              <a:buFont typeface="Arial" panose="020B0604020202020204" pitchFamily="34" charset="0"/>
              <a:buChar char="•"/>
            </a:pPr>
            <a:endParaRPr lang="fr-FR" sz="1800" b="0" i="0" spc="30" dirty="0">
              <a:solidFill>
                <a:srgbClr val="382C24"/>
              </a:solidFill>
              <a:effectLst/>
              <a:latin typeface="+mn-lt"/>
            </a:endParaRPr>
          </a:p>
          <a:p>
            <a:pPr>
              <a:buFont typeface="Arial" panose="020B0604020202020204" pitchFamily="34" charset="0"/>
              <a:buChar char="•"/>
            </a:pPr>
            <a:r>
              <a:rPr lang="fr-FR" sz="1800" b="0" i="0" spc="30" dirty="0">
                <a:solidFill>
                  <a:srgbClr val="382C24"/>
                </a:solidFill>
                <a:effectLst/>
                <a:latin typeface="+mn-lt"/>
              </a:rPr>
              <a:t>Les sauvegardes de données sont centralisées, donc beaucoup plus faciles à mettre en œuvre.</a:t>
            </a:r>
          </a:p>
          <a:p>
            <a:pPr>
              <a:buFont typeface="Arial" panose="020B0604020202020204" pitchFamily="34" charset="0"/>
              <a:buChar char="•"/>
            </a:pPr>
            <a:endParaRPr lang="fr-FR" sz="1800" b="0" i="0" spc="30" dirty="0">
              <a:solidFill>
                <a:srgbClr val="382C24"/>
              </a:solidFill>
              <a:effectLst/>
              <a:latin typeface="+mn-lt"/>
            </a:endParaRPr>
          </a:p>
          <a:p>
            <a:pPr>
              <a:buFont typeface="Arial" panose="020B0604020202020204" pitchFamily="34" charset="0"/>
              <a:buChar char="•"/>
            </a:pPr>
            <a:r>
              <a:rPr lang="fr-FR" sz="1800" b="0" i="0" spc="30" dirty="0">
                <a:solidFill>
                  <a:srgbClr val="382C24"/>
                </a:solidFill>
                <a:effectLst/>
                <a:latin typeface="+mn-lt"/>
              </a:rPr>
              <a:t>Un administrateur gère le fonctionnement du réseau et les utilisateurs n'ont pas à s'en préoccuper</a:t>
            </a:r>
          </a:p>
        </p:txBody>
      </p:sp>
    </p:spTree>
    <p:extLst>
      <p:ext uri="{BB962C8B-B14F-4D97-AF65-F5344CB8AC3E}">
        <p14:creationId xmlns:p14="http://schemas.microsoft.com/office/powerpoint/2010/main" val="39770499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7DE3121-EF01-5C22-2E40-3B6A6DEF8961}"/>
              </a:ext>
            </a:extLst>
          </p:cNvPr>
          <p:cNvSpPr>
            <a:spLocks noGrp="1"/>
          </p:cNvSpPr>
          <p:nvPr>
            <p:ph type="title"/>
          </p:nvPr>
        </p:nvSpPr>
        <p:spPr/>
        <p:txBody>
          <a:bodyPr>
            <a:normAutofit fontScale="90000"/>
          </a:bodyPr>
          <a:lstStyle/>
          <a:p>
            <a:r>
              <a:rPr lang="fr-FR" sz="4400" i="0" dirty="0">
                <a:effectLst/>
              </a:rPr>
              <a:t>Inconvénients</a:t>
            </a:r>
            <a:r>
              <a:rPr lang="fr-FR" sz="4400" dirty="0">
                <a:solidFill>
                  <a:srgbClr val="382C24"/>
                </a:solidFill>
                <a:effectLst/>
              </a:rPr>
              <a:t> </a:t>
            </a:r>
            <a:r>
              <a:rPr lang="fr-FR" sz="4400" dirty="0"/>
              <a:t>"Client / Serveur"</a:t>
            </a:r>
            <a:endParaRPr lang="fr-FR" dirty="0"/>
          </a:p>
        </p:txBody>
      </p:sp>
      <p:sp>
        <p:nvSpPr>
          <p:cNvPr id="4" name="ZoneTexte 3">
            <a:extLst>
              <a:ext uri="{FF2B5EF4-FFF2-40B4-BE49-F238E27FC236}">
                <a16:creationId xmlns:a16="http://schemas.microsoft.com/office/drawing/2014/main" id="{AA51F943-B914-E0E1-96BC-EAA9F964360F}"/>
              </a:ext>
            </a:extLst>
          </p:cNvPr>
          <p:cNvSpPr txBox="1"/>
          <p:nvPr/>
        </p:nvSpPr>
        <p:spPr>
          <a:xfrm>
            <a:off x="1259632" y="1340768"/>
            <a:ext cx="7499350" cy="4862870"/>
          </a:xfrm>
          <a:prstGeom prst="rect">
            <a:avLst/>
          </a:prstGeom>
          <a:noFill/>
        </p:spPr>
        <p:txBody>
          <a:bodyPr wrap="square">
            <a:spAutoFit/>
          </a:bodyPr>
          <a:lstStyle/>
          <a:p>
            <a:pPr algn="l">
              <a:spcBef>
                <a:spcPts val="600"/>
              </a:spcBef>
              <a:buFont typeface="Arial" panose="020B0604020202020204" pitchFamily="34" charset="0"/>
              <a:buChar char="•"/>
            </a:pPr>
            <a:r>
              <a:rPr lang="fr-FR" sz="2000" b="0" i="0" dirty="0">
                <a:solidFill>
                  <a:srgbClr val="382C24"/>
                </a:solidFill>
                <a:effectLst/>
                <a:latin typeface="Verdana" panose="020B0604030504040204" pitchFamily="34" charset="0"/>
              </a:rPr>
              <a:t>La mise en place d'un tel réseau est beaucoup plus lourde qu'un cas simple de « poste à poste  » </a:t>
            </a:r>
          </a:p>
          <a:p>
            <a:pPr algn="l">
              <a:spcBef>
                <a:spcPts val="600"/>
              </a:spcBef>
              <a:buFont typeface="Arial" panose="020B0604020202020204" pitchFamily="34" charset="0"/>
              <a:buChar char="•"/>
            </a:pPr>
            <a:endParaRPr lang="fr-FR" sz="2000" b="0" i="0" dirty="0">
              <a:solidFill>
                <a:srgbClr val="382C24"/>
              </a:solidFill>
              <a:effectLst/>
              <a:latin typeface="Verdana" panose="020B0604030504040204" pitchFamily="34" charset="0"/>
            </a:endParaRPr>
          </a:p>
          <a:p>
            <a:pPr algn="l">
              <a:spcBef>
                <a:spcPts val="600"/>
              </a:spcBef>
              <a:buFont typeface="Arial" panose="020B0604020202020204" pitchFamily="34" charset="0"/>
              <a:buChar char="•"/>
            </a:pPr>
            <a:r>
              <a:rPr lang="fr-FR" sz="2000" b="0" i="0" dirty="0">
                <a:solidFill>
                  <a:srgbClr val="382C24"/>
                </a:solidFill>
                <a:effectLst/>
                <a:latin typeface="Verdana" panose="020B0604030504040204" pitchFamily="34" charset="0"/>
              </a:rPr>
              <a:t>Elle nécessite </a:t>
            </a:r>
            <a:r>
              <a:rPr lang="fr-FR" sz="2000" b="1" i="0" dirty="0">
                <a:solidFill>
                  <a:srgbClr val="382C24"/>
                </a:solidFill>
                <a:effectLst/>
                <a:latin typeface="Verdana" panose="020B0604030504040204" pitchFamily="34" charset="0"/>
              </a:rPr>
              <a:t>Impérativement</a:t>
            </a:r>
            <a:r>
              <a:rPr lang="fr-FR" sz="2000" b="0" i="0" dirty="0">
                <a:solidFill>
                  <a:srgbClr val="382C24"/>
                </a:solidFill>
                <a:effectLst/>
                <a:latin typeface="Verdana" panose="020B0604030504040204" pitchFamily="34" charset="0"/>
              </a:rPr>
              <a:t> la présence d'un administrateur possédant les compétences nécessaires pour faire fonctionner le réseau.</a:t>
            </a:r>
          </a:p>
          <a:p>
            <a:pPr algn="l">
              <a:spcBef>
                <a:spcPts val="600"/>
              </a:spcBef>
              <a:buFont typeface="Arial" panose="020B0604020202020204" pitchFamily="34" charset="0"/>
              <a:buChar char="•"/>
            </a:pPr>
            <a:endParaRPr lang="fr-FR" sz="2000" b="0" i="0" dirty="0">
              <a:solidFill>
                <a:srgbClr val="382C24"/>
              </a:solidFill>
              <a:effectLst/>
              <a:latin typeface="Verdana" panose="020B0604030504040204" pitchFamily="34" charset="0"/>
            </a:endParaRPr>
          </a:p>
          <a:p>
            <a:pPr algn="l">
              <a:spcBef>
                <a:spcPts val="600"/>
              </a:spcBef>
              <a:buFont typeface="Arial" panose="020B0604020202020204" pitchFamily="34" charset="0"/>
              <a:buChar char="•"/>
            </a:pPr>
            <a:r>
              <a:rPr lang="fr-FR" sz="2000" b="0" i="0" dirty="0">
                <a:solidFill>
                  <a:srgbClr val="382C24"/>
                </a:solidFill>
                <a:effectLst/>
                <a:latin typeface="Verdana" panose="020B0604030504040204" pitchFamily="34" charset="0"/>
              </a:rPr>
              <a:t>Le coût est évidemment plus élevé puisqu'il faut la présence d'un ou de plusieurs serveurs.</a:t>
            </a:r>
          </a:p>
          <a:p>
            <a:pPr algn="l">
              <a:spcBef>
                <a:spcPts val="600"/>
              </a:spcBef>
              <a:buFont typeface="Arial" panose="020B0604020202020204" pitchFamily="34" charset="0"/>
              <a:buChar char="•"/>
            </a:pPr>
            <a:endParaRPr lang="fr-FR" sz="2000" b="0" i="0" dirty="0">
              <a:solidFill>
                <a:srgbClr val="382C24"/>
              </a:solidFill>
              <a:effectLst/>
              <a:latin typeface="Verdana" panose="020B0604030504040204" pitchFamily="34" charset="0"/>
            </a:endParaRPr>
          </a:p>
          <a:p>
            <a:pPr algn="l">
              <a:spcBef>
                <a:spcPts val="600"/>
              </a:spcBef>
              <a:buFont typeface="Arial" panose="020B0604020202020204" pitchFamily="34" charset="0"/>
              <a:buChar char="•"/>
            </a:pPr>
            <a:r>
              <a:rPr lang="fr-FR" sz="2000" b="0" i="0" dirty="0">
                <a:solidFill>
                  <a:srgbClr val="382C24"/>
                </a:solidFill>
                <a:effectLst/>
                <a:latin typeface="Verdana" panose="020B0604030504040204" pitchFamily="34" charset="0"/>
              </a:rPr>
              <a:t>Si un serveur tombe en panne, ses ressources ne sont plus disponibles. Il faut donc prévoir des solutions plus ou moins complexes, plus onéreuses, pour assurer un fonctionnement en cas de panne.</a:t>
            </a:r>
          </a:p>
        </p:txBody>
      </p:sp>
    </p:spTree>
    <p:extLst>
      <p:ext uri="{BB962C8B-B14F-4D97-AF65-F5344CB8AC3E}">
        <p14:creationId xmlns:p14="http://schemas.microsoft.com/office/powerpoint/2010/main" val="25297511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E8EB13-2541-44E8-8B37-86E24B6D4F65}"/>
              </a:ext>
            </a:extLst>
          </p:cNvPr>
          <p:cNvSpPr>
            <a:spLocks noGrp="1"/>
          </p:cNvSpPr>
          <p:nvPr>
            <p:ph type="title"/>
          </p:nvPr>
        </p:nvSpPr>
        <p:spPr>
          <a:xfrm>
            <a:off x="1259632" y="81871"/>
            <a:ext cx="7499350" cy="792088"/>
          </a:xfrm>
          <a:solidFill>
            <a:schemeClr val="bg2">
              <a:lumMod val="75000"/>
            </a:schemeClr>
          </a:solidFill>
        </p:spPr>
        <p:txBody>
          <a:bodyPr/>
          <a:lstStyle/>
          <a:p>
            <a:r>
              <a:rPr lang="fr-FR" dirty="0"/>
              <a:t>Le Modèle OSI</a:t>
            </a:r>
          </a:p>
        </p:txBody>
      </p:sp>
      <p:sp>
        <p:nvSpPr>
          <p:cNvPr id="3" name="Espace réservé du contenu 2">
            <a:extLst>
              <a:ext uri="{FF2B5EF4-FFF2-40B4-BE49-F238E27FC236}">
                <a16:creationId xmlns:a16="http://schemas.microsoft.com/office/drawing/2014/main" id="{B34EAF2D-A385-430A-A594-5B09A0D3C308}"/>
              </a:ext>
            </a:extLst>
          </p:cNvPr>
          <p:cNvSpPr>
            <a:spLocks noGrp="1"/>
          </p:cNvSpPr>
          <p:nvPr>
            <p:ph idx="4294967295"/>
          </p:nvPr>
        </p:nvSpPr>
        <p:spPr>
          <a:xfrm>
            <a:off x="1125180" y="962075"/>
            <a:ext cx="7911316" cy="5707285"/>
          </a:xfrm>
          <a:solidFill>
            <a:schemeClr val="bg2"/>
          </a:solidFill>
        </p:spPr>
        <p:txBody>
          <a:bodyPr/>
          <a:lstStyle/>
          <a:p>
            <a:r>
              <a:rPr lang="fr-FR" dirty="0"/>
              <a:t>Au début des années 70, chaque constructeur a développé sa propre solution réseau autour d'architecture et de protocoles privés exemple: </a:t>
            </a:r>
          </a:p>
          <a:p>
            <a:r>
              <a:rPr lang="fr-FR" b="1" dirty="0"/>
              <a:t>IBM </a:t>
            </a:r>
            <a:r>
              <a:rPr lang="fr-FR" dirty="0"/>
              <a:t>a développé </a:t>
            </a:r>
            <a:r>
              <a:rPr lang="fr-FR" b="1" dirty="0"/>
              <a:t>SNA</a:t>
            </a:r>
            <a:r>
              <a:rPr lang="fr-FR" dirty="0"/>
              <a:t> (</a:t>
            </a:r>
            <a:r>
              <a:rPr lang="fr-FR" dirty="0" err="1"/>
              <a:t>Systems</a:t>
            </a:r>
            <a:r>
              <a:rPr lang="fr-FR" dirty="0"/>
              <a:t> Network Architecture)</a:t>
            </a:r>
            <a:r>
              <a:rPr lang="fr-FR" b="1" dirty="0"/>
              <a:t>.</a:t>
            </a:r>
            <a:r>
              <a:rPr lang="fr-FR" dirty="0"/>
              <a:t> </a:t>
            </a:r>
          </a:p>
          <a:p>
            <a:r>
              <a:rPr lang="fr-FR" b="1" dirty="0"/>
              <a:t>DEC </a:t>
            </a:r>
            <a:r>
              <a:rPr lang="fr-FR" dirty="0"/>
              <a:t>a développé </a:t>
            </a:r>
            <a:r>
              <a:rPr lang="fr-FR" b="1" dirty="0" err="1"/>
              <a:t>DECnet</a:t>
            </a:r>
            <a:r>
              <a:rPr lang="fr-FR" dirty="0"/>
              <a:t> et </a:t>
            </a:r>
            <a:r>
              <a:rPr lang="fr-FR" b="1" dirty="0"/>
              <a:t>DNA</a:t>
            </a:r>
            <a:r>
              <a:rPr lang="fr-FR" dirty="0"/>
              <a:t> (Digital Network Architecture).</a:t>
            </a:r>
          </a:p>
          <a:p>
            <a:r>
              <a:rPr lang="fr-FR" dirty="0"/>
              <a:t>Bull a développé </a:t>
            </a:r>
            <a:r>
              <a:rPr lang="fr-FR" b="1" dirty="0"/>
              <a:t>DSA.</a:t>
            </a:r>
            <a:endParaRPr lang="fr-FR" dirty="0"/>
          </a:p>
          <a:p>
            <a:r>
              <a:rPr lang="fr-FR" dirty="0"/>
              <a:t>DoD a développé </a:t>
            </a:r>
            <a:r>
              <a:rPr lang="fr-FR" b="1" dirty="0"/>
              <a:t>TCP/IP</a:t>
            </a:r>
            <a:r>
              <a:rPr lang="fr-FR" dirty="0"/>
              <a:t>,...) </a:t>
            </a:r>
          </a:p>
          <a:p>
            <a:r>
              <a:rPr lang="fr-FR" dirty="0"/>
              <a:t>Et il s'est vite avéré qu'il serait impossible d'interconnecter ces différents réseaux «propriétaires» si une norme internationale n'était pas établie. </a:t>
            </a:r>
          </a:p>
          <a:p>
            <a:r>
              <a:rPr lang="fr-FR" dirty="0"/>
              <a:t>Cette norme établie par l'International Standard </a:t>
            </a:r>
            <a:r>
              <a:rPr lang="fr-FR" dirty="0" err="1"/>
              <a:t>Organization</a:t>
            </a:r>
            <a:r>
              <a:rPr lang="fr-FR" dirty="0"/>
              <a:t> (</a:t>
            </a:r>
            <a:r>
              <a:rPr lang="fr-FR" b="1" dirty="0"/>
              <a:t>ISO</a:t>
            </a:r>
            <a:r>
              <a:rPr lang="fr-FR" dirty="0"/>
              <a:t>).</a:t>
            </a:r>
          </a:p>
        </p:txBody>
      </p:sp>
      <p:sp>
        <p:nvSpPr>
          <p:cNvPr id="5" name="Espace réservé du numéro de diapositive 4">
            <a:extLst>
              <a:ext uri="{FF2B5EF4-FFF2-40B4-BE49-F238E27FC236}">
                <a16:creationId xmlns:a16="http://schemas.microsoft.com/office/drawing/2014/main" id="{BB006C1B-706B-4CE6-A2E6-266E8DDC18E7}"/>
              </a:ext>
            </a:extLst>
          </p:cNvPr>
          <p:cNvSpPr>
            <a:spLocks noGrp="1"/>
          </p:cNvSpPr>
          <p:nvPr>
            <p:ph type="sldNum" sz="quarter" idx="4294967295"/>
          </p:nvPr>
        </p:nvSpPr>
        <p:spPr>
          <a:xfrm>
            <a:off x="8686800" y="6305550"/>
            <a:ext cx="457200" cy="476250"/>
          </a:xfrm>
        </p:spPr>
        <p:txBody>
          <a:bodyPr/>
          <a:lstStyle/>
          <a:p>
            <a:fld id="{AE65C026-8F1A-49B2-8DBD-F72498D8F816}" type="slidenum">
              <a:rPr lang="fr-FR" smtClean="0"/>
              <a:pPr/>
              <a:t>30</a:t>
            </a:fld>
            <a:endParaRPr lang="fr-FR"/>
          </a:p>
        </p:txBody>
      </p:sp>
    </p:spTree>
    <p:extLst>
      <p:ext uri="{BB962C8B-B14F-4D97-AF65-F5344CB8AC3E}">
        <p14:creationId xmlns:p14="http://schemas.microsoft.com/office/powerpoint/2010/main" val="25199053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73A8F4-EDBE-498E-AD49-DB05B2CB8635}"/>
              </a:ext>
            </a:extLst>
          </p:cNvPr>
          <p:cNvSpPr>
            <a:spLocks noGrp="1"/>
          </p:cNvSpPr>
          <p:nvPr>
            <p:ph type="title"/>
          </p:nvPr>
        </p:nvSpPr>
        <p:spPr>
          <a:xfrm>
            <a:off x="1259632" y="260648"/>
            <a:ext cx="7499350" cy="1008112"/>
          </a:xfrm>
          <a:solidFill>
            <a:schemeClr val="bg2">
              <a:lumMod val="75000"/>
            </a:schemeClr>
          </a:solidFill>
        </p:spPr>
        <p:txBody>
          <a:bodyPr/>
          <a:lstStyle/>
          <a:p>
            <a:r>
              <a:rPr lang="fr-FR" dirty="0"/>
              <a:t> Le Modèle OSI:</a:t>
            </a:r>
          </a:p>
        </p:txBody>
      </p:sp>
      <p:sp>
        <p:nvSpPr>
          <p:cNvPr id="11267" name="Espace réservé du contenu 2">
            <a:extLst>
              <a:ext uri="{FF2B5EF4-FFF2-40B4-BE49-F238E27FC236}">
                <a16:creationId xmlns:a16="http://schemas.microsoft.com/office/drawing/2014/main" id="{D3300265-7FD9-4698-BB9F-CB1DDCC3701E}"/>
              </a:ext>
            </a:extLst>
          </p:cNvPr>
          <p:cNvSpPr>
            <a:spLocks noGrp="1"/>
          </p:cNvSpPr>
          <p:nvPr>
            <p:ph idx="4294967295"/>
          </p:nvPr>
        </p:nvSpPr>
        <p:spPr>
          <a:xfrm>
            <a:off x="1259632" y="1412776"/>
            <a:ext cx="7632848" cy="5293568"/>
          </a:xfrm>
        </p:spPr>
        <p:txBody>
          <a:bodyPr/>
          <a:lstStyle/>
          <a:p>
            <a:r>
              <a:rPr lang="fr-FR" sz="2800" dirty="0"/>
              <a:t>Le modèle </a:t>
            </a:r>
            <a:r>
              <a:rPr lang="fr-FR" sz="2800" b="1" dirty="0"/>
              <a:t>OSI</a:t>
            </a:r>
            <a:r>
              <a:rPr lang="fr-FR" sz="2800" dirty="0"/>
              <a:t> (Open </a:t>
            </a:r>
            <a:r>
              <a:rPr lang="fr-FR" sz="2800" dirty="0" err="1"/>
              <a:t>Systems</a:t>
            </a:r>
            <a:r>
              <a:rPr lang="fr-FR" sz="2800" dirty="0"/>
              <a:t> </a:t>
            </a:r>
            <a:r>
              <a:rPr lang="fr-FR" sz="2800" dirty="0" err="1"/>
              <a:t>Interconnection</a:t>
            </a:r>
            <a:r>
              <a:rPr lang="fr-FR" sz="2800" dirty="0"/>
              <a:t>) définit de quelle manière les protocoles sont associés entre eux pour permettre une communication entre les périphériques en réseau. </a:t>
            </a:r>
          </a:p>
          <a:p>
            <a:endParaRPr lang="fr-FR" sz="2800" dirty="0"/>
          </a:p>
          <a:p>
            <a:r>
              <a:rPr lang="fr-FR" sz="2800" dirty="0"/>
              <a:t>Il spécifie le comportement d’un système ouvert (qui échange en permanence des informations). </a:t>
            </a:r>
          </a:p>
          <a:p>
            <a:endParaRPr lang="fr-FR" sz="2800" dirty="0"/>
          </a:p>
          <a:p>
            <a:r>
              <a:rPr lang="fr-FR" sz="2800" dirty="0"/>
              <a:t>Ce modèle est normalisé par l’ISO (l'International Standard </a:t>
            </a:r>
            <a:r>
              <a:rPr lang="fr-FR" sz="2800" dirty="0" err="1"/>
              <a:t>Organization</a:t>
            </a:r>
            <a:r>
              <a:rPr lang="fr-FR" sz="2800" dirty="0"/>
              <a:t>).</a:t>
            </a:r>
            <a:endParaRPr lang="fr-FR" altLang="fr-FR" sz="2800" dirty="0"/>
          </a:p>
          <a:p>
            <a:endParaRPr lang="fr-FR" altLang="fr-FR" sz="2800" dirty="0"/>
          </a:p>
          <a:p>
            <a:endParaRPr lang="fr-FR" altLang="fr-FR"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D879ABC-0912-E9C8-C0F4-20517C74EFEC}"/>
              </a:ext>
            </a:extLst>
          </p:cNvPr>
          <p:cNvSpPr>
            <a:spLocks noGrp="1"/>
          </p:cNvSpPr>
          <p:nvPr>
            <p:ph type="title"/>
          </p:nvPr>
        </p:nvSpPr>
        <p:spPr>
          <a:xfrm>
            <a:off x="1259632" y="260648"/>
            <a:ext cx="7499350" cy="792088"/>
          </a:xfrm>
        </p:spPr>
        <p:txBody>
          <a:bodyPr/>
          <a:lstStyle/>
          <a:p>
            <a:r>
              <a:rPr lang="fr-FR" dirty="0"/>
              <a:t>Le Modèle OSI</a:t>
            </a:r>
          </a:p>
        </p:txBody>
      </p:sp>
      <p:pic>
        <p:nvPicPr>
          <p:cNvPr id="4" name="Image 3">
            <a:extLst>
              <a:ext uri="{FF2B5EF4-FFF2-40B4-BE49-F238E27FC236}">
                <a16:creationId xmlns:a16="http://schemas.microsoft.com/office/drawing/2014/main" id="{48C60CD8-6173-4170-4F29-7F0F629B4DC7}"/>
              </a:ext>
            </a:extLst>
          </p:cNvPr>
          <p:cNvPicPr>
            <a:picLocks noChangeAspect="1"/>
          </p:cNvPicPr>
          <p:nvPr/>
        </p:nvPicPr>
        <p:blipFill>
          <a:blip r:embed="rId2"/>
          <a:stretch>
            <a:fillRect/>
          </a:stretch>
        </p:blipFill>
        <p:spPr>
          <a:xfrm>
            <a:off x="1403648" y="1857794"/>
            <a:ext cx="7240289" cy="3590506"/>
          </a:xfrm>
          <a:prstGeom prst="rect">
            <a:avLst/>
          </a:prstGeom>
        </p:spPr>
      </p:pic>
    </p:spTree>
    <p:extLst>
      <p:ext uri="{BB962C8B-B14F-4D97-AF65-F5344CB8AC3E}">
        <p14:creationId xmlns:p14="http://schemas.microsoft.com/office/powerpoint/2010/main" val="1275023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086B111-6AF1-54A5-490B-7A4078DEFAC6}"/>
              </a:ext>
            </a:extLst>
          </p:cNvPr>
          <p:cNvSpPr>
            <a:spLocks noGrp="1"/>
          </p:cNvSpPr>
          <p:nvPr>
            <p:ph type="title"/>
          </p:nvPr>
        </p:nvSpPr>
        <p:spPr/>
        <p:txBody>
          <a:bodyPr/>
          <a:lstStyle/>
          <a:p>
            <a:r>
              <a:rPr lang="fr-FR" b="1" dirty="0"/>
              <a:t>PDU: Protocol Data Unit</a:t>
            </a:r>
            <a:endParaRPr lang="fr-FR" dirty="0"/>
          </a:p>
        </p:txBody>
      </p:sp>
      <p:sp>
        <p:nvSpPr>
          <p:cNvPr id="6" name="ZoneTexte 5">
            <a:extLst>
              <a:ext uri="{FF2B5EF4-FFF2-40B4-BE49-F238E27FC236}">
                <a16:creationId xmlns:a16="http://schemas.microsoft.com/office/drawing/2014/main" id="{DB6179B0-7CA9-43C7-3856-6D526080A221}"/>
              </a:ext>
            </a:extLst>
          </p:cNvPr>
          <p:cNvSpPr txBox="1"/>
          <p:nvPr/>
        </p:nvSpPr>
        <p:spPr>
          <a:xfrm>
            <a:off x="1412776" y="1556792"/>
            <a:ext cx="6903640" cy="830997"/>
          </a:xfrm>
          <a:prstGeom prst="rect">
            <a:avLst/>
          </a:prstGeom>
          <a:noFill/>
        </p:spPr>
        <p:txBody>
          <a:bodyPr wrap="square">
            <a:spAutoFit/>
          </a:bodyPr>
          <a:lstStyle/>
          <a:p>
            <a:r>
              <a:rPr lang="fr-FR" dirty="0"/>
              <a:t>Ensemble des informations échangées entre niveaux dans le système de couches du  Modèle OSI. </a:t>
            </a:r>
          </a:p>
        </p:txBody>
      </p:sp>
      <p:pic>
        <p:nvPicPr>
          <p:cNvPr id="8" name="Image 7">
            <a:extLst>
              <a:ext uri="{FF2B5EF4-FFF2-40B4-BE49-F238E27FC236}">
                <a16:creationId xmlns:a16="http://schemas.microsoft.com/office/drawing/2014/main" id="{B1121D90-E0A3-58EE-63E3-47E43A0AC069}"/>
              </a:ext>
            </a:extLst>
          </p:cNvPr>
          <p:cNvPicPr>
            <a:picLocks noChangeAspect="1"/>
          </p:cNvPicPr>
          <p:nvPr/>
        </p:nvPicPr>
        <p:blipFill>
          <a:blip r:embed="rId2"/>
          <a:stretch>
            <a:fillRect/>
          </a:stretch>
        </p:blipFill>
        <p:spPr>
          <a:xfrm>
            <a:off x="3974687" y="2420888"/>
            <a:ext cx="3096712" cy="4248472"/>
          </a:xfrm>
          <a:prstGeom prst="rect">
            <a:avLst/>
          </a:prstGeom>
        </p:spPr>
      </p:pic>
    </p:spTree>
    <p:extLst>
      <p:ext uri="{BB962C8B-B14F-4D97-AF65-F5344CB8AC3E}">
        <p14:creationId xmlns:p14="http://schemas.microsoft.com/office/powerpoint/2010/main" val="26496584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87B20EA-A3DA-476D-91BE-2CD794069ABE}"/>
              </a:ext>
            </a:extLst>
          </p:cNvPr>
          <p:cNvSpPr>
            <a:spLocks noGrp="1"/>
          </p:cNvSpPr>
          <p:nvPr>
            <p:ph type="title"/>
          </p:nvPr>
        </p:nvSpPr>
        <p:spPr>
          <a:xfrm>
            <a:off x="1259632" y="260648"/>
            <a:ext cx="7499350" cy="792088"/>
          </a:xfrm>
          <a:solidFill>
            <a:schemeClr val="bg2">
              <a:lumMod val="75000"/>
            </a:schemeClr>
          </a:solidFill>
        </p:spPr>
        <p:txBody>
          <a:bodyPr>
            <a:normAutofit/>
          </a:bodyPr>
          <a:lstStyle/>
          <a:p>
            <a:r>
              <a:rPr lang="fr-FR" sz="3600" dirty="0"/>
              <a:t>Modèle OSI: Pourquoi des couches?</a:t>
            </a:r>
          </a:p>
        </p:txBody>
      </p:sp>
      <p:sp>
        <p:nvSpPr>
          <p:cNvPr id="3" name="Espace réservé du contenu 2">
            <a:extLst>
              <a:ext uri="{FF2B5EF4-FFF2-40B4-BE49-F238E27FC236}">
                <a16:creationId xmlns:a16="http://schemas.microsoft.com/office/drawing/2014/main" id="{78152964-3263-4F76-A2FE-5FE37A1EE6D7}"/>
              </a:ext>
            </a:extLst>
          </p:cNvPr>
          <p:cNvSpPr>
            <a:spLocks noGrp="1"/>
          </p:cNvSpPr>
          <p:nvPr>
            <p:ph idx="4294967295"/>
          </p:nvPr>
        </p:nvSpPr>
        <p:spPr>
          <a:xfrm>
            <a:off x="1259632" y="1196752"/>
            <a:ext cx="7499350" cy="5616624"/>
          </a:xfrm>
          <a:ln>
            <a:solidFill>
              <a:srgbClr val="EDDCB5"/>
            </a:solidFill>
          </a:ln>
        </p:spPr>
        <p:txBody>
          <a:bodyPr/>
          <a:lstStyle/>
          <a:p>
            <a:pPr marL="180000" indent="-180000">
              <a:spcBef>
                <a:spcPts val="0"/>
              </a:spcBef>
            </a:pPr>
            <a:r>
              <a:rPr lang="fr-FR" sz="2400" dirty="0"/>
              <a:t>L'avantage des couches:</a:t>
            </a:r>
          </a:p>
          <a:p>
            <a:pPr marL="180000" indent="-180000">
              <a:spcBef>
                <a:spcPts val="0"/>
              </a:spcBef>
            </a:pPr>
            <a:r>
              <a:rPr lang="fr-FR" sz="2400" dirty="0"/>
              <a:t>Le modèle OSI se décompose en </a:t>
            </a:r>
            <a:r>
              <a:rPr lang="fr-FR" sz="2400" b="1" dirty="0">
                <a:highlight>
                  <a:srgbClr val="C6B07E"/>
                </a:highlight>
              </a:rPr>
              <a:t>7 couches</a:t>
            </a:r>
            <a:r>
              <a:rPr lang="fr-FR" sz="2400" dirty="0"/>
              <a:t>. </a:t>
            </a:r>
          </a:p>
          <a:p>
            <a:pPr marL="180000" indent="-180000">
              <a:spcBef>
                <a:spcPts val="0"/>
              </a:spcBef>
            </a:pPr>
            <a:r>
              <a:rPr lang="fr-FR" sz="2400" dirty="0"/>
              <a:t>Chaque couche est responsable d’un </a:t>
            </a:r>
          </a:p>
          <a:p>
            <a:pPr marL="0" indent="0">
              <a:spcBef>
                <a:spcPts val="0"/>
              </a:spcBef>
              <a:buNone/>
            </a:pPr>
            <a:r>
              <a:rPr lang="fr-FR" sz="2400" dirty="0"/>
              <a:t>aspect de la communication. </a:t>
            </a:r>
          </a:p>
          <a:p>
            <a:pPr marL="180000" indent="-180000">
              <a:spcBef>
                <a:spcPts val="0"/>
              </a:spcBef>
            </a:pPr>
            <a:r>
              <a:rPr lang="fr-FR" sz="2400" dirty="0"/>
              <a:t>Une couche de niveau N communique </a:t>
            </a:r>
          </a:p>
          <a:p>
            <a:pPr marL="0" indent="0">
              <a:spcBef>
                <a:spcPts val="0"/>
              </a:spcBef>
              <a:buNone/>
            </a:pPr>
            <a:r>
              <a:rPr lang="fr-FR" sz="2400" dirty="0"/>
              <a:t>avec les couches de niveau </a:t>
            </a:r>
            <a:r>
              <a:rPr lang="fr-FR" sz="2400" b="1" dirty="0"/>
              <a:t>N-1 et N+1</a:t>
            </a:r>
            <a:r>
              <a:rPr lang="fr-FR" sz="2400" dirty="0"/>
              <a:t>. </a:t>
            </a:r>
          </a:p>
          <a:p>
            <a:pPr marL="180000" indent="-180000">
              <a:spcBef>
                <a:spcPts val="0"/>
              </a:spcBef>
            </a:pPr>
            <a:r>
              <a:rPr lang="fr-FR" sz="2400" dirty="0"/>
              <a:t>Les couches N de 2 périphériques</a:t>
            </a:r>
          </a:p>
          <a:p>
            <a:pPr marL="0" indent="0">
              <a:spcBef>
                <a:spcPts val="0"/>
              </a:spcBef>
              <a:buNone/>
            </a:pPr>
            <a:r>
              <a:rPr lang="fr-FR" sz="2400" dirty="0"/>
              <a:t>communiquent en utilisant des </a:t>
            </a:r>
          </a:p>
          <a:p>
            <a:pPr marL="0" indent="0">
              <a:spcBef>
                <a:spcPts val="0"/>
              </a:spcBef>
              <a:buNone/>
            </a:pPr>
            <a:r>
              <a:rPr lang="fr-FR" sz="2400" dirty="0"/>
              <a:t>protocoles de communication communs. </a:t>
            </a:r>
          </a:p>
          <a:p>
            <a:pPr marL="180000" indent="-180000">
              <a:spcBef>
                <a:spcPts val="0"/>
              </a:spcBef>
            </a:pPr>
            <a:r>
              <a:rPr lang="fr-FR" sz="2400" dirty="0"/>
              <a:t>Les couches inférieures de la pile </a:t>
            </a:r>
          </a:p>
          <a:p>
            <a:pPr marL="0" indent="0">
              <a:spcBef>
                <a:spcPts val="0"/>
              </a:spcBef>
              <a:buNone/>
            </a:pPr>
            <a:r>
              <a:rPr lang="fr-FR" sz="2400" b="1" dirty="0">
                <a:solidFill>
                  <a:schemeClr val="accent3">
                    <a:lumMod val="60000"/>
                    <a:lumOff val="40000"/>
                  </a:schemeClr>
                </a:solidFill>
              </a:rPr>
              <a:t>s’occupent du déplacement de données </a:t>
            </a:r>
          </a:p>
          <a:p>
            <a:pPr marL="0" indent="0">
              <a:spcBef>
                <a:spcPts val="0"/>
              </a:spcBef>
              <a:buNone/>
            </a:pPr>
            <a:r>
              <a:rPr lang="fr-FR" sz="2400" b="1" dirty="0">
                <a:solidFill>
                  <a:schemeClr val="accent3">
                    <a:lumMod val="60000"/>
                    <a:lumOff val="40000"/>
                  </a:schemeClr>
                </a:solidFill>
              </a:rPr>
              <a:t>sur le réseau</a:t>
            </a:r>
            <a:r>
              <a:rPr lang="fr-FR" sz="2400" dirty="0"/>
              <a:t> et de </a:t>
            </a:r>
            <a:r>
              <a:rPr lang="fr-FR" sz="2400" b="1" dirty="0">
                <a:solidFill>
                  <a:srgbClr val="002060"/>
                </a:solidFill>
              </a:rPr>
              <a:t>la fourniture de services</a:t>
            </a:r>
          </a:p>
          <a:p>
            <a:pPr marL="0" indent="0">
              <a:spcBef>
                <a:spcPts val="0"/>
              </a:spcBef>
              <a:buNone/>
            </a:pPr>
            <a:r>
              <a:rPr lang="fr-FR" sz="2400" b="1" dirty="0">
                <a:solidFill>
                  <a:srgbClr val="002060"/>
                </a:solidFill>
              </a:rPr>
              <a:t>aux couches supérieures</a:t>
            </a:r>
            <a:r>
              <a:rPr lang="fr-FR" sz="2400" dirty="0"/>
              <a:t>, qui elles se concentrent sur le contenu du message en cours d’envoi et l’interface utilisateur. </a:t>
            </a:r>
          </a:p>
          <a:p>
            <a:endParaRPr lang="fr-FR" dirty="0"/>
          </a:p>
          <a:p>
            <a:endParaRPr lang="fr-FR" dirty="0"/>
          </a:p>
          <a:p>
            <a:endParaRPr lang="fr-FR" dirty="0"/>
          </a:p>
        </p:txBody>
      </p:sp>
      <p:pic>
        <p:nvPicPr>
          <p:cNvPr id="5" name="Image 4">
            <a:extLst>
              <a:ext uri="{FF2B5EF4-FFF2-40B4-BE49-F238E27FC236}">
                <a16:creationId xmlns:a16="http://schemas.microsoft.com/office/drawing/2014/main" id="{9DC67471-B7F7-4EAF-A36E-4922B42CC4E2}"/>
              </a:ext>
            </a:extLst>
          </p:cNvPr>
          <p:cNvPicPr>
            <a:picLocks noChangeAspect="1"/>
          </p:cNvPicPr>
          <p:nvPr/>
        </p:nvPicPr>
        <p:blipFill>
          <a:blip r:embed="rId2"/>
          <a:stretch>
            <a:fillRect/>
          </a:stretch>
        </p:blipFill>
        <p:spPr>
          <a:xfrm>
            <a:off x="6709488" y="1962985"/>
            <a:ext cx="2349759" cy="341215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3E0187-6ACD-455B-B52A-32C127355D34}"/>
              </a:ext>
            </a:extLst>
          </p:cNvPr>
          <p:cNvSpPr>
            <a:spLocks noGrp="1"/>
          </p:cNvSpPr>
          <p:nvPr>
            <p:ph type="title"/>
          </p:nvPr>
        </p:nvSpPr>
        <p:spPr>
          <a:xfrm>
            <a:off x="1191070" y="120503"/>
            <a:ext cx="7571358" cy="792088"/>
          </a:xfrm>
          <a:solidFill>
            <a:schemeClr val="bg2">
              <a:lumMod val="75000"/>
            </a:schemeClr>
          </a:solidFill>
        </p:spPr>
        <p:txBody>
          <a:bodyPr>
            <a:normAutofit/>
          </a:bodyPr>
          <a:lstStyle/>
          <a:p>
            <a:r>
              <a:rPr lang="fr-FR" dirty="0"/>
              <a:t>Les 7 couches du modèle OSI</a:t>
            </a:r>
          </a:p>
        </p:txBody>
      </p:sp>
      <p:graphicFrame>
        <p:nvGraphicFramePr>
          <p:cNvPr id="6" name="Espace réservé du contenu 5">
            <a:extLst>
              <a:ext uri="{FF2B5EF4-FFF2-40B4-BE49-F238E27FC236}">
                <a16:creationId xmlns:a16="http://schemas.microsoft.com/office/drawing/2014/main" id="{5F18BEDF-9F4E-4F25-903C-B0116CAC8FA5}"/>
              </a:ext>
            </a:extLst>
          </p:cNvPr>
          <p:cNvGraphicFramePr>
            <a:graphicFrameLocks noGrp="1"/>
          </p:cNvGraphicFramePr>
          <p:nvPr>
            <p:ph idx="4294967295"/>
            <p:extLst>
              <p:ext uri="{D42A27DB-BD31-4B8C-83A1-F6EECF244321}">
                <p14:modId xmlns:p14="http://schemas.microsoft.com/office/powerpoint/2010/main" val="2502261255"/>
              </p:ext>
            </p:extLst>
          </p:nvPr>
        </p:nvGraphicFramePr>
        <p:xfrm>
          <a:off x="1191071" y="995243"/>
          <a:ext cx="7571357" cy="5797504"/>
        </p:xfrm>
        <a:graphic>
          <a:graphicData uri="http://schemas.openxmlformats.org/drawingml/2006/table">
            <a:tbl>
              <a:tblPr firstCol="1" bandRow="1">
                <a:tableStyleId>{5C22544A-7EE6-4342-B048-85BDC9FD1C3A}</a:tableStyleId>
              </a:tblPr>
              <a:tblGrid>
                <a:gridCol w="1499148">
                  <a:extLst>
                    <a:ext uri="{9D8B030D-6E8A-4147-A177-3AD203B41FA5}">
                      <a16:colId xmlns:a16="http://schemas.microsoft.com/office/drawing/2014/main" val="1516895525"/>
                    </a:ext>
                  </a:extLst>
                </a:gridCol>
                <a:gridCol w="6072209">
                  <a:extLst>
                    <a:ext uri="{9D8B030D-6E8A-4147-A177-3AD203B41FA5}">
                      <a16:colId xmlns:a16="http://schemas.microsoft.com/office/drawing/2014/main" val="3398352869"/>
                    </a:ext>
                  </a:extLst>
                </a:gridCol>
              </a:tblGrid>
              <a:tr h="706805">
                <a:tc>
                  <a:txBody>
                    <a:bodyPr/>
                    <a:lstStyle/>
                    <a:p>
                      <a:pPr>
                        <a:spcBef>
                          <a:spcPts val="600"/>
                        </a:spcBef>
                      </a:pPr>
                      <a:r>
                        <a:rPr lang="fr-FR" sz="1400" b="1" dirty="0">
                          <a:solidFill>
                            <a:schemeClr val="accent3">
                              <a:lumMod val="75000"/>
                            </a:schemeClr>
                          </a:solidFill>
                          <a:effectLst/>
                        </a:rPr>
                        <a:t>7- Application</a:t>
                      </a:r>
                      <a:endParaRPr lang="fr-FR" sz="1400" b="1" dirty="0">
                        <a:solidFill>
                          <a:schemeClr val="accent3">
                            <a:lumMod val="75000"/>
                          </a:schemeClr>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solidFill>
                      <a:schemeClr val="bg2">
                        <a:lumMod val="75000"/>
                      </a:schemeClr>
                    </a:solidFill>
                  </a:tcPr>
                </a:tc>
                <a:tc>
                  <a:txBody>
                    <a:bodyPr/>
                    <a:lstStyle/>
                    <a:p>
                      <a:pPr>
                        <a:spcBef>
                          <a:spcPts val="600"/>
                        </a:spcBef>
                      </a:pPr>
                      <a:r>
                        <a:rPr kumimoji="0" lang="fr-FR" sz="1800" b="0" i="0" u="none" strike="noStrike" kern="1200" baseline="0" dirty="0">
                          <a:solidFill>
                            <a:schemeClr val="dk1"/>
                          </a:solidFill>
                          <a:latin typeface="+mn-lt"/>
                          <a:ea typeface="+mn-ea"/>
                          <a:cs typeface="+mn-cs"/>
                        </a:rPr>
                        <a:t>Communication avec les logiciels</a:t>
                      </a:r>
                      <a:endParaRPr lang="fr-FR" sz="1800" b="1" dirty="0">
                        <a:solidFill>
                          <a:srgbClr val="00B050"/>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solidFill>
                      <a:schemeClr val="accent2">
                        <a:lumMod val="20000"/>
                        <a:lumOff val="80000"/>
                      </a:schemeClr>
                    </a:solidFill>
                  </a:tcPr>
                </a:tc>
                <a:extLst>
                  <a:ext uri="{0D108BD9-81ED-4DB2-BD59-A6C34878D82A}">
                    <a16:rowId xmlns:a16="http://schemas.microsoft.com/office/drawing/2014/main" val="840011295"/>
                  </a:ext>
                </a:extLst>
              </a:tr>
              <a:tr h="835236">
                <a:tc>
                  <a:txBody>
                    <a:bodyPr/>
                    <a:lstStyle/>
                    <a:p>
                      <a:pPr>
                        <a:spcBef>
                          <a:spcPts val="600"/>
                        </a:spcBef>
                      </a:pPr>
                      <a:r>
                        <a:rPr lang="fr-FR" sz="1400" b="1" dirty="0">
                          <a:solidFill>
                            <a:schemeClr val="accent3">
                              <a:lumMod val="75000"/>
                            </a:schemeClr>
                          </a:solidFill>
                          <a:effectLst/>
                        </a:rPr>
                        <a:t>6- Présentation</a:t>
                      </a:r>
                      <a:endParaRPr lang="fr-FR" sz="1400" b="1" dirty="0">
                        <a:solidFill>
                          <a:schemeClr val="accent3">
                            <a:lumMod val="75000"/>
                          </a:schemeClr>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solidFill>
                      <a:schemeClr val="bg2">
                        <a:lumMod val="75000"/>
                      </a:schemeClr>
                    </a:solidFill>
                  </a:tcPr>
                </a:tc>
                <a:tc>
                  <a:txBody>
                    <a:bodyPr/>
                    <a:lstStyle/>
                    <a:p>
                      <a:pPr>
                        <a:spcBef>
                          <a:spcPts val="600"/>
                        </a:spcBef>
                      </a:pPr>
                      <a:r>
                        <a:rPr kumimoji="0" lang="fr-FR" sz="1800" b="0" i="0" u="none" strike="noStrike" kern="1200" baseline="0" dirty="0">
                          <a:solidFill>
                            <a:schemeClr val="dk1"/>
                          </a:solidFill>
                          <a:latin typeface="+mn-lt"/>
                          <a:ea typeface="+mn-ea"/>
                          <a:cs typeface="+mn-cs"/>
                        </a:rPr>
                        <a:t>Gestion de la syntaxe</a:t>
                      </a:r>
                      <a:endParaRPr lang="fr-FR" sz="1800" dirty="0">
                        <a:solidFill>
                          <a:srgbClr val="00B050"/>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solidFill>
                      <a:schemeClr val="bg2">
                        <a:lumMod val="90000"/>
                      </a:schemeClr>
                    </a:solidFill>
                  </a:tcPr>
                </a:tc>
                <a:extLst>
                  <a:ext uri="{0D108BD9-81ED-4DB2-BD59-A6C34878D82A}">
                    <a16:rowId xmlns:a16="http://schemas.microsoft.com/office/drawing/2014/main" val="1858260975"/>
                  </a:ext>
                </a:extLst>
              </a:tr>
              <a:tr h="655177">
                <a:tc>
                  <a:txBody>
                    <a:bodyPr/>
                    <a:lstStyle/>
                    <a:p>
                      <a:pPr>
                        <a:spcBef>
                          <a:spcPts val="600"/>
                        </a:spcBef>
                      </a:pPr>
                      <a:r>
                        <a:rPr lang="fr-FR" sz="1400" b="1" dirty="0">
                          <a:solidFill>
                            <a:schemeClr val="accent3">
                              <a:lumMod val="75000"/>
                            </a:schemeClr>
                          </a:solidFill>
                          <a:effectLst/>
                        </a:rPr>
                        <a:t>5- Session</a:t>
                      </a:r>
                      <a:endParaRPr lang="fr-FR" sz="1400" b="1" dirty="0">
                        <a:solidFill>
                          <a:schemeClr val="accent3">
                            <a:lumMod val="75000"/>
                          </a:schemeClr>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solidFill>
                      <a:schemeClr val="bg2">
                        <a:lumMod val="75000"/>
                      </a:schemeClr>
                    </a:solidFill>
                  </a:tcPr>
                </a:tc>
                <a:tc>
                  <a:txBody>
                    <a:bodyPr/>
                    <a:lstStyle/>
                    <a:p>
                      <a:pPr>
                        <a:spcBef>
                          <a:spcPts val="600"/>
                        </a:spcBef>
                      </a:pPr>
                      <a:r>
                        <a:rPr lang="fr-FR" sz="1800" dirty="0">
                          <a:effectLst/>
                        </a:rPr>
                        <a:t>La couche session fournit des services à la couche présentation pour </a:t>
                      </a:r>
                      <a:r>
                        <a:rPr lang="fr-FR" sz="1800" b="1" dirty="0">
                          <a:effectLst/>
                        </a:rPr>
                        <a:t>organiser son dialogue et gérer l'échange de données</a:t>
                      </a:r>
                      <a:r>
                        <a:rPr lang="fr-FR" sz="1800" dirty="0">
                          <a:effectLst/>
                        </a:rPr>
                        <a:t>.</a:t>
                      </a:r>
                      <a:endParaRPr lang="fr-FR" sz="18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solidFill>
                      <a:schemeClr val="accent2">
                        <a:lumMod val="20000"/>
                        <a:lumOff val="80000"/>
                      </a:schemeClr>
                    </a:solidFill>
                  </a:tcPr>
                </a:tc>
                <a:extLst>
                  <a:ext uri="{0D108BD9-81ED-4DB2-BD59-A6C34878D82A}">
                    <a16:rowId xmlns:a16="http://schemas.microsoft.com/office/drawing/2014/main" val="2932527455"/>
                  </a:ext>
                </a:extLst>
              </a:tr>
              <a:tr h="851665">
                <a:tc>
                  <a:txBody>
                    <a:bodyPr/>
                    <a:lstStyle/>
                    <a:p>
                      <a:pPr>
                        <a:spcBef>
                          <a:spcPts val="600"/>
                        </a:spcBef>
                      </a:pPr>
                      <a:r>
                        <a:rPr lang="fr-FR" sz="1400" b="1" dirty="0">
                          <a:solidFill>
                            <a:schemeClr val="accent3">
                              <a:lumMod val="75000"/>
                            </a:schemeClr>
                          </a:solidFill>
                          <a:effectLst/>
                        </a:rPr>
                        <a:t>4- Transport</a:t>
                      </a:r>
                      <a:endParaRPr lang="fr-FR" sz="1400" b="1" dirty="0">
                        <a:solidFill>
                          <a:schemeClr val="accent3">
                            <a:lumMod val="75000"/>
                          </a:schemeClr>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solidFill>
                      <a:schemeClr val="bg2">
                        <a:lumMod val="75000"/>
                      </a:schemeClr>
                    </a:solidFill>
                  </a:tcPr>
                </a:tc>
                <a:tc>
                  <a:txBody>
                    <a:bodyPr/>
                    <a:lstStyle/>
                    <a:p>
                      <a:pPr>
                        <a:spcBef>
                          <a:spcPts val="600"/>
                        </a:spcBef>
                      </a:pPr>
                      <a:r>
                        <a:rPr lang="fr-FR" sz="1800" dirty="0">
                          <a:effectLst/>
                        </a:rPr>
                        <a:t>La couche transport définit des services pour </a:t>
                      </a:r>
                      <a:r>
                        <a:rPr lang="fr-FR" sz="1800" b="1" dirty="0">
                          <a:effectLst/>
                        </a:rPr>
                        <a:t>segmenter</a:t>
                      </a:r>
                      <a:r>
                        <a:rPr lang="fr-FR" sz="1800" dirty="0">
                          <a:effectLst/>
                        </a:rPr>
                        <a:t>, </a:t>
                      </a:r>
                      <a:r>
                        <a:rPr lang="fr-FR" sz="1800" b="1" dirty="0">
                          <a:effectLst/>
                        </a:rPr>
                        <a:t>transférer</a:t>
                      </a:r>
                      <a:r>
                        <a:rPr lang="fr-FR" sz="1800" dirty="0">
                          <a:effectLst/>
                        </a:rPr>
                        <a:t> et </a:t>
                      </a:r>
                      <a:r>
                        <a:rPr lang="fr-FR" sz="1800" b="1" dirty="0">
                          <a:effectLst/>
                        </a:rPr>
                        <a:t>rassembler</a:t>
                      </a:r>
                      <a:r>
                        <a:rPr lang="fr-FR" sz="1800" dirty="0">
                          <a:effectLst/>
                        </a:rPr>
                        <a:t> les données de communications individuelles entre périphériques finaux.</a:t>
                      </a:r>
                      <a:endParaRPr lang="fr-FR" sz="18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solidFill>
                      <a:schemeClr val="bg2">
                        <a:lumMod val="90000"/>
                      </a:schemeClr>
                    </a:solidFill>
                  </a:tcPr>
                </a:tc>
                <a:extLst>
                  <a:ext uri="{0D108BD9-81ED-4DB2-BD59-A6C34878D82A}">
                    <a16:rowId xmlns:a16="http://schemas.microsoft.com/office/drawing/2014/main" val="835340188"/>
                  </a:ext>
                </a:extLst>
              </a:tr>
              <a:tr h="812013">
                <a:tc>
                  <a:txBody>
                    <a:bodyPr/>
                    <a:lstStyle/>
                    <a:p>
                      <a:pPr>
                        <a:spcBef>
                          <a:spcPts val="600"/>
                        </a:spcBef>
                      </a:pPr>
                      <a:r>
                        <a:rPr lang="fr-FR" sz="1400" b="1" dirty="0">
                          <a:solidFill>
                            <a:schemeClr val="accent3">
                              <a:lumMod val="75000"/>
                            </a:schemeClr>
                          </a:solidFill>
                          <a:effectLst/>
                        </a:rPr>
                        <a:t>3- Réseaux</a:t>
                      </a:r>
                      <a:endParaRPr lang="fr-FR" sz="1400" b="1" dirty="0">
                        <a:solidFill>
                          <a:schemeClr val="accent3">
                            <a:lumMod val="75000"/>
                          </a:schemeClr>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solidFill>
                      <a:schemeClr val="bg2">
                        <a:lumMod val="75000"/>
                      </a:schemeClr>
                    </a:solidFill>
                  </a:tcPr>
                </a:tc>
                <a:tc>
                  <a:txBody>
                    <a:bodyPr/>
                    <a:lstStyle/>
                    <a:p>
                      <a:pPr>
                        <a:spcBef>
                          <a:spcPts val="600"/>
                        </a:spcBef>
                      </a:pPr>
                      <a:r>
                        <a:rPr kumimoji="0" lang="fr-FR" sz="1800" b="0" i="0" u="none" strike="noStrike" kern="1200" baseline="0" dirty="0">
                          <a:solidFill>
                            <a:schemeClr val="dk1"/>
                          </a:solidFill>
                          <a:latin typeface="+mn-lt"/>
                          <a:ea typeface="+mn-ea"/>
                          <a:cs typeface="+mn-cs"/>
                        </a:rPr>
                        <a:t>Acheminer les messages (paquets) de proche en proche en fonction de leur adresse de destination (routage)</a:t>
                      </a:r>
                      <a:endParaRPr lang="fr-FR" sz="1800" dirty="0">
                        <a:solidFill>
                          <a:srgbClr val="00B050"/>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solidFill>
                      <a:schemeClr val="accent2">
                        <a:lumMod val="20000"/>
                        <a:lumOff val="80000"/>
                      </a:schemeClr>
                    </a:solidFill>
                  </a:tcPr>
                </a:tc>
                <a:extLst>
                  <a:ext uri="{0D108BD9-81ED-4DB2-BD59-A6C34878D82A}">
                    <a16:rowId xmlns:a16="http://schemas.microsoft.com/office/drawing/2014/main" val="148152906"/>
                  </a:ext>
                </a:extLst>
              </a:tr>
              <a:tr h="812013">
                <a:tc>
                  <a:txBody>
                    <a:bodyPr/>
                    <a:lstStyle/>
                    <a:p>
                      <a:pPr>
                        <a:spcBef>
                          <a:spcPts val="600"/>
                        </a:spcBef>
                      </a:pPr>
                      <a:r>
                        <a:rPr lang="fr-FR" sz="1400" b="1" dirty="0">
                          <a:solidFill>
                            <a:schemeClr val="accent3">
                              <a:lumMod val="75000"/>
                            </a:schemeClr>
                          </a:solidFill>
                          <a:effectLst/>
                        </a:rPr>
                        <a:t>2- Liaison</a:t>
                      </a:r>
                      <a:endParaRPr lang="fr-FR" sz="1400" b="1" dirty="0">
                        <a:solidFill>
                          <a:schemeClr val="accent3">
                            <a:lumMod val="75000"/>
                          </a:schemeClr>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solidFill>
                      <a:schemeClr val="bg2">
                        <a:lumMod val="75000"/>
                      </a:schemeClr>
                    </a:solidFill>
                  </a:tcPr>
                </a:tc>
                <a:tc>
                  <a:txBody>
                    <a:bodyPr/>
                    <a:lstStyle/>
                    <a:p>
                      <a:pPr>
                        <a:spcBef>
                          <a:spcPts val="600"/>
                        </a:spcBef>
                      </a:pPr>
                      <a:r>
                        <a:rPr lang="fr-FR" sz="1800" dirty="0">
                          <a:effectLst/>
                        </a:rPr>
                        <a:t>Les protocoles de la couche liaison de données décrivent des méthodes d'échanges de </a:t>
                      </a:r>
                      <a:r>
                        <a:rPr lang="fr-FR" sz="1800" b="1" dirty="0">
                          <a:effectLst/>
                        </a:rPr>
                        <a:t>trames de données entre des périphériques sur un support commun.</a:t>
                      </a:r>
                      <a:endParaRPr lang="fr-FR" sz="1800" b="1"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solidFill>
                      <a:schemeClr val="bg2">
                        <a:lumMod val="90000"/>
                      </a:schemeClr>
                    </a:solidFill>
                  </a:tcPr>
                </a:tc>
                <a:extLst>
                  <a:ext uri="{0D108BD9-81ED-4DB2-BD59-A6C34878D82A}">
                    <a16:rowId xmlns:a16="http://schemas.microsoft.com/office/drawing/2014/main" val="2254193235"/>
                  </a:ext>
                </a:extLst>
              </a:tr>
              <a:tr h="1113648">
                <a:tc>
                  <a:txBody>
                    <a:bodyPr/>
                    <a:lstStyle/>
                    <a:p>
                      <a:pPr>
                        <a:spcBef>
                          <a:spcPts val="600"/>
                        </a:spcBef>
                      </a:pPr>
                      <a:r>
                        <a:rPr lang="fr-FR" sz="1400" b="1" dirty="0">
                          <a:solidFill>
                            <a:schemeClr val="accent3">
                              <a:lumMod val="75000"/>
                            </a:schemeClr>
                          </a:solidFill>
                          <a:effectLst/>
                        </a:rPr>
                        <a:t>1- Physique</a:t>
                      </a:r>
                      <a:endParaRPr lang="fr-FR" sz="1400" b="1" dirty="0">
                        <a:solidFill>
                          <a:schemeClr val="accent3">
                            <a:lumMod val="75000"/>
                          </a:schemeClr>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solidFill>
                      <a:schemeClr val="bg2">
                        <a:lumMod val="75000"/>
                      </a:schemeClr>
                    </a:solidFill>
                  </a:tcPr>
                </a:tc>
                <a:tc>
                  <a:txBody>
                    <a:bodyPr/>
                    <a:lstStyle/>
                    <a:p>
                      <a:pPr>
                        <a:spcBef>
                          <a:spcPts val="600"/>
                        </a:spcBef>
                      </a:pPr>
                      <a:r>
                        <a:rPr lang="fr-FR" sz="1600" dirty="0">
                          <a:effectLst/>
                        </a:rPr>
                        <a:t>Emission et réception des signaux (radio) électrique (bits).</a:t>
                      </a:r>
                      <a:endParaRPr lang="fr-FR" sz="16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solidFill>
                      <a:schemeClr val="accent2">
                        <a:lumMod val="20000"/>
                        <a:lumOff val="80000"/>
                      </a:schemeClr>
                    </a:solidFill>
                  </a:tcPr>
                </a:tc>
                <a:extLst>
                  <a:ext uri="{0D108BD9-81ED-4DB2-BD59-A6C34878D82A}">
                    <a16:rowId xmlns:a16="http://schemas.microsoft.com/office/drawing/2014/main" val="1110955523"/>
                  </a:ext>
                </a:extLst>
              </a:tr>
            </a:tbl>
          </a:graphicData>
        </a:graphic>
      </p:graphicFrame>
      <p:sp>
        <p:nvSpPr>
          <p:cNvPr id="5" name="Espace réservé du numéro de diapositive 4">
            <a:extLst>
              <a:ext uri="{FF2B5EF4-FFF2-40B4-BE49-F238E27FC236}">
                <a16:creationId xmlns:a16="http://schemas.microsoft.com/office/drawing/2014/main" id="{33A4F9DD-89FD-45F8-9261-058CD55AF6EB}"/>
              </a:ext>
            </a:extLst>
          </p:cNvPr>
          <p:cNvSpPr>
            <a:spLocks noGrp="1"/>
          </p:cNvSpPr>
          <p:nvPr>
            <p:ph type="sldNum" sz="quarter" idx="4294967295"/>
          </p:nvPr>
        </p:nvSpPr>
        <p:spPr>
          <a:xfrm>
            <a:off x="8686800" y="6305550"/>
            <a:ext cx="457200" cy="476250"/>
          </a:xfrm>
        </p:spPr>
        <p:txBody>
          <a:bodyPr/>
          <a:lstStyle/>
          <a:p>
            <a:fld id="{AE65C026-8F1A-49B2-8DBD-F72498D8F816}" type="slidenum">
              <a:rPr lang="fr-FR" smtClean="0"/>
              <a:pPr/>
              <a:t>35</a:t>
            </a:fld>
            <a:endParaRPr lang="fr-FR"/>
          </a:p>
        </p:txBody>
      </p:sp>
    </p:spTree>
    <p:extLst>
      <p:ext uri="{BB962C8B-B14F-4D97-AF65-F5344CB8AC3E}">
        <p14:creationId xmlns:p14="http://schemas.microsoft.com/office/powerpoint/2010/main" val="10257389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8F2A0BB-2169-4032-A3BA-7A7B0A261022}"/>
              </a:ext>
            </a:extLst>
          </p:cNvPr>
          <p:cNvSpPr>
            <a:spLocks noGrp="1"/>
          </p:cNvSpPr>
          <p:nvPr>
            <p:ph type="title"/>
          </p:nvPr>
        </p:nvSpPr>
        <p:spPr>
          <a:xfrm>
            <a:off x="1115616" y="108248"/>
            <a:ext cx="7848872" cy="792088"/>
          </a:xfrm>
          <a:solidFill>
            <a:schemeClr val="bg2">
              <a:lumMod val="75000"/>
            </a:schemeClr>
          </a:solidFill>
        </p:spPr>
        <p:txBody>
          <a:bodyPr anchor="t">
            <a:normAutofit fontScale="90000"/>
          </a:bodyPr>
          <a:lstStyle/>
          <a:p>
            <a:r>
              <a:rPr lang="fr-FR" sz="4000" dirty="0"/>
              <a:t>Comparaison des modèles OSI et TCP/IP</a:t>
            </a:r>
            <a:br>
              <a:rPr lang="fr-FR" dirty="0"/>
            </a:br>
            <a:endParaRPr lang="fr-FR" dirty="0"/>
          </a:p>
        </p:txBody>
      </p:sp>
      <p:sp>
        <p:nvSpPr>
          <p:cNvPr id="5" name="Espace réservé du numéro de diapositive 4">
            <a:extLst>
              <a:ext uri="{FF2B5EF4-FFF2-40B4-BE49-F238E27FC236}">
                <a16:creationId xmlns:a16="http://schemas.microsoft.com/office/drawing/2014/main" id="{8CE2657B-36D7-43E9-8BF7-E9996EA2D71A}"/>
              </a:ext>
            </a:extLst>
          </p:cNvPr>
          <p:cNvSpPr>
            <a:spLocks noGrp="1"/>
          </p:cNvSpPr>
          <p:nvPr>
            <p:ph type="sldNum" sz="quarter" idx="4294967295"/>
          </p:nvPr>
        </p:nvSpPr>
        <p:spPr>
          <a:xfrm>
            <a:off x="8686800" y="6305550"/>
            <a:ext cx="457200" cy="476250"/>
          </a:xfrm>
        </p:spPr>
        <p:txBody>
          <a:bodyPr/>
          <a:lstStyle/>
          <a:p>
            <a:fld id="{AE65C026-8F1A-49B2-8DBD-F72498D8F816}" type="slidenum">
              <a:rPr lang="fr-FR" smtClean="0"/>
              <a:pPr/>
              <a:t>36</a:t>
            </a:fld>
            <a:endParaRPr lang="fr-FR"/>
          </a:p>
        </p:txBody>
      </p:sp>
      <p:sp>
        <p:nvSpPr>
          <p:cNvPr id="9" name="Espace réservé du contenu 8">
            <a:extLst>
              <a:ext uri="{FF2B5EF4-FFF2-40B4-BE49-F238E27FC236}">
                <a16:creationId xmlns:a16="http://schemas.microsoft.com/office/drawing/2014/main" id="{AB0D48C0-189C-464E-BECA-ABC146A99278}"/>
              </a:ext>
            </a:extLst>
          </p:cNvPr>
          <p:cNvSpPr>
            <a:spLocks noGrp="1"/>
          </p:cNvSpPr>
          <p:nvPr>
            <p:ph idx="4294967295"/>
          </p:nvPr>
        </p:nvSpPr>
        <p:spPr>
          <a:xfrm>
            <a:off x="1115616" y="926042"/>
            <a:ext cx="7632848" cy="5823710"/>
          </a:xfrm>
        </p:spPr>
        <p:txBody>
          <a:bodyPr/>
          <a:lstStyle/>
          <a:p>
            <a:r>
              <a:rPr lang="fr-FR" sz="2000" dirty="0"/>
              <a:t>Les protocoles qui constituent la suite de protocoles TCP/IP peuvent être décrits selon les termes du modèle de référence OSI. </a:t>
            </a:r>
          </a:p>
          <a:p>
            <a:r>
              <a:rPr lang="fr-FR" sz="2000" dirty="0"/>
              <a:t>Dans le modèle OSI, la couche d’accès réseau et la couche application du modèle TCP/IP sont encore divisées pour décrire des fonctions discrètes qui doivent  intervenir au niveau de ces couches. </a:t>
            </a:r>
          </a:p>
          <a:p>
            <a:r>
              <a:rPr lang="fr-FR" sz="2000" dirty="0"/>
              <a:t>Au niveau de la couche d’accès au réseau, la suite de protocoles TCP/IP ne spécifie pas quels protocoles </a:t>
            </a:r>
          </a:p>
          <a:p>
            <a:pPr marL="82550" indent="0">
              <a:buNone/>
            </a:pPr>
            <a:r>
              <a:rPr lang="fr-FR" sz="2000" dirty="0"/>
              <a:t>utiliser lors de la transmission à travers un </a:t>
            </a:r>
          </a:p>
          <a:p>
            <a:pPr marL="82550" indent="0">
              <a:buNone/>
            </a:pPr>
            <a:r>
              <a:rPr lang="fr-FR" sz="2000" dirty="0"/>
              <a:t>support physique ; elle décrit uniquement</a:t>
            </a:r>
          </a:p>
          <a:p>
            <a:pPr marL="82550" indent="0">
              <a:buNone/>
            </a:pPr>
            <a:r>
              <a:rPr lang="fr-FR" sz="2000" dirty="0"/>
              <a:t> la remise depuis la couche Internet aux </a:t>
            </a:r>
          </a:p>
          <a:p>
            <a:pPr marL="82550" indent="0">
              <a:buNone/>
            </a:pPr>
            <a:r>
              <a:rPr lang="fr-FR" sz="2000" dirty="0"/>
              <a:t>protocoles réseau physiques.</a:t>
            </a:r>
          </a:p>
          <a:p>
            <a:pPr marL="82550" indent="0">
              <a:buNone/>
            </a:pPr>
            <a:endParaRPr lang="fr-FR" sz="2000" dirty="0"/>
          </a:p>
          <a:p>
            <a:endParaRPr lang="fr-FR" sz="2000" dirty="0"/>
          </a:p>
          <a:p>
            <a:r>
              <a:rPr lang="fr-FR" sz="2000" dirty="0"/>
              <a:t>Les couches OSI 1 et 2 traitent des </a:t>
            </a:r>
          </a:p>
          <a:p>
            <a:pPr marL="82550" indent="0">
              <a:buNone/>
            </a:pPr>
            <a:r>
              <a:rPr lang="fr-FR" sz="2000" dirty="0"/>
              <a:t>procédures nécessaires à l’accès aux supports et des moyens physiques pour envoyer des données à travers un réseau.</a:t>
            </a:r>
            <a:endParaRPr lang="fr-FR" dirty="0"/>
          </a:p>
        </p:txBody>
      </p:sp>
      <p:pic>
        <p:nvPicPr>
          <p:cNvPr id="13" name="Image 12">
            <a:extLst>
              <a:ext uri="{FF2B5EF4-FFF2-40B4-BE49-F238E27FC236}">
                <a16:creationId xmlns:a16="http://schemas.microsoft.com/office/drawing/2014/main" id="{DDD65EFB-D997-450A-8143-137BBCAF7C71}"/>
              </a:ext>
            </a:extLst>
          </p:cNvPr>
          <p:cNvPicPr/>
          <p:nvPr/>
        </p:nvPicPr>
        <p:blipFill>
          <a:blip r:embed="rId2" cstate="print">
            <a:clrChange>
              <a:clrFrom>
                <a:srgbClr val="FFFFFF"/>
              </a:clrFrom>
              <a:clrTo>
                <a:srgbClr val="FFFFFF">
                  <a:alpha val="0"/>
                </a:srgbClr>
              </a:clrTo>
            </a:clrChange>
          </a:blip>
          <a:srcRect/>
          <a:stretch>
            <a:fillRect/>
          </a:stretch>
        </p:blipFill>
        <p:spPr bwMode="auto">
          <a:xfrm>
            <a:off x="5975033" y="2852936"/>
            <a:ext cx="3133689" cy="3168352"/>
          </a:xfrm>
          <a:prstGeom prst="rect">
            <a:avLst/>
          </a:prstGeom>
          <a:noFill/>
          <a:ln w="9525">
            <a:noFill/>
            <a:miter lim="800000"/>
            <a:headEnd/>
            <a:tailEnd/>
          </a:ln>
        </p:spPr>
      </p:pic>
    </p:spTree>
    <p:extLst>
      <p:ext uri="{BB962C8B-B14F-4D97-AF65-F5344CB8AC3E}">
        <p14:creationId xmlns:p14="http://schemas.microsoft.com/office/powerpoint/2010/main" val="10017022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re 18">
            <a:extLst>
              <a:ext uri="{FF2B5EF4-FFF2-40B4-BE49-F238E27FC236}">
                <a16:creationId xmlns:a16="http://schemas.microsoft.com/office/drawing/2014/main" id="{718341FA-DA87-45D7-B9B7-425F5201D401}"/>
              </a:ext>
            </a:extLst>
          </p:cNvPr>
          <p:cNvSpPr>
            <a:spLocks noGrp="1"/>
          </p:cNvSpPr>
          <p:nvPr>
            <p:ph type="title"/>
          </p:nvPr>
        </p:nvSpPr>
        <p:spPr>
          <a:xfrm>
            <a:off x="1259632" y="260648"/>
            <a:ext cx="7499350" cy="936104"/>
          </a:xfrm>
        </p:spPr>
        <p:txBody>
          <a:bodyPr/>
          <a:lstStyle/>
          <a:p>
            <a:r>
              <a:rPr lang="fr-FR" dirty="0"/>
              <a:t>Protocoles</a:t>
            </a:r>
          </a:p>
        </p:txBody>
      </p:sp>
      <p:sp>
        <p:nvSpPr>
          <p:cNvPr id="3" name="Espace réservé du contenu 2">
            <a:extLst>
              <a:ext uri="{FF2B5EF4-FFF2-40B4-BE49-F238E27FC236}">
                <a16:creationId xmlns:a16="http://schemas.microsoft.com/office/drawing/2014/main" id="{AB393AAC-307B-4639-9CE0-B25CEA3799BD}"/>
              </a:ext>
            </a:extLst>
          </p:cNvPr>
          <p:cNvSpPr>
            <a:spLocks noGrp="1"/>
          </p:cNvSpPr>
          <p:nvPr>
            <p:ph idx="4294967295"/>
          </p:nvPr>
        </p:nvSpPr>
        <p:spPr>
          <a:xfrm>
            <a:off x="1245160" y="1530211"/>
            <a:ext cx="7499350" cy="4563085"/>
          </a:xfrm>
          <a:solidFill>
            <a:schemeClr val="bg2"/>
          </a:solidFill>
        </p:spPr>
        <p:txBody>
          <a:bodyPr lIns="72000" tIns="36000" rIns="72000" bIns="36000"/>
          <a:lstStyle/>
          <a:p>
            <a:r>
              <a:rPr lang="fr-FR" sz="2800" dirty="0"/>
              <a:t>La réussite d’une communication entre des hôtes sur un réseau requiert l’interaction de nombreux protocoles (règles de communication) différents. </a:t>
            </a:r>
          </a:p>
          <a:p>
            <a:pPr marL="82550" indent="0">
              <a:buNone/>
            </a:pPr>
            <a:endParaRPr lang="fr-FR" sz="2800" dirty="0"/>
          </a:p>
          <a:p>
            <a:r>
              <a:rPr lang="fr-FR" sz="2800" dirty="0"/>
              <a:t>Ces suites de protocoles décrivent le format des messages et des règles selon lesquelles les périphériques réseaux échangeront des données.</a:t>
            </a:r>
          </a:p>
        </p:txBody>
      </p:sp>
      <p:sp>
        <p:nvSpPr>
          <p:cNvPr id="5" name="Espace réservé du numéro de diapositive 4">
            <a:extLst>
              <a:ext uri="{FF2B5EF4-FFF2-40B4-BE49-F238E27FC236}">
                <a16:creationId xmlns:a16="http://schemas.microsoft.com/office/drawing/2014/main" id="{464D49D4-725F-4805-9DFF-08DA292430B8}"/>
              </a:ext>
            </a:extLst>
          </p:cNvPr>
          <p:cNvSpPr>
            <a:spLocks noGrp="1"/>
          </p:cNvSpPr>
          <p:nvPr>
            <p:ph type="sldNum" sz="quarter" idx="4294967295"/>
          </p:nvPr>
        </p:nvSpPr>
        <p:spPr>
          <a:xfrm>
            <a:off x="8686800" y="6305550"/>
            <a:ext cx="457200" cy="476250"/>
          </a:xfrm>
        </p:spPr>
        <p:txBody>
          <a:bodyPr/>
          <a:lstStyle/>
          <a:p>
            <a:fld id="{AE65C026-8F1A-49B2-8DBD-F72498D8F816}" type="slidenum">
              <a:rPr lang="fr-FR" smtClean="0"/>
              <a:pPr/>
              <a:t>37</a:t>
            </a:fld>
            <a:endParaRPr lang="fr-FR"/>
          </a:p>
        </p:txBody>
      </p:sp>
    </p:spTree>
    <p:extLst>
      <p:ext uri="{BB962C8B-B14F-4D97-AF65-F5344CB8AC3E}">
        <p14:creationId xmlns:p14="http://schemas.microsoft.com/office/powerpoint/2010/main" val="18109539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F80C27-AF75-41E8-977C-8BE1D6853CC5}"/>
              </a:ext>
            </a:extLst>
          </p:cNvPr>
          <p:cNvSpPr>
            <a:spLocks noGrp="1"/>
          </p:cNvSpPr>
          <p:nvPr>
            <p:ph type="title"/>
          </p:nvPr>
        </p:nvSpPr>
        <p:spPr>
          <a:xfrm>
            <a:off x="1341984" y="240118"/>
            <a:ext cx="7344816" cy="792088"/>
          </a:xfrm>
          <a:solidFill>
            <a:schemeClr val="bg2">
              <a:lumMod val="75000"/>
            </a:schemeClr>
          </a:solidFill>
        </p:spPr>
        <p:txBody>
          <a:bodyPr>
            <a:noAutofit/>
          </a:bodyPr>
          <a:lstStyle/>
          <a:p>
            <a:r>
              <a:rPr lang="fr-FR" sz="3600" dirty="0"/>
              <a:t>Protocoles du modèle OSI &amp; TCP/IP</a:t>
            </a:r>
          </a:p>
        </p:txBody>
      </p:sp>
      <p:sp>
        <p:nvSpPr>
          <p:cNvPr id="4" name="Espace réservé du pied de page 3">
            <a:extLst>
              <a:ext uri="{FF2B5EF4-FFF2-40B4-BE49-F238E27FC236}">
                <a16:creationId xmlns:a16="http://schemas.microsoft.com/office/drawing/2014/main" id="{A4D3214A-F59A-46D6-9565-25810D26712F}"/>
              </a:ext>
            </a:extLst>
          </p:cNvPr>
          <p:cNvSpPr>
            <a:spLocks noGrp="1"/>
          </p:cNvSpPr>
          <p:nvPr>
            <p:ph type="ftr" sz="quarter" idx="4294967295"/>
          </p:nvPr>
        </p:nvSpPr>
        <p:spPr>
          <a:xfrm>
            <a:off x="6248400" y="6305550"/>
            <a:ext cx="2895600" cy="476250"/>
          </a:xfrm>
        </p:spPr>
        <p:txBody>
          <a:bodyPr/>
          <a:lstStyle/>
          <a:p>
            <a:r>
              <a:rPr lang="fr-FR"/>
              <a:t>1ère année BTS SNIR                                      </a:t>
            </a:r>
            <a:endParaRPr lang="fr-FR" dirty="0"/>
          </a:p>
        </p:txBody>
      </p:sp>
      <p:sp>
        <p:nvSpPr>
          <p:cNvPr id="5" name="Espace réservé du numéro de diapositive 4">
            <a:extLst>
              <a:ext uri="{FF2B5EF4-FFF2-40B4-BE49-F238E27FC236}">
                <a16:creationId xmlns:a16="http://schemas.microsoft.com/office/drawing/2014/main" id="{9DB4A2A3-7319-4CB1-BDAA-F3120A54A7D0}"/>
              </a:ext>
            </a:extLst>
          </p:cNvPr>
          <p:cNvSpPr>
            <a:spLocks noGrp="1"/>
          </p:cNvSpPr>
          <p:nvPr>
            <p:ph type="sldNum" sz="quarter" idx="4294967295"/>
          </p:nvPr>
        </p:nvSpPr>
        <p:spPr>
          <a:xfrm>
            <a:off x="8686800" y="6305550"/>
            <a:ext cx="457200" cy="476250"/>
          </a:xfrm>
        </p:spPr>
        <p:txBody>
          <a:bodyPr/>
          <a:lstStyle/>
          <a:p>
            <a:fld id="{AE65C026-8F1A-49B2-8DBD-F72498D8F816}" type="slidenum">
              <a:rPr lang="fr-FR" smtClean="0"/>
              <a:pPr/>
              <a:t>38</a:t>
            </a:fld>
            <a:endParaRPr lang="fr-FR"/>
          </a:p>
        </p:txBody>
      </p:sp>
      <p:pic>
        <p:nvPicPr>
          <p:cNvPr id="6" name="Image 5">
            <a:extLst>
              <a:ext uri="{FF2B5EF4-FFF2-40B4-BE49-F238E27FC236}">
                <a16:creationId xmlns:a16="http://schemas.microsoft.com/office/drawing/2014/main" id="{BE5C21B2-43D7-4222-9EF3-6EB80E9A9A01}"/>
              </a:ext>
            </a:extLst>
          </p:cNvPr>
          <p:cNvPicPr>
            <a:picLocks noChangeAspect="1"/>
          </p:cNvPicPr>
          <p:nvPr/>
        </p:nvPicPr>
        <p:blipFill>
          <a:blip r:embed="rId2"/>
          <a:stretch>
            <a:fillRect/>
          </a:stretch>
        </p:blipFill>
        <p:spPr>
          <a:xfrm>
            <a:off x="1553234" y="1139478"/>
            <a:ext cx="6922316" cy="5642322"/>
          </a:xfrm>
          <a:prstGeom prst="rect">
            <a:avLst/>
          </a:prstGeom>
        </p:spPr>
      </p:pic>
    </p:spTree>
    <p:extLst>
      <p:ext uri="{BB962C8B-B14F-4D97-AF65-F5344CB8AC3E}">
        <p14:creationId xmlns:p14="http://schemas.microsoft.com/office/powerpoint/2010/main" val="40705962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F4FDFD4-52F8-49FD-A3EC-5A2B11300EC6}"/>
              </a:ext>
            </a:extLst>
          </p:cNvPr>
          <p:cNvSpPr>
            <a:spLocks noGrp="1"/>
          </p:cNvSpPr>
          <p:nvPr>
            <p:ph type="title"/>
          </p:nvPr>
        </p:nvSpPr>
        <p:spPr>
          <a:xfrm>
            <a:off x="1435100" y="274638"/>
            <a:ext cx="7499350" cy="706090"/>
          </a:xfrm>
          <a:solidFill>
            <a:schemeClr val="bg2">
              <a:lumMod val="75000"/>
            </a:schemeClr>
          </a:solidFill>
        </p:spPr>
        <p:txBody>
          <a:bodyPr>
            <a:normAutofit fontScale="90000"/>
          </a:bodyPr>
          <a:lstStyle/>
          <a:p>
            <a:r>
              <a:rPr lang="fr-FR" dirty="0"/>
              <a:t>Normes Internet</a:t>
            </a:r>
          </a:p>
        </p:txBody>
      </p:sp>
      <p:sp>
        <p:nvSpPr>
          <p:cNvPr id="3" name="Espace réservé du contenu 2">
            <a:extLst>
              <a:ext uri="{FF2B5EF4-FFF2-40B4-BE49-F238E27FC236}">
                <a16:creationId xmlns:a16="http://schemas.microsoft.com/office/drawing/2014/main" id="{9C21C935-28D6-4738-A368-C17495BA8AFF}"/>
              </a:ext>
            </a:extLst>
          </p:cNvPr>
          <p:cNvSpPr>
            <a:spLocks noGrp="1"/>
          </p:cNvSpPr>
          <p:nvPr>
            <p:ph idx="1"/>
          </p:nvPr>
        </p:nvSpPr>
        <p:spPr>
          <a:xfrm>
            <a:off x="1115616" y="1124744"/>
            <a:ext cx="7818834" cy="5657056"/>
          </a:xfrm>
          <a:solidFill>
            <a:schemeClr val="bg2"/>
          </a:solidFill>
        </p:spPr>
        <p:txBody>
          <a:bodyPr/>
          <a:lstStyle/>
          <a:p>
            <a:r>
              <a:rPr lang="fr-FR" dirty="0"/>
              <a:t>Dans un réseau, de nombreux composants matériels et logiciels, souvent conçus par des fabricants différents, doivent pouvoir communiquer. </a:t>
            </a:r>
          </a:p>
          <a:p>
            <a:r>
              <a:rPr lang="fr-FR" dirty="0"/>
              <a:t>Pour faciliter leur interconnexion, il est indispensable d’adopter des normes établies par différents organismes de normalisation :</a:t>
            </a:r>
          </a:p>
          <a:p>
            <a:endParaRPr lang="fr-FR" sz="2000" dirty="0"/>
          </a:p>
          <a:p>
            <a:endParaRPr lang="fr-FR" sz="2000" dirty="0"/>
          </a:p>
          <a:p>
            <a:endParaRPr lang="fr-FR" sz="2000" dirty="0"/>
          </a:p>
          <a:p>
            <a:endParaRPr lang="fr-FR" sz="2000" dirty="0"/>
          </a:p>
          <a:p>
            <a:endParaRPr lang="fr-FR" sz="2000" dirty="0"/>
          </a:p>
          <a:p>
            <a:r>
              <a:rPr lang="fr-FR" sz="2000" b="0" i="0" dirty="0">
                <a:solidFill>
                  <a:srgbClr val="333333"/>
                </a:solidFill>
                <a:effectLst/>
                <a:latin typeface="CiscoSansTTLight"/>
              </a:rPr>
              <a:t>Les organismes de normalisation sont généralement des associations à but </a:t>
            </a:r>
            <a:r>
              <a:rPr lang="fr-FR" sz="2000" b="1" i="0" dirty="0">
                <a:solidFill>
                  <a:srgbClr val="333333"/>
                </a:solidFill>
                <a:effectLst/>
                <a:latin typeface="CiscoSansTTLight"/>
              </a:rPr>
              <a:t>non lucratif </a:t>
            </a:r>
            <a:r>
              <a:rPr lang="fr-FR" sz="2000" b="0" i="0" dirty="0">
                <a:solidFill>
                  <a:srgbClr val="333333"/>
                </a:solidFill>
                <a:effectLst/>
                <a:latin typeface="CiscoSansTTLight"/>
              </a:rPr>
              <a:t>qui </a:t>
            </a:r>
            <a:r>
              <a:rPr lang="fr-FR" sz="2000" b="1" i="0" dirty="0">
                <a:solidFill>
                  <a:srgbClr val="333333"/>
                </a:solidFill>
                <a:effectLst/>
                <a:latin typeface="CiscoSansTTLight"/>
              </a:rPr>
              <a:t>ne sont liées à aucun constructeur</a:t>
            </a:r>
            <a:r>
              <a:rPr lang="fr-FR" sz="2000" b="0" i="0" dirty="0">
                <a:solidFill>
                  <a:srgbClr val="333333"/>
                </a:solidFill>
                <a:effectLst/>
                <a:latin typeface="CiscoSansTTLight"/>
              </a:rPr>
              <a:t>. </a:t>
            </a:r>
          </a:p>
          <a:p>
            <a:r>
              <a:rPr lang="fr-FR" sz="2000" b="0" i="0" dirty="0">
                <a:solidFill>
                  <a:srgbClr val="333333"/>
                </a:solidFill>
                <a:effectLst/>
                <a:latin typeface="CiscoSansTTLight"/>
              </a:rPr>
              <a:t>Leur objectif est de développer et de promouvoir le concept des normes ouvertes.</a:t>
            </a:r>
            <a:endParaRPr lang="fr-FR" sz="2000" dirty="0"/>
          </a:p>
        </p:txBody>
      </p:sp>
      <p:sp>
        <p:nvSpPr>
          <p:cNvPr id="5" name="Espace réservé du numéro de diapositive 4">
            <a:extLst>
              <a:ext uri="{FF2B5EF4-FFF2-40B4-BE49-F238E27FC236}">
                <a16:creationId xmlns:a16="http://schemas.microsoft.com/office/drawing/2014/main" id="{B6EC1839-658F-4F4B-81F2-E34335D57E17}"/>
              </a:ext>
            </a:extLst>
          </p:cNvPr>
          <p:cNvSpPr>
            <a:spLocks noGrp="1"/>
          </p:cNvSpPr>
          <p:nvPr>
            <p:ph type="sldNum" sz="quarter" idx="12"/>
          </p:nvPr>
        </p:nvSpPr>
        <p:spPr>
          <a:xfrm>
            <a:off x="8613775" y="6305550"/>
            <a:ext cx="457200" cy="476250"/>
          </a:xfrm>
        </p:spPr>
        <p:txBody>
          <a:bodyPr/>
          <a:lstStyle/>
          <a:p>
            <a:fld id="{AE65C026-8F1A-49B2-8DBD-F72498D8F816}" type="slidenum">
              <a:rPr lang="fr-FR" smtClean="0"/>
              <a:pPr/>
              <a:t>39</a:t>
            </a:fld>
            <a:endParaRPr lang="fr-FR"/>
          </a:p>
        </p:txBody>
      </p:sp>
      <p:pic>
        <p:nvPicPr>
          <p:cNvPr id="7" name="Image 6">
            <a:extLst>
              <a:ext uri="{FF2B5EF4-FFF2-40B4-BE49-F238E27FC236}">
                <a16:creationId xmlns:a16="http://schemas.microsoft.com/office/drawing/2014/main" id="{907AE4E6-6F17-4068-85ED-B7012FF99FA4}"/>
              </a:ext>
            </a:extLst>
          </p:cNvPr>
          <p:cNvPicPr>
            <a:picLocks noChangeAspect="1"/>
          </p:cNvPicPr>
          <p:nvPr/>
        </p:nvPicPr>
        <p:blipFill>
          <a:blip r:embed="rId2"/>
          <a:stretch>
            <a:fillRect/>
          </a:stretch>
        </p:blipFill>
        <p:spPr>
          <a:xfrm>
            <a:off x="6000999" y="3274740"/>
            <a:ext cx="2376264" cy="722513"/>
          </a:xfrm>
          <a:prstGeom prst="rect">
            <a:avLst/>
          </a:prstGeom>
        </p:spPr>
      </p:pic>
      <p:pic>
        <p:nvPicPr>
          <p:cNvPr id="9" name="Image 8">
            <a:extLst>
              <a:ext uri="{FF2B5EF4-FFF2-40B4-BE49-F238E27FC236}">
                <a16:creationId xmlns:a16="http://schemas.microsoft.com/office/drawing/2014/main" id="{F3F4C6D1-F9D0-4823-8006-BCBDE8BE016C}"/>
              </a:ext>
            </a:extLst>
          </p:cNvPr>
          <p:cNvPicPr>
            <a:picLocks noChangeAspect="1"/>
          </p:cNvPicPr>
          <p:nvPr/>
        </p:nvPicPr>
        <p:blipFill>
          <a:blip r:embed="rId3"/>
          <a:stretch>
            <a:fillRect/>
          </a:stretch>
        </p:blipFill>
        <p:spPr>
          <a:xfrm>
            <a:off x="1435100" y="3502230"/>
            <a:ext cx="1912765" cy="712473"/>
          </a:xfrm>
          <a:prstGeom prst="rect">
            <a:avLst/>
          </a:prstGeom>
        </p:spPr>
      </p:pic>
      <p:pic>
        <p:nvPicPr>
          <p:cNvPr id="11" name="Image 10">
            <a:extLst>
              <a:ext uri="{FF2B5EF4-FFF2-40B4-BE49-F238E27FC236}">
                <a16:creationId xmlns:a16="http://schemas.microsoft.com/office/drawing/2014/main" id="{2104EAAF-800B-43AF-A828-C35E8D0154E4}"/>
              </a:ext>
            </a:extLst>
          </p:cNvPr>
          <p:cNvPicPr>
            <a:picLocks noChangeAspect="1"/>
          </p:cNvPicPr>
          <p:nvPr/>
        </p:nvPicPr>
        <p:blipFill>
          <a:blip r:embed="rId4"/>
          <a:stretch>
            <a:fillRect/>
          </a:stretch>
        </p:blipFill>
        <p:spPr>
          <a:xfrm>
            <a:off x="4180039" y="3291007"/>
            <a:ext cx="1434327" cy="916375"/>
          </a:xfrm>
          <a:prstGeom prst="rect">
            <a:avLst/>
          </a:prstGeom>
        </p:spPr>
      </p:pic>
      <p:pic>
        <p:nvPicPr>
          <p:cNvPr id="13" name="Image 12">
            <a:extLst>
              <a:ext uri="{FF2B5EF4-FFF2-40B4-BE49-F238E27FC236}">
                <a16:creationId xmlns:a16="http://schemas.microsoft.com/office/drawing/2014/main" id="{C2FE6B2B-901C-4D01-9047-72CF0AB8E483}"/>
              </a:ext>
            </a:extLst>
          </p:cNvPr>
          <p:cNvPicPr>
            <a:picLocks noChangeAspect="1"/>
          </p:cNvPicPr>
          <p:nvPr/>
        </p:nvPicPr>
        <p:blipFill>
          <a:blip r:embed="rId5"/>
          <a:stretch>
            <a:fillRect/>
          </a:stretch>
        </p:blipFill>
        <p:spPr>
          <a:xfrm>
            <a:off x="6876256" y="4207382"/>
            <a:ext cx="969586" cy="955833"/>
          </a:xfrm>
          <a:prstGeom prst="rect">
            <a:avLst/>
          </a:prstGeom>
        </p:spPr>
      </p:pic>
      <p:pic>
        <p:nvPicPr>
          <p:cNvPr id="15" name="Image 14">
            <a:extLst>
              <a:ext uri="{FF2B5EF4-FFF2-40B4-BE49-F238E27FC236}">
                <a16:creationId xmlns:a16="http://schemas.microsoft.com/office/drawing/2014/main" id="{382F17B3-5D12-4153-AC16-0873AD281FF2}"/>
              </a:ext>
            </a:extLst>
          </p:cNvPr>
          <p:cNvPicPr>
            <a:picLocks noChangeAspect="1"/>
          </p:cNvPicPr>
          <p:nvPr/>
        </p:nvPicPr>
        <p:blipFill>
          <a:blip r:embed="rId6"/>
          <a:stretch>
            <a:fillRect/>
          </a:stretch>
        </p:blipFill>
        <p:spPr>
          <a:xfrm>
            <a:off x="4239013" y="4408736"/>
            <a:ext cx="1507703" cy="760705"/>
          </a:xfrm>
          <a:prstGeom prst="rect">
            <a:avLst/>
          </a:prstGeom>
        </p:spPr>
      </p:pic>
      <p:pic>
        <p:nvPicPr>
          <p:cNvPr id="17" name="Image 16">
            <a:extLst>
              <a:ext uri="{FF2B5EF4-FFF2-40B4-BE49-F238E27FC236}">
                <a16:creationId xmlns:a16="http://schemas.microsoft.com/office/drawing/2014/main" id="{EE7056C8-CCA5-4B77-B145-2090D801C6F7}"/>
              </a:ext>
            </a:extLst>
          </p:cNvPr>
          <p:cNvPicPr>
            <a:picLocks noChangeAspect="1"/>
          </p:cNvPicPr>
          <p:nvPr/>
        </p:nvPicPr>
        <p:blipFill>
          <a:blip r:embed="rId7"/>
          <a:stretch>
            <a:fillRect/>
          </a:stretch>
        </p:blipFill>
        <p:spPr>
          <a:xfrm>
            <a:off x="1872819" y="4426540"/>
            <a:ext cx="1345183" cy="725098"/>
          </a:xfrm>
          <a:prstGeom prst="rect">
            <a:avLst/>
          </a:prstGeom>
        </p:spPr>
      </p:pic>
    </p:spTree>
    <p:extLst>
      <p:ext uri="{BB962C8B-B14F-4D97-AF65-F5344CB8AC3E}">
        <p14:creationId xmlns:p14="http://schemas.microsoft.com/office/powerpoint/2010/main" val="13359410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1B7A0E-0F0C-49E7-80A7-DE6D5B3317D5}"/>
              </a:ext>
            </a:extLst>
          </p:cNvPr>
          <p:cNvSpPr>
            <a:spLocks noGrp="1"/>
          </p:cNvSpPr>
          <p:nvPr>
            <p:ph type="title"/>
          </p:nvPr>
        </p:nvSpPr>
        <p:spPr>
          <a:xfrm>
            <a:off x="1435100" y="76200"/>
            <a:ext cx="7499350" cy="688504"/>
          </a:xfrm>
        </p:spPr>
        <p:txBody>
          <a:bodyPr>
            <a:normAutofit fontScale="90000"/>
          </a:bodyPr>
          <a:lstStyle/>
          <a:p>
            <a:r>
              <a:rPr lang="fr-FR" dirty="0"/>
              <a:t>Normes Internet</a:t>
            </a:r>
          </a:p>
        </p:txBody>
      </p:sp>
      <p:sp>
        <p:nvSpPr>
          <p:cNvPr id="3" name="Espace réservé du contenu 2">
            <a:extLst>
              <a:ext uri="{FF2B5EF4-FFF2-40B4-BE49-F238E27FC236}">
                <a16:creationId xmlns:a16="http://schemas.microsoft.com/office/drawing/2014/main" id="{888D99C4-26B1-4399-B2BB-80E7886FD1FA}"/>
              </a:ext>
            </a:extLst>
          </p:cNvPr>
          <p:cNvSpPr>
            <a:spLocks noGrp="1"/>
          </p:cNvSpPr>
          <p:nvPr>
            <p:ph idx="1"/>
          </p:nvPr>
        </p:nvSpPr>
        <p:spPr>
          <a:xfrm>
            <a:off x="1115616" y="798757"/>
            <a:ext cx="7818834" cy="5798596"/>
          </a:xfrm>
        </p:spPr>
        <p:txBody>
          <a:bodyPr/>
          <a:lstStyle/>
          <a:p>
            <a:pPr algn="l"/>
            <a:r>
              <a:rPr lang="fr-FR" sz="1600" b="0" i="0" dirty="0">
                <a:solidFill>
                  <a:srgbClr val="333333"/>
                </a:solidFill>
                <a:effectLst/>
              </a:rPr>
              <a:t>Les organismes de normalisation indiqués à la figure 1 sont les suivants :</a:t>
            </a:r>
          </a:p>
          <a:p>
            <a:pPr algn="l">
              <a:buFont typeface="Arial" panose="020B0604020202020204" pitchFamily="34" charset="0"/>
              <a:buChar char="•"/>
            </a:pPr>
            <a:r>
              <a:rPr lang="fr-FR" sz="1600" b="1" i="0" dirty="0">
                <a:solidFill>
                  <a:srgbClr val="333333"/>
                </a:solidFill>
                <a:effectLst/>
              </a:rPr>
              <a:t>ISOC (Internet Society) </a:t>
            </a:r>
            <a:r>
              <a:rPr lang="fr-FR" sz="1600" b="0" i="0" dirty="0">
                <a:solidFill>
                  <a:srgbClr val="333333"/>
                </a:solidFill>
                <a:effectLst/>
              </a:rPr>
              <a:t>: société chargée de promouvoir le développement, l'évolution et l'utilisation libres d'Internet dans le monde entier.</a:t>
            </a:r>
          </a:p>
          <a:p>
            <a:pPr algn="l">
              <a:buFont typeface="Arial" panose="020B0604020202020204" pitchFamily="34" charset="0"/>
              <a:buChar char="•"/>
            </a:pPr>
            <a:r>
              <a:rPr lang="fr-FR" sz="1600" b="1" i="0" dirty="0">
                <a:solidFill>
                  <a:srgbClr val="333333"/>
                </a:solidFill>
                <a:effectLst/>
              </a:rPr>
              <a:t>IAB (Internet Architecture </a:t>
            </a:r>
            <a:r>
              <a:rPr lang="fr-FR" sz="1600" b="1" i="0" dirty="0" err="1">
                <a:solidFill>
                  <a:srgbClr val="333333"/>
                </a:solidFill>
                <a:effectLst/>
              </a:rPr>
              <a:t>Board</a:t>
            </a:r>
            <a:r>
              <a:rPr lang="fr-FR" sz="1600" b="1" i="0" dirty="0">
                <a:solidFill>
                  <a:srgbClr val="333333"/>
                </a:solidFill>
                <a:effectLst/>
              </a:rPr>
              <a:t>)</a:t>
            </a:r>
            <a:r>
              <a:rPr lang="fr-FR" sz="1600" b="0" i="0" dirty="0">
                <a:solidFill>
                  <a:srgbClr val="333333"/>
                </a:solidFill>
                <a:effectLst/>
              </a:rPr>
              <a:t> : comité en charge de la gestion et du développement des normes Internet.</a:t>
            </a:r>
          </a:p>
          <a:p>
            <a:pPr algn="l">
              <a:buFont typeface="Arial" panose="020B0604020202020204" pitchFamily="34" charset="0"/>
              <a:buChar char="•"/>
            </a:pPr>
            <a:r>
              <a:rPr lang="fr-FR" sz="1600" b="1" i="0" dirty="0">
                <a:solidFill>
                  <a:srgbClr val="333333"/>
                </a:solidFill>
                <a:effectLst/>
              </a:rPr>
              <a:t>IETF (Internet Engineering </a:t>
            </a:r>
            <a:r>
              <a:rPr lang="fr-FR" sz="1600" b="1" i="0" dirty="0" err="1">
                <a:solidFill>
                  <a:srgbClr val="333333"/>
                </a:solidFill>
                <a:effectLst/>
              </a:rPr>
              <a:t>Task</a:t>
            </a:r>
            <a:r>
              <a:rPr lang="fr-FR" sz="1600" b="1" i="0" dirty="0">
                <a:solidFill>
                  <a:srgbClr val="333333"/>
                </a:solidFill>
                <a:effectLst/>
              </a:rPr>
              <a:t> Force)</a:t>
            </a:r>
            <a:r>
              <a:rPr lang="fr-FR" sz="1600" b="0" i="0" dirty="0">
                <a:solidFill>
                  <a:srgbClr val="333333"/>
                </a:solidFill>
                <a:effectLst/>
              </a:rPr>
              <a:t> : groupe de travail chargé de développer, mettre à jour et gérer les technologies Internet et TCP/IP. Ce groupe gère notamment le processus et les documents nécessaires au développement de nouveaux protocoles et à la mise à jour des protocoles existants, appelés documents RFC (</a:t>
            </a:r>
            <a:r>
              <a:rPr lang="fr-FR" sz="1600" b="0" i="0" dirty="0" err="1">
                <a:solidFill>
                  <a:srgbClr val="333333"/>
                </a:solidFill>
                <a:effectLst/>
              </a:rPr>
              <a:t>Request</a:t>
            </a:r>
            <a:r>
              <a:rPr lang="fr-FR" sz="1600" b="0" i="0" dirty="0">
                <a:solidFill>
                  <a:srgbClr val="333333"/>
                </a:solidFill>
                <a:effectLst/>
              </a:rPr>
              <a:t> For </a:t>
            </a:r>
            <a:r>
              <a:rPr lang="fr-FR" sz="1600" b="0" i="0" dirty="0" err="1">
                <a:solidFill>
                  <a:srgbClr val="333333"/>
                </a:solidFill>
                <a:effectLst/>
              </a:rPr>
              <a:t>Comments</a:t>
            </a:r>
            <a:r>
              <a:rPr lang="fr-FR" sz="1600" b="0" i="0" dirty="0">
                <a:solidFill>
                  <a:srgbClr val="333333"/>
                </a:solidFill>
                <a:effectLst/>
              </a:rPr>
              <a:t>).</a:t>
            </a:r>
          </a:p>
          <a:p>
            <a:pPr algn="l">
              <a:buFont typeface="Arial" panose="020B0604020202020204" pitchFamily="34" charset="0"/>
              <a:buChar char="•"/>
            </a:pPr>
            <a:r>
              <a:rPr lang="fr-FR" sz="1600" b="1" i="0" dirty="0">
                <a:solidFill>
                  <a:srgbClr val="333333"/>
                </a:solidFill>
                <a:effectLst/>
              </a:rPr>
              <a:t>IRTF (Internet </a:t>
            </a:r>
            <a:r>
              <a:rPr lang="fr-FR" sz="1600" b="1" i="0" dirty="0" err="1">
                <a:solidFill>
                  <a:srgbClr val="333333"/>
                </a:solidFill>
                <a:effectLst/>
              </a:rPr>
              <a:t>Research</a:t>
            </a:r>
            <a:r>
              <a:rPr lang="fr-FR" sz="1600" b="1" i="0" dirty="0">
                <a:solidFill>
                  <a:srgbClr val="333333"/>
                </a:solidFill>
                <a:effectLst/>
              </a:rPr>
              <a:t> </a:t>
            </a:r>
            <a:r>
              <a:rPr lang="fr-FR" sz="1600" b="1" i="0" dirty="0" err="1">
                <a:solidFill>
                  <a:srgbClr val="333333"/>
                </a:solidFill>
                <a:effectLst/>
              </a:rPr>
              <a:t>Task</a:t>
            </a:r>
            <a:r>
              <a:rPr lang="fr-FR" sz="1600" b="1" i="0" dirty="0">
                <a:solidFill>
                  <a:srgbClr val="333333"/>
                </a:solidFill>
                <a:effectLst/>
              </a:rPr>
              <a:t> Force)</a:t>
            </a:r>
            <a:r>
              <a:rPr lang="fr-FR" sz="1600" b="0" i="0" dirty="0">
                <a:solidFill>
                  <a:srgbClr val="333333"/>
                </a:solidFill>
                <a:effectLst/>
              </a:rPr>
              <a:t> : groupe de travail axé sur la recherche à long terme liée aux protocoles Internet et TCP/IP et notamment composé des groupes de recherche ASRG (Anti-Spam </a:t>
            </a:r>
            <a:r>
              <a:rPr lang="fr-FR" sz="1600" b="0" i="0" dirty="0" err="1">
                <a:solidFill>
                  <a:srgbClr val="333333"/>
                </a:solidFill>
                <a:effectLst/>
              </a:rPr>
              <a:t>Research</a:t>
            </a:r>
            <a:r>
              <a:rPr lang="fr-FR" sz="1600" b="0" i="0" dirty="0">
                <a:solidFill>
                  <a:srgbClr val="333333"/>
                </a:solidFill>
                <a:effectLst/>
              </a:rPr>
              <a:t> Group), CFRG (Crypto Forum </a:t>
            </a:r>
            <a:r>
              <a:rPr lang="fr-FR" sz="1600" b="0" i="0" dirty="0" err="1">
                <a:solidFill>
                  <a:srgbClr val="333333"/>
                </a:solidFill>
                <a:effectLst/>
              </a:rPr>
              <a:t>Research</a:t>
            </a:r>
            <a:r>
              <a:rPr lang="fr-FR" sz="1600" b="0" i="0" dirty="0">
                <a:solidFill>
                  <a:srgbClr val="333333"/>
                </a:solidFill>
                <a:effectLst/>
              </a:rPr>
              <a:t> Group) et P2PRG (Peer-to-Peer </a:t>
            </a:r>
            <a:r>
              <a:rPr lang="fr-FR" sz="1600" b="0" i="0" dirty="0" err="1">
                <a:solidFill>
                  <a:srgbClr val="333333"/>
                </a:solidFill>
                <a:effectLst/>
              </a:rPr>
              <a:t>Research</a:t>
            </a:r>
            <a:r>
              <a:rPr lang="fr-FR" sz="1600" b="0" i="0" dirty="0">
                <a:solidFill>
                  <a:srgbClr val="333333"/>
                </a:solidFill>
                <a:effectLst/>
              </a:rPr>
              <a:t> Group).</a:t>
            </a:r>
          </a:p>
          <a:p>
            <a:pPr algn="l"/>
            <a:r>
              <a:rPr lang="fr-FR" sz="1600" b="0" i="0" dirty="0">
                <a:solidFill>
                  <a:srgbClr val="333333"/>
                </a:solidFill>
                <a:effectLst/>
              </a:rPr>
              <a:t>Les organismes de normalisation indiqués à la figure 2 sont les suivants :</a:t>
            </a:r>
          </a:p>
          <a:p>
            <a:pPr algn="l">
              <a:buFont typeface="Arial" panose="020B0604020202020204" pitchFamily="34" charset="0"/>
              <a:buChar char="•"/>
            </a:pPr>
            <a:r>
              <a:rPr lang="fr-FR" sz="1600" b="1" i="0" dirty="0">
                <a:solidFill>
                  <a:srgbClr val="333333"/>
                </a:solidFill>
                <a:effectLst/>
              </a:rPr>
              <a:t>ICANN (Internet Corporation for </a:t>
            </a:r>
            <a:r>
              <a:rPr lang="fr-FR" sz="1600" b="1" i="0" dirty="0" err="1">
                <a:solidFill>
                  <a:srgbClr val="333333"/>
                </a:solidFill>
                <a:effectLst/>
              </a:rPr>
              <a:t>Assigned</a:t>
            </a:r>
            <a:r>
              <a:rPr lang="fr-FR" sz="1600" b="1" i="0" dirty="0">
                <a:solidFill>
                  <a:srgbClr val="333333"/>
                </a:solidFill>
                <a:effectLst/>
              </a:rPr>
              <a:t> </a:t>
            </a:r>
            <a:r>
              <a:rPr lang="fr-FR" sz="1600" b="1" i="0" dirty="0" err="1">
                <a:solidFill>
                  <a:srgbClr val="333333"/>
                </a:solidFill>
                <a:effectLst/>
              </a:rPr>
              <a:t>Names</a:t>
            </a:r>
            <a:r>
              <a:rPr lang="fr-FR" sz="1600" b="1" i="0" dirty="0">
                <a:solidFill>
                  <a:srgbClr val="333333"/>
                </a:solidFill>
                <a:effectLst/>
              </a:rPr>
              <a:t> and Numbers)</a:t>
            </a:r>
            <a:r>
              <a:rPr lang="fr-FR" sz="1600" b="0" i="0" dirty="0">
                <a:solidFill>
                  <a:srgbClr val="333333"/>
                </a:solidFill>
                <a:effectLst/>
              </a:rPr>
              <a:t> : association basée aux États-Unis qui coordonne l'attribution des adresses IP, la gestion des noms de domaine et l'attribution des autres informations utilisées par les protocoles TCP/IP.</a:t>
            </a:r>
          </a:p>
          <a:p>
            <a:pPr algn="l">
              <a:buFont typeface="Arial" panose="020B0604020202020204" pitchFamily="34" charset="0"/>
              <a:buChar char="•"/>
            </a:pPr>
            <a:r>
              <a:rPr lang="fr-FR" sz="1600" b="1" i="0" dirty="0">
                <a:solidFill>
                  <a:srgbClr val="333333"/>
                </a:solidFill>
                <a:effectLst/>
              </a:rPr>
              <a:t>IANA (Internet </a:t>
            </a:r>
            <a:r>
              <a:rPr lang="fr-FR" sz="1600" b="1" i="0" dirty="0" err="1">
                <a:solidFill>
                  <a:srgbClr val="333333"/>
                </a:solidFill>
                <a:effectLst/>
              </a:rPr>
              <a:t>Assigned</a:t>
            </a:r>
            <a:r>
              <a:rPr lang="fr-FR" sz="1600" b="1" i="0" dirty="0">
                <a:solidFill>
                  <a:srgbClr val="333333"/>
                </a:solidFill>
                <a:effectLst/>
              </a:rPr>
              <a:t> Numbers </a:t>
            </a:r>
            <a:r>
              <a:rPr lang="fr-FR" sz="1600" b="1" i="0" dirty="0" err="1">
                <a:solidFill>
                  <a:srgbClr val="333333"/>
                </a:solidFill>
                <a:effectLst/>
              </a:rPr>
              <a:t>Authority</a:t>
            </a:r>
            <a:r>
              <a:rPr lang="fr-FR" sz="1600" b="1" i="0" dirty="0">
                <a:solidFill>
                  <a:srgbClr val="333333"/>
                </a:solidFill>
                <a:effectLst/>
              </a:rPr>
              <a:t>)</a:t>
            </a:r>
            <a:r>
              <a:rPr lang="fr-FR" sz="1600" b="0" i="0" dirty="0">
                <a:solidFill>
                  <a:srgbClr val="333333"/>
                </a:solidFill>
                <a:effectLst/>
              </a:rPr>
              <a:t> : autorité chargée de superviser et de gérer l'attribution des adresses IP, la gestion des noms de domaine et les identificateurs de protocole pour le compte de l'ICANN.</a:t>
            </a:r>
          </a:p>
          <a:p>
            <a:endParaRPr lang="fr-FR" sz="1600" dirty="0"/>
          </a:p>
        </p:txBody>
      </p:sp>
      <p:sp>
        <p:nvSpPr>
          <p:cNvPr id="5" name="Espace réservé du numéro de diapositive 4">
            <a:extLst>
              <a:ext uri="{FF2B5EF4-FFF2-40B4-BE49-F238E27FC236}">
                <a16:creationId xmlns:a16="http://schemas.microsoft.com/office/drawing/2014/main" id="{AE651053-E4AD-4729-A7AA-8D4FB22B850A}"/>
              </a:ext>
            </a:extLst>
          </p:cNvPr>
          <p:cNvSpPr>
            <a:spLocks noGrp="1"/>
          </p:cNvSpPr>
          <p:nvPr>
            <p:ph type="sldNum" sz="quarter" idx="12"/>
          </p:nvPr>
        </p:nvSpPr>
        <p:spPr/>
        <p:txBody>
          <a:bodyPr/>
          <a:lstStyle/>
          <a:p>
            <a:pPr>
              <a:defRPr/>
            </a:pPr>
            <a:fld id="{AE65C026-8F1A-49B2-8DBD-F72498D8F816}" type="slidenum">
              <a:rPr lang="fr-FR" smtClean="0"/>
              <a:pPr>
                <a:defRPr/>
              </a:pPr>
              <a:t>40</a:t>
            </a:fld>
            <a:endParaRPr lang="fr-FR"/>
          </a:p>
        </p:txBody>
      </p:sp>
    </p:spTree>
    <p:extLst>
      <p:ext uri="{BB962C8B-B14F-4D97-AF65-F5344CB8AC3E}">
        <p14:creationId xmlns:p14="http://schemas.microsoft.com/office/powerpoint/2010/main" val="39941562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EC9FCE-29DC-4593-9D34-2A3503CA8D73}"/>
              </a:ext>
            </a:extLst>
          </p:cNvPr>
          <p:cNvSpPr>
            <a:spLocks noGrp="1"/>
          </p:cNvSpPr>
          <p:nvPr>
            <p:ph type="title"/>
          </p:nvPr>
        </p:nvSpPr>
        <p:spPr>
          <a:xfrm>
            <a:off x="1259632" y="116632"/>
            <a:ext cx="7499350" cy="792088"/>
          </a:xfrm>
          <a:solidFill>
            <a:schemeClr val="bg2">
              <a:lumMod val="75000"/>
            </a:schemeClr>
          </a:solidFill>
        </p:spPr>
        <p:txBody>
          <a:bodyPr>
            <a:normAutofit fontScale="90000"/>
          </a:bodyPr>
          <a:lstStyle/>
          <a:p>
            <a:r>
              <a:rPr lang="fr-FR" dirty="0"/>
              <a:t>Modèle OSI: Emetteur/récepteur </a:t>
            </a:r>
          </a:p>
        </p:txBody>
      </p:sp>
      <p:pic>
        <p:nvPicPr>
          <p:cNvPr id="3" name="Image 2">
            <a:extLst>
              <a:ext uri="{FF2B5EF4-FFF2-40B4-BE49-F238E27FC236}">
                <a16:creationId xmlns:a16="http://schemas.microsoft.com/office/drawing/2014/main" id="{6813DCBB-036D-4E63-AF45-989D33038300}"/>
              </a:ext>
            </a:extLst>
          </p:cNvPr>
          <p:cNvPicPr>
            <a:picLocks noChangeAspect="1"/>
          </p:cNvPicPr>
          <p:nvPr/>
        </p:nvPicPr>
        <p:blipFill>
          <a:blip r:embed="rId2"/>
          <a:stretch>
            <a:fillRect/>
          </a:stretch>
        </p:blipFill>
        <p:spPr>
          <a:xfrm>
            <a:off x="1331640" y="969323"/>
            <a:ext cx="7733080" cy="3754700"/>
          </a:xfrm>
          <a:prstGeom prst="rect">
            <a:avLst/>
          </a:prstGeom>
        </p:spPr>
      </p:pic>
      <p:sp>
        <p:nvSpPr>
          <p:cNvPr id="6" name="ZoneTexte 5">
            <a:extLst>
              <a:ext uri="{FF2B5EF4-FFF2-40B4-BE49-F238E27FC236}">
                <a16:creationId xmlns:a16="http://schemas.microsoft.com/office/drawing/2014/main" id="{37159B18-8A9E-4EC9-ABA7-7BAD1BAF7573}"/>
              </a:ext>
            </a:extLst>
          </p:cNvPr>
          <p:cNvSpPr txBox="1"/>
          <p:nvPr/>
        </p:nvSpPr>
        <p:spPr>
          <a:xfrm>
            <a:off x="1138131" y="4653136"/>
            <a:ext cx="8009852" cy="1938992"/>
          </a:xfrm>
          <a:prstGeom prst="rect">
            <a:avLst/>
          </a:prstGeom>
          <a:solidFill>
            <a:schemeClr val="bg2"/>
          </a:solidFill>
        </p:spPr>
        <p:txBody>
          <a:bodyPr wrap="square">
            <a:spAutoFit/>
          </a:bodyPr>
          <a:lstStyle/>
          <a:p>
            <a:r>
              <a:rPr lang="fr-FR" sz="2000" dirty="0">
                <a:latin typeface="+mn-lt"/>
              </a:rPr>
              <a:t>On distingue les Couches Hautes et les couches basse:</a:t>
            </a:r>
          </a:p>
          <a:p>
            <a:r>
              <a:rPr lang="fr-FR" sz="2000" b="1" dirty="0">
                <a:latin typeface="+mn-lt"/>
              </a:rPr>
              <a:t>Les Couches Hautes</a:t>
            </a:r>
            <a:r>
              <a:rPr lang="fr-FR" sz="2000" dirty="0">
                <a:latin typeface="+mn-lt"/>
              </a:rPr>
              <a:t>(de Application jusqu'à Transport) qui ont une fonction de </a:t>
            </a:r>
            <a:r>
              <a:rPr lang="fr-FR" sz="2000" b="1" dirty="0">
                <a:latin typeface="+mn-lt"/>
              </a:rPr>
              <a:t>traitement des données </a:t>
            </a:r>
            <a:r>
              <a:rPr lang="fr-FR" sz="2000" dirty="0">
                <a:latin typeface="+mn-lt"/>
              </a:rPr>
              <a:t>indépendante de la technique de connexion entre 2 systèmes.</a:t>
            </a:r>
          </a:p>
          <a:p>
            <a:r>
              <a:rPr lang="fr-FR" sz="2000" dirty="0">
                <a:latin typeface="+mn-lt"/>
              </a:rPr>
              <a:t> </a:t>
            </a:r>
            <a:r>
              <a:rPr lang="fr-FR" sz="2000" b="1" dirty="0">
                <a:latin typeface="+mn-lt"/>
              </a:rPr>
              <a:t>Les couches basses </a:t>
            </a:r>
            <a:r>
              <a:rPr lang="fr-FR" sz="2000" dirty="0">
                <a:latin typeface="+mn-lt"/>
              </a:rPr>
              <a:t>(de Réseau jusqu'à Physique) qui ont une fonction de </a:t>
            </a:r>
            <a:r>
              <a:rPr lang="fr-FR" sz="2000" b="1" dirty="0">
                <a:latin typeface="+mn-lt"/>
              </a:rPr>
              <a:t>transmission</a:t>
            </a:r>
            <a:r>
              <a:rPr lang="fr-FR" sz="2000" dirty="0">
                <a:latin typeface="+mn-lt"/>
              </a:rPr>
              <a:t> de l'information liée à la technologie de communication.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6DAC17C7-55C1-4ACC-B499-0AD6DC2B2236}"/>
              </a:ext>
            </a:extLst>
          </p:cNvPr>
          <p:cNvSpPr>
            <a:spLocks noGrp="1"/>
          </p:cNvSpPr>
          <p:nvPr>
            <p:ph type="subTitle" idx="1"/>
          </p:nvPr>
        </p:nvSpPr>
        <p:spPr>
          <a:xfrm>
            <a:off x="1432560" y="1850063"/>
            <a:ext cx="7406640" cy="3341061"/>
          </a:xfrm>
          <a:solidFill>
            <a:schemeClr val="bg1">
              <a:lumMod val="75000"/>
            </a:schemeClr>
          </a:solidFill>
        </p:spPr>
        <p:txBody>
          <a:bodyPr/>
          <a:lstStyle/>
          <a:p>
            <a:pPr algn="ctr"/>
            <a:r>
              <a:rPr lang="fr-FR" sz="6000" b="1" dirty="0">
                <a:solidFill>
                  <a:srgbClr val="C00000"/>
                </a:solidFill>
              </a:rPr>
              <a:t>Fin de chapitre</a:t>
            </a:r>
          </a:p>
          <a:p>
            <a:endParaRPr lang="fr-FR" dirty="0"/>
          </a:p>
        </p:txBody>
      </p:sp>
      <p:pic>
        <p:nvPicPr>
          <p:cNvPr id="8195" name="Image 4" descr="reseau_gauche.jpg"/>
          <p:cNvPicPr>
            <a:picLocks noChangeAspect="1"/>
          </p:cNvPicPr>
          <p:nvPr/>
        </p:nvPicPr>
        <p:blipFill>
          <a:blip r:embed="rId2"/>
          <a:srcRect/>
          <a:stretch>
            <a:fillRect/>
          </a:stretch>
        </p:blipFill>
        <p:spPr bwMode="auto">
          <a:xfrm>
            <a:off x="3563888" y="3429000"/>
            <a:ext cx="3333750" cy="1762125"/>
          </a:xfrm>
          <a:prstGeom prst="rect">
            <a:avLst/>
          </a:prstGeom>
          <a:noFill/>
          <a:ln w="9525">
            <a:noFill/>
            <a:miter lim="800000"/>
            <a:headEnd/>
            <a:tailEnd/>
          </a:ln>
        </p:spPr>
      </p:pic>
    </p:spTree>
    <p:extLst>
      <p:ext uri="{BB962C8B-B14F-4D97-AF65-F5344CB8AC3E}">
        <p14:creationId xmlns:p14="http://schemas.microsoft.com/office/powerpoint/2010/main" val="83220679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anae théme">
      <a:dk1>
        <a:srgbClr val="1D180D"/>
      </a:dk1>
      <a:lt1>
        <a:srgbClr val="E7DEC9"/>
      </a:lt1>
      <a:dk2>
        <a:srgbClr val="4F271C"/>
      </a:dk2>
      <a:lt2>
        <a:srgbClr val="E7DEC9"/>
      </a:lt2>
      <a:accent1>
        <a:srgbClr val="3891A7"/>
      </a:accent1>
      <a:accent2>
        <a:srgbClr val="FEB80A"/>
      </a:accent2>
      <a:accent3>
        <a:srgbClr val="C00000"/>
      </a:accent3>
      <a:accent4>
        <a:srgbClr val="84AA33"/>
      </a:accent4>
      <a:accent5>
        <a:srgbClr val="964305"/>
      </a:accent5>
      <a:accent6>
        <a:srgbClr val="475A8D"/>
      </a:accent6>
      <a:hlink>
        <a:srgbClr val="C00000"/>
      </a:hlink>
      <a:folHlink>
        <a:srgbClr val="FEB80A"/>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Conception personnalisé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hème Office">
  <a:themeElements>
    <a:clrScheme name="en-tête">
      <a:dk1>
        <a:srgbClr val="1D180D"/>
      </a:dk1>
      <a:lt1>
        <a:srgbClr val="E7DEC9"/>
      </a:lt1>
      <a:dk2>
        <a:srgbClr val="4F271C"/>
      </a:dk2>
      <a:lt2>
        <a:srgbClr val="E7DEC9"/>
      </a:lt2>
      <a:accent1>
        <a:srgbClr val="3891A7"/>
      </a:accent1>
      <a:accent2>
        <a:srgbClr val="FEB80A"/>
      </a:accent2>
      <a:accent3>
        <a:srgbClr val="C00000"/>
      </a:accent3>
      <a:accent4>
        <a:srgbClr val="84AA33"/>
      </a:accent4>
      <a:accent5>
        <a:srgbClr val="964305"/>
      </a:accent5>
      <a:accent6>
        <a:srgbClr val="475A8D"/>
      </a:accent6>
      <a:hlink>
        <a:srgbClr val="C00000"/>
      </a:hlink>
      <a:folHlink>
        <a:srgbClr val="FEB80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142953</TotalTime>
  <Words>3242</Words>
  <Application>Microsoft Office PowerPoint</Application>
  <PresentationFormat>Affichage à l'écran (4:3)</PresentationFormat>
  <Paragraphs>397</Paragraphs>
  <Slides>42</Slides>
  <Notes>1</Notes>
  <HiddenSlides>0</HiddenSlides>
  <MMClips>0</MMClips>
  <ScaleCrop>false</ScaleCrop>
  <HeadingPairs>
    <vt:vector size="6" baseType="variant">
      <vt:variant>
        <vt:lpstr>Polices utilisées</vt:lpstr>
      </vt:variant>
      <vt:variant>
        <vt:i4>11</vt:i4>
      </vt:variant>
      <vt:variant>
        <vt:lpstr>Thème</vt:lpstr>
      </vt:variant>
      <vt:variant>
        <vt:i4>2</vt:i4>
      </vt:variant>
      <vt:variant>
        <vt:lpstr>Titres des diapositives</vt:lpstr>
      </vt:variant>
      <vt:variant>
        <vt:i4>42</vt:i4>
      </vt:variant>
    </vt:vector>
  </HeadingPairs>
  <TitlesOfParts>
    <vt:vector size="55" baseType="lpstr">
      <vt:lpstr>Arial</vt:lpstr>
      <vt:lpstr>Calibri</vt:lpstr>
      <vt:lpstr>Calibri Light</vt:lpstr>
      <vt:lpstr>CiscoSansTTLight</vt:lpstr>
      <vt:lpstr>Gill Sans MT</vt:lpstr>
      <vt:lpstr>Symbol</vt:lpstr>
      <vt:lpstr>Times</vt:lpstr>
      <vt:lpstr>Times New Roman</vt:lpstr>
      <vt:lpstr>Verdana</vt:lpstr>
      <vt:lpstr>Wingdings</vt:lpstr>
      <vt:lpstr>Wingdings 2</vt:lpstr>
      <vt:lpstr>Solstice</vt:lpstr>
      <vt:lpstr>Conception personnalisée</vt:lpstr>
      <vt:lpstr>Présentation PowerPoint</vt:lpstr>
      <vt:lpstr>les points traités dans ce chapitre </vt:lpstr>
      <vt:lpstr>Introduction</vt:lpstr>
      <vt:lpstr>Définition d’un réseau:</vt:lpstr>
      <vt:lpstr>Les connexions (médias) </vt:lpstr>
      <vt:lpstr>Questions pour décrire un réseau</vt:lpstr>
      <vt:lpstr> Topologie d’un réseau informatique:</vt:lpstr>
      <vt:lpstr>Topologie Physique</vt:lpstr>
      <vt:lpstr>Topologie Logique</vt:lpstr>
      <vt:lpstr>Caractéristiques des Topologies</vt:lpstr>
      <vt:lpstr>Principaux niveaux de classification utilisés</vt:lpstr>
      <vt:lpstr> Topologie en Bus </vt:lpstr>
      <vt:lpstr>Topologie en ETOILE:</vt:lpstr>
      <vt:lpstr>Topologie en ANNEAU:</vt:lpstr>
      <vt:lpstr>Topologie en ANNEAU:</vt:lpstr>
      <vt:lpstr>Topologie</vt:lpstr>
      <vt:lpstr>Topologie Maillée (Mesh) </vt:lpstr>
      <vt:lpstr> les principales Topologies </vt:lpstr>
      <vt:lpstr>Classification des réseaux de données</vt:lpstr>
      <vt:lpstr>Les bus</vt:lpstr>
      <vt:lpstr> PAN (Personnal Area Network) </vt:lpstr>
      <vt:lpstr>LAN (Local Area Network)</vt:lpstr>
      <vt:lpstr>LAN (Local Area Network)</vt:lpstr>
      <vt:lpstr>MAN (Métropolitain Area Network) </vt:lpstr>
      <vt:lpstr>WAN (Wide Area Network)</vt:lpstr>
      <vt:lpstr>Architecture Poste à Poste (peer-to-peer)</vt:lpstr>
      <vt:lpstr>Architecture Client/Serveur:</vt:lpstr>
      <vt:lpstr>Avantages "Client / Serveur"</vt:lpstr>
      <vt:lpstr>Inconvénients "Client / Serveur"</vt:lpstr>
      <vt:lpstr>Le Modèle OSI</vt:lpstr>
      <vt:lpstr> Le Modèle OSI:</vt:lpstr>
      <vt:lpstr>Le Modèle OSI</vt:lpstr>
      <vt:lpstr>PDU: Protocol Data Unit</vt:lpstr>
      <vt:lpstr>Modèle OSI: Pourquoi des couches?</vt:lpstr>
      <vt:lpstr>Les 7 couches du modèle OSI</vt:lpstr>
      <vt:lpstr>Comparaison des modèles OSI et TCP/IP </vt:lpstr>
      <vt:lpstr>Protocoles</vt:lpstr>
      <vt:lpstr>Protocoles du modèle OSI &amp; TCP/IP</vt:lpstr>
      <vt:lpstr>Normes Internet</vt:lpstr>
      <vt:lpstr>Normes Internet</vt:lpstr>
      <vt:lpstr>Modèle OSI: Emetteur/récepteur </vt:lpstr>
      <vt:lpstr>Présentation PowerPoint</vt:lpstr>
    </vt:vector>
  </TitlesOfParts>
  <Company>뿿��灰琀䄘뿿��</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aux Réseaux Informatique</dc:title>
  <dc:creator>Valérie Laniel</dc:creator>
  <cp:lastModifiedBy>SANAE CANDILLIER</cp:lastModifiedBy>
  <cp:revision>442</cp:revision>
  <dcterms:created xsi:type="dcterms:W3CDTF">2003-11-14T11:02:42Z</dcterms:created>
  <dcterms:modified xsi:type="dcterms:W3CDTF">2024-11-25T12:00:17Z</dcterms:modified>
</cp:coreProperties>
</file>